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Organiser cover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shop buys stock and pays 18,000 rupees of GST. It can get that back as input tax credit, but only if every record agrees: the supplier reports the sale, the tax on the bill is right, and the bill is paid within 180 days. One mismatch and the money is gone. Today an accountant checks this by hand in Excel. Scale: 1.67 crore GST businesses, 35,132 crore of fake credit caught in seven months, and since Oct 2025 the rules are stricter.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LedgerLens does four things: upload, check, explain, fix. Point at the two coloured numbers: money you could lose, and money you can still claim. Every problem in the list has a rupee value and a next step. The green chips show we cover every requirement in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left to right: your records, clean up, match everything, find risk and explain, you review and act. Two promises: maths by code and words by AI, so the AI never changes a number; and accuracy proven on test data with known mistakes. It runs on one laptop, even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proven tools. The test data is a full year of books for a fictional company: about 5,200 bills, 4,700 bank entries and 9,900 accounting entries, with 781 planted mistakes and 1,368 honest traps that look like errors but are not. We score both how many mistakes we catch and how few false alarms we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we are different. We show money, not rows. Every flag explains itself. We fix, not just find. We spot fake suppliers by linking firms that share an owner, bank account or address. The cement example is real: its GST rate dropped from 28 to 18 percent on 22 Sep 2025, and a bill two days later still charged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1.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28.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image" Target="../media/image-5-31.png"/><Relationship Id="rId32" Type="http://schemas.openxmlformats.org/officeDocument/2006/relationships/image" Target="../media/image-5-32.png"/><Relationship Id="rId33" Type="http://schemas.openxmlformats.org/officeDocument/2006/relationships/image" Target="../media/image-5-33.png"/><Relationship Id="rId34" Type="http://schemas.openxmlformats.org/officeDocument/2006/relationships/slideLayout" Target="../slideLayouts/slideLayout1.xml"/><Relationship Id="rId3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1096009" y="5554312"/>
            <a:ext cx="2192018" cy="2084832"/>
          </a:xfrm>
          <a:custGeom>
            <a:avLst/>
            <a:gdLst/>
            <a:ahLst/>
            <a:cxnLst/>
            <a:rect l="l" t="t" r="r" b="b"/>
            <a:pathLst>
              <a:path w="2192018" h="2084832">
                <a:moveTo>
                  <a:pt x="2186084" y="642960"/>
                </a:moveTo>
                <a:lnTo>
                  <a:pt x="1678445" y="642960"/>
                </a:lnTo>
                <a:lnTo>
                  <a:pt x="1643853" y="637236"/>
                </a:lnTo>
                <a:cubicBezTo>
                  <a:pt x="1598179" y="629711"/>
                  <a:pt x="1562353" y="593885"/>
                  <a:pt x="1554773" y="548155"/>
                </a:cubicBezTo>
                <a:lnTo>
                  <a:pt x="1549048" y="513564"/>
                </a:lnTo>
                <a:lnTo>
                  <a:pt x="1549048" y="5925"/>
                </a:lnTo>
                <a:cubicBezTo>
                  <a:pt x="1549048" y="2679"/>
                  <a:pt x="1546424" y="0"/>
                  <a:pt x="1543123" y="0"/>
                </a:cubicBezTo>
                <a:cubicBezTo>
                  <a:pt x="1539822" y="0"/>
                  <a:pt x="1537198" y="2633"/>
                  <a:pt x="1537198" y="5925"/>
                </a:cubicBezTo>
                <a:lnTo>
                  <a:pt x="1537198" y="513564"/>
                </a:lnTo>
                <a:lnTo>
                  <a:pt x="1531474" y="548155"/>
                </a:lnTo>
                <a:cubicBezTo>
                  <a:pt x="1527505" y="572186"/>
                  <a:pt x="1515700" y="593418"/>
                  <a:pt x="1498784" y="609301"/>
                </a:cubicBezTo>
                <a:cubicBezTo>
                  <a:pt x="1494971" y="605379"/>
                  <a:pt x="1491158" y="601410"/>
                  <a:pt x="1487290" y="597496"/>
                </a:cubicBezTo>
                <a:cubicBezTo>
                  <a:pt x="1487089" y="597286"/>
                  <a:pt x="1486824" y="597085"/>
                  <a:pt x="1486622" y="596820"/>
                </a:cubicBezTo>
                <a:cubicBezTo>
                  <a:pt x="1486412" y="596619"/>
                  <a:pt x="1486211" y="596363"/>
                  <a:pt x="1485946" y="596152"/>
                </a:cubicBezTo>
                <a:cubicBezTo>
                  <a:pt x="1485745" y="595951"/>
                  <a:pt x="1485489" y="595741"/>
                  <a:pt x="1485278" y="595485"/>
                </a:cubicBezTo>
                <a:cubicBezTo>
                  <a:pt x="1485077" y="595274"/>
                  <a:pt x="1484867" y="595018"/>
                  <a:pt x="1484611" y="594817"/>
                </a:cubicBezTo>
                <a:cubicBezTo>
                  <a:pt x="1483532" y="593729"/>
                  <a:pt x="1482389" y="592650"/>
                  <a:pt x="1481310" y="591562"/>
                </a:cubicBezTo>
                <a:cubicBezTo>
                  <a:pt x="1480231" y="590428"/>
                  <a:pt x="1479143" y="589349"/>
                  <a:pt x="1478009" y="588215"/>
                </a:cubicBezTo>
                <a:cubicBezTo>
                  <a:pt x="1398776" y="509028"/>
                  <a:pt x="1313252" y="442835"/>
                  <a:pt x="1225351" y="390302"/>
                </a:cubicBezTo>
                <a:cubicBezTo>
                  <a:pt x="1112816" y="321942"/>
                  <a:pt x="996147" y="274622"/>
                  <a:pt x="882634" y="249668"/>
                </a:cubicBezTo>
                <a:cubicBezTo>
                  <a:pt x="809217" y="232504"/>
                  <a:pt x="736430" y="223735"/>
                  <a:pt x="665802" y="223690"/>
                </a:cubicBezTo>
                <a:cubicBezTo>
                  <a:pt x="480371" y="223690"/>
                  <a:pt x="309982" y="283848"/>
                  <a:pt x="185020" y="408810"/>
                </a:cubicBezTo>
                <a:cubicBezTo>
                  <a:pt x="60158" y="533882"/>
                  <a:pt x="0" y="704262"/>
                  <a:pt x="0" y="889693"/>
                </a:cubicBezTo>
                <a:cubicBezTo>
                  <a:pt x="0" y="1161837"/>
                  <a:pt x="129296" y="1466670"/>
                  <a:pt x="373706" y="1711135"/>
                </a:cubicBezTo>
                <a:cubicBezTo>
                  <a:pt x="618162" y="1955545"/>
                  <a:pt x="922995" y="2084832"/>
                  <a:pt x="1195139" y="2084832"/>
                </a:cubicBezTo>
                <a:cubicBezTo>
                  <a:pt x="1380579" y="2084832"/>
                  <a:pt x="1550960" y="2024674"/>
                  <a:pt x="1675921" y="1899712"/>
                </a:cubicBezTo>
                <a:cubicBezTo>
                  <a:pt x="1800883" y="1774750"/>
                  <a:pt x="1861051" y="1604370"/>
                  <a:pt x="1861051" y="1418929"/>
                </a:cubicBezTo>
                <a:cubicBezTo>
                  <a:pt x="1861051" y="1182923"/>
                  <a:pt x="1763768" y="922374"/>
                  <a:pt x="1578483" y="697870"/>
                </a:cubicBezTo>
                <a:cubicBezTo>
                  <a:pt x="1594723" y="678430"/>
                  <a:pt x="1617665" y="664769"/>
                  <a:pt x="1643853" y="660444"/>
                </a:cubicBezTo>
                <a:lnTo>
                  <a:pt x="1678445" y="654720"/>
                </a:lnTo>
                <a:lnTo>
                  <a:pt x="2186084" y="654720"/>
                </a:lnTo>
                <a:cubicBezTo>
                  <a:pt x="2189330" y="654720"/>
                  <a:pt x="2192018" y="652086"/>
                  <a:pt x="2192018" y="648785"/>
                </a:cubicBezTo>
                <a:cubicBezTo>
                  <a:pt x="2192018" y="645493"/>
                  <a:pt x="2189384" y="642860"/>
                  <a:pt x="2186084" y="642860"/>
                </a:cubicBezTo>
                <a:lnTo>
                  <a:pt x="2186084" y="642960"/>
                </a:lnTo>
                <a:moveTo>
                  <a:pt x="1214680" y="398916"/>
                </a:moveTo>
                <a:cubicBezTo>
                  <a:pt x="1219325" y="401696"/>
                  <a:pt x="1223906" y="404531"/>
                  <a:pt x="1228496" y="407365"/>
                </a:cubicBezTo>
                <a:cubicBezTo>
                  <a:pt x="1231642" y="409276"/>
                  <a:pt x="1234733" y="411178"/>
                  <a:pt x="1237878" y="413144"/>
                </a:cubicBezTo>
                <a:cubicBezTo>
                  <a:pt x="1320467" y="464954"/>
                  <a:pt x="1400221" y="527901"/>
                  <a:pt x="1474406" y="601465"/>
                </a:cubicBezTo>
                <a:cubicBezTo>
                  <a:pt x="1479554" y="606668"/>
                  <a:pt x="1484666" y="611825"/>
                  <a:pt x="1489658" y="617083"/>
                </a:cubicBezTo>
                <a:cubicBezTo>
                  <a:pt x="1483733" y="621518"/>
                  <a:pt x="1477286" y="625331"/>
                  <a:pt x="1470483" y="628531"/>
                </a:cubicBezTo>
                <a:cubicBezTo>
                  <a:pt x="1466414" y="624352"/>
                  <a:pt x="1462391" y="620174"/>
                  <a:pt x="1458267" y="616050"/>
                </a:cubicBezTo>
                <a:cubicBezTo>
                  <a:pt x="1262421" y="420258"/>
                  <a:pt x="1022702" y="314371"/>
                  <a:pt x="817775" y="314261"/>
                </a:cubicBezTo>
                <a:cubicBezTo>
                  <a:pt x="694926" y="314261"/>
                  <a:pt x="584402" y="352519"/>
                  <a:pt x="504237" y="432685"/>
                </a:cubicBezTo>
                <a:cubicBezTo>
                  <a:pt x="424016" y="512896"/>
                  <a:pt x="385767" y="623374"/>
                  <a:pt x="385822" y="746224"/>
                </a:cubicBezTo>
                <a:cubicBezTo>
                  <a:pt x="385868" y="951141"/>
                  <a:pt x="491755" y="1190814"/>
                  <a:pt x="687611" y="1386715"/>
                </a:cubicBezTo>
                <a:cubicBezTo>
                  <a:pt x="883457" y="1582506"/>
                  <a:pt x="1123176" y="1688394"/>
                  <a:pt x="1328093" y="1688449"/>
                </a:cubicBezTo>
                <a:cubicBezTo>
                  <a:pt x="1450942" y="1688449"/>
                  <a:pt x="1561420" y="1650199"/>
                  <a:pt x="1641641" y="1570034"/>
                </a:cubicBezTo>
                <a:cubicBezTo>
                  <a:pt x="1721852" y="1489814"/>
                  <a:pt x="1760110" y="1379290"/>
                  <a:pt x="1760055" y="1256486"/>
                </a:cubicBezTo>
                <a:cubicBezTo>
                  <a:pt x="1760055" y="1090340"/>
                  <a:pt x="1690360" y="901242"/>
                  <a:pt x="1559564" y="731218"/>
                </a:cubicBezTo>
                <a:cubicBezTo>
                  <a:pt x="1562298" y="723437"/>
                  <a:pt x="1565910" y="716067"/>
                  <a:pt x="1570235" y="709209"/>
                </a:cubicBezTo>
                <a:cubicBezTo>
                  <a:pt x="1726652" y="905622"/>
                  <a:pt x="1809753" y="1126422"/>
                  <a:pt x="1809698" y="1318665"/>
                </a:cubicBezTo>
                <a:cubicBezTo>
                  <a:pt x="1809698" y="1457544"/>
                  <a:pt x="1766502" y="1581318"/>
                  <a:pt x="1676744" y="1671130"/>
                </a:cubicBezTo>
                <a:cubicBezTo>
                  <a:pt x="1586996" y="1760878"/>
                  <a:pt x="1463214" y="1804029"/>
                  <a:pt x="1324280" y="1804084"/>
                </a:cubicBezTo>
                <a:cubicBezTo>
                  <a:pt x="1094308" y="1804129"/>
                  <a:pt x="823399" y="1685248"/>
                  <a:pt x="602288" y="1464092"/>
                </a:cubicBezTo>
                <a:cubicBezTo>
                  <a:pt x="381131" y="1242980"/>
                  <a:pt x="262250" y="972071"/>
                  <a:pt x="262296" y="742100"/>
                </a:cubicBezTo>
                <a:cubicBezTo>
                  <a:pt x="262296" y="603211"/>
                  <a:pt x="305501" y="479438"/>
                  <a:pt x="395249" y="389635"/>
                </a:cubicBezTo>
                <a:cubicBezTo>
                  <a:pt x="485007" y="299877"/>
                  <a:pt x="608780" y="256736"/>
                  <a:pt x="747714" y="256681"/>
                </a:cubicBezTo>
                <a:cubicBezTo>
                  <a:pt x="854900" y="256681"/>
                  <a:pt x="970992" y="282504"/>
                  <a:pt x="1086783" y="332467"/>
                </a:cubicBezTo>
                <a:cubicBezTo>
                  <a:pt x="1129778" y="351687"/>
                  <a:pt x="1172508" y="373862"/>
                  <a:pt x="1214625" y="398962"/>
                </a:cubicBezTo>
                <a:lnTo>
                  <a:pt x="1214680" y="398916"/>
                </a:lnTo>
                <a:moveTo>
                  <a:pt x="1458623" y="633268"/>
                </a:moveTo>
                <a:cubicBezTo>
                  <a:pt x="1453421" y="634969"/>
                  <a:pt x="1448007" y="636313"/>
                  <a:pt x="1442493" y="637236"/>
                </a:cubicBezTo>
                <a:lnTo>
                  <a:pt x="1407902" y="642960"/>
                </a:lnTo>
                <a:lnTo>
                  <a:pt x="1384703" y="642960"/>
                </a:lnTo>
                <a:cubicBezTo>
                  <a:pt x="1234422" y="499080"/>
                  <a:pt x="1051770" y="422371"/>
                  <a:pt x="890882" y="422316"/>
                </a:cubicBezTo>
                <a:cubicBezTo>
                  <a:pt x="783860" y="422316"/>
                  <a:pt x="686321" y="456395"/>
                  <a:pt x="615071" y="527636"/>
                </a:cubicBezTo>
                <a:cubicBezTo>
                  <a:pt x="543830" y="598831"/>
                  <a:pt x="509696" y="696425"/>
                  <a:pt x="509751" y="803447"/>
                </a:cubicBezTo>
                <a:cubicBezTo>
                  <a:pt x="509751" y="969447"/>
                  <a:pt x="591461" y="1158591"/>
                  <a:pt x="744312" y="1311496"/>
                </a:cubicBezTo>
                <a:cubicBezTo>
                  <a:pt x="897218" y="1464348"/>
                  <a:pt x="1086362" y="1546013"/>
                  <a:pt x="1252362" y="1546058"/>
                </a:cubicBezTo>
                <a:cubicBezTo>
                  <a:pt x="1359393" y="1546058"/>
                  <a:pt x="1456923" y="1511988"/>
                  <a:pt x="1528173" y="1440738"/>
                </a:cubicBezTo>
                <a:cubicBezTo>
                  <a:pt x="1599414" y="1369497"/>
                  <a:pt x="1633548" y="1271958"/>
                  <a:pt x="1633493" y="1164936"/>
                </a:cubicBezTo>
                <a:cubicBezTo>
                  <a:pt x="1633493" y="1066209"/>
                  <a:pt x="1604571" y="959343"/>
                  <a:pt x="1549048" y="856802"/>
                </a:cubicBezTo>
                <a:lnTo>
                  <a:pt x="1549048" y="784162"/>
                </a:lnTo>
                <a:lnTo>
                  <a:pt x="1554773" y="749570"/>
                </a:lnTo>
                <a:cubicBezTo>
                  <a:pt x="1554983" y="748235"/>
                  <a:pt x="1555340" y="746946"/>
                  <a:pt x="1555596" y="745657"/>
                </a:cubicBezTo>
                <a:cubicBezTo>
                  <a:pt x="1681490" y="912068"/>
                  <a:pt x="1748251" y="1095954"/>
                  <a:pt x="1748196" y="1256486"/>
                </a:cubicBezTo>
                <a:cubicBezTo>
                  <a:pt x="1748196" y="1376913"/>
                  <a:pt x="1710824" y="1484044"/>
                  <a:pt x="1633237" y="1561676"/>
                </a:cubicBezTo>
                <a:cubicBezTo>
                  <a:pt x="1555596" y="1639263"/>
                  <a:pt x="1448519" y="1676644"/>
                  <a:pt x="1328047" y="1676644"/>
                </a:cubicBezTo>
                <a:cubicBezTo>
                  <a:pt x="1127199" y="1676699"/>
                  <a:pt x="889848" y="1572302"/>
                  <a:pt x="695959" y="1378357"/>
                </a:cubicBezTo>
                <a:cubicBezTo>
                  <a:pt x="501969" y="1184422"/>
                  <a:pt x="397627" y="947072"/>
                  <a:pt x="397673" y="746269"/>
                </a:cubicBezTo>
                <a:cubicBezTo>
                  <a:pt x="397673" y="625852"/>
                  <a:pt x="435053" y="518721"/>
                  <a:pt x="512640" y="441079"/>
                </a:cubicBezTo>
                <a:cubicBezTo>
                  <a:pt x="590273" y="363492"/>
                  <a:pt x="697349" y="326121"/>
                  <a:pt x="817830" y="326121"/>
                </a:cubicBezTo>
                <a:cubicBezTo>
                  <a:pt x="1018678" y="326066"/>
                  <a:pt x="1256029" y="430463"/>
                  <a:pt x="1449918" y="624407"/>
                </a:cubicBezTo>
                <a:cubicBezTo>
                  <a:pt x="1452854" y="627342"/>
                  <a:pt x="1455743" y="630332"/>
                  <a:pt x="1458623" y="633268"/>
                </a:cubicBezTo>
                <a:lnTo>
                  <a:pt x="1458623" y="633268"/>
                </a:lnTo>
                <a:moveTo>
                  <a:pt x="1543169" y="1297680"/>
                </a:moveTo>
                <a:cubicBezTo>
                  <a:pt x="1546424" y="1297680"/>
                  <a:pt x="1549103" y="1295046"/>
                  <a:pt x="1549103" y="1291755"/>
                </a:cubicBezTo>
                <a:lnTo>
                  <a:pt x="1549103" y="882423"/>
                </a:lnTo>
                <a:cubicBezTo>
                  <a:pt x="1596945" y="977283"/>
                  <a:pt x="1621743" y="1074923"/>
                  <a:pt x="1621688" y="1164936"/>
                </a:cubicBezTo>
                <a:cubicBezTo>
                  <a:pt x="1621688" y="1269480"/>
                  <a:pt x="1588487" y="1363672"/>
                  <a:pt x="1519824" y="1432389"/>
                </a:cubicBezTo>
                <a:cubicBezTo>
                  <a:pt x="1451153" y="1501052"/>
                  <a:pt x="1356970" y="1534199"/>
                  <a:pt x="1252362" y="1534253"/>
                </a:cubicBezTo>
                <a:cubicBezTo>
                  <a:pt x="1090230" y="1534253"/>
                  <a:pt x="903564" y="1454088"/>
                  <a:pt x="752670" y="1303148"/>
                </a:cubicBezTo>
                <a:cubicBezTo>
                  <a:pt x="601721" y="1152254"/>
                  <a:pt x="521510" y="965579"/>
                  <a:pt x="521555" y="803447"/>
                </a:cubicBezTo>
                <a:cubicBezTo>
                  <a:pt x="521555" y="698894"/>
                  <a:pt x="554757" y="604711"/>
                  <a:pt x="623429" y="535994"/>
                </a:cubicBezTo>
                <a:cubicBezTo>
                  <a:pt x="692091" y="467322"/>
                  <a:pt x="786283" y="434175"/>
                  <a:pt x="890882" y="434121"/>
                </a:cubicBezTo>
                <a:cubicBezTo>
                  <a:pt x="1044812" y="434121"/>
                  <a:pt x="1220815" y="506450"/>
                  <a:pt x="1367375" y="642915"/>
                </a:cubicBezTo>
                <a:lnTo>
                  <a:pt x="1192515" y="642915"/>
                </a:lnTo>
                <a:cubicBezTo>
                  <a:pt x="1094921" y="580223"/>
                  <a:pt x="990377" y="547278"/>
                  <a:pt x="895618" y="547232"/>
                </a:cubicBezTo>
                <a:cubicBezTo>
                  <a:pt x="809838" y="547232"/>
                  <a:pt x="731840" y="574344"/>
                  <a:pt x="675028" y="631210"/>
                </a:cubicBezTo>
                <a:cubicBezTo>
                  <a:pt x="618217" y="688022"/>
                  <a:pt x="591050" y="766020"/>
                  <a:pt x="591105" y="851800"/>
                </a:cubicBezTo>
                <a:cubicBezTo>
                  <a:pt x="591105" y="988265"/>
                  <a:pt x="659356" y="1144929"/>
                  <a:pt x="786430" y="1272058"/>
                </a:cubicBezTo>
                <a:cubicBezTo>
                  <a:pt x="788853" y="1274482"/>
                  <a:pt x="791331" y="1276850"/>
                  <a:pt x="793754" y="1279227"/>
                </a:cubicBezTo>
                <a:cubicBezTo>
                  <a:pt x="796122" y="1281696"/>
                  <a:pt x="798500" y="1284174"/>
                  <a:pt x="800969" y="1286597"/>
                </a:cubicBezTo>
                <a:cubicBezTo>
                  <a:pt x="806181" y="1291800"/>
                  <a:pt x="811439" y="1296857"/>
                  <a:pt x="816742" y="1301804"/>
                </a:cubicBezTo>
                <a:cubicBezTo>
                  <a:pt x="864538" y="1346865"/>
                  <a:pt x="915159" y="1382847"/>
                  <a:pt x="964500" y="1408213"/>
                </a:cubicBezTo>
                <a:cubicBezTo>
                  <a:pt x="1000994" y="1426976"/>
                  <a:pt x="1036719" y="1439970"/>
                  <a:pt x="1070022" y="1446563"/>
                </a:cubicBezTo>
                <a:cubicBezTo>
                  <a:pt x="1071210" y="1446819"/>
                  <a:pt x="1072344" y="1447129"/>
                  <a:pt x="1073533" y="1447385"/>
                </a:cubicBezTo>
                <a:cubicBezTo>
                  <a:pt x="1118896" y="1460589"/>
                  <a:pt x="1163803" y="1467338"/>
                  <a:pt x="1206688" y="1467393"/>
                </a:cubicBezTo>
                <a:cubicBezTo>
                  <a:pt x="1292477" y="1467393"/>
                  <a:pt x="1370475" y="1440271"/>
                  <a:pt x="1427287" y="1383460"/>
                </a:cubicBezTo>
                <a:cubicBezTo>
                  <a:pt x="1484089" y="1326657"/>
                  <a:pt x="1511265" y="1248650"/>
                  <a:pt x="1511211" y="1162870"/>
                </a:cubicBezTo>
                <a:cubicBezTo>
                  <a:pt x="1511211" y="1026414"/>
                  <a:pt x="1442951" y="869741"/>
                  <a:pt x="1315876" y="742612"/>
                </a:cubicBezTo>
                <a:cubicBezTo>
                  <a:pt x="1282473" y="709209"/>
                  <a:pt x="1246949" y="679875"/>
                  <a:pt x="1210346" y="654765"/>
                </a:cubicBezTo>
                <a:lnTo>
                  <a:pt x="1379903" y="654765"/>
                </a:lnTo>
                <a:cubicBezTo>
                  <a:pt x="1383460" y="658222"/>
                  <a:pt x="1387072" y="661678"/>
                  <a:pt x="1390629" y="665235"/>
                </a:cubicBezTo>
                <a:cubicBezTo>
                  <a:pt x="1451098" y="725650"/>
                  <a:pt x="1500128" y="791843"/>
                  <a:pt x="1537298" y="859847"/>
                </a:cubicBezTo>
                <a:lnTo>
                  <a:pt x="1537298" y="1291755"/>
                </a:lnTo>
                <a:cubicBezTo>
                  <a:pt x="1537298" y="1295001"/>
                  <a:pt x="1539923" y="1297680"/>
                  <a:pt x="1543224" y="1297680"/>
                </a:cubicBezTo>
                <a:lnTo>
                  <a:pt x="1543169" y="1297680"/>
                </a:lnTo>
                <a:moveTo>
                  <a:pt x="900263" y="654765"/>
                </a:moveTo>
                <a:lnTo>
                  <a:pt x="1189003" y="654765"/>
                </a:lnTo>
                <a:cubicBezTo>
                  <a:pt x="1230197" y="681475"/>
                  <a:pt x="1270147" y="713589"/>
                  <a:pt x="1307473" y="750969"/>
                </a:cubicBezTo>
                <a:cubicBezTo>
                  <a:pt x="1432645" y="876087"/>
                  <a:pt x="1499406" y="1030328"/>
                  <a:pt x="1499351" y="1162815"/>
                </a:cubicBezTo>
                <a:cubicBezTo>
                  <a:pt x="1499351" y="1246181"/>
                  <a:pt x="1473117" y="1320778"/>
                  <a:pt x="1418884" y="1375056"/>
                </a:cubicBezTo>
                <a:cubicBezTo>
                  <a:pt x="1364596" y="1429289"/>
                  <a:pt x="1289999" y="1455533"/>
                  <a:pt x="1206642" y="1455533"/>
                </a:cubicBezTo>
                <a:cubicBezTo>
                  <a:pt x="1198961" y="1455533"/>
                  <a:pt x="1191225" y="1455277"/>
                  <a:pt x="1183444" y="1454865"/>
                </a:cubicBezTo>
                <a:cubicBezTo>
                  <a:pt x="1246382" y="1450787"/>
                  <a:pt x="1303093" y="1428467"/>
                  <a:pt x="1345466" y="1386038"/>
                </a:cubicBezTo>
                <a:cubicBezTo>
                  <a:pt x="1392585" y="1338919"/>
                  <a:pt x="1415016" y="1274125"/>
                  <a:pt x="1415016" y="1202719"/>
                </a:cubicBezTo>
                <a:cubicBezTo>
                  <a:pt x="1414961" y="1086106"/>
                  <a:pt x="1355726" y="951296"/>
                  <a:pt x="1245971" y="841495"/>
                </a:cubicBezTo>
                <a:cubicBezTo>
                  <a:pt x="1136169" y="731739"/>
                  <a:pt x="1001359" y="672505"/>
                  <a:pt x="884746" y="672450"/>
                </a:cubicBezTo>
                <a:cubicBezTo>
                  <a:pt x="813295" y="672450"/>
                  <a:pt x="748491" y="694880"/>
                  <a:pt x="701427" y="741999"/>
                </a:cubicBezTo>
                <a:cubicBezTo>
                  <a:pt x="654308" y="789118"/>
                  <a:pt x="631878" y="853912"/>
                  <a:pt x="631878" y="925318"/>
                </a:cubicBezTo>
                <a:cubicBezTo>
                  <a:pt x="631878" y="925830"/>
                  <a:pt x="631878" y="926397"/>
                  <a:pt x="631878" y="926964"/>
                </a:cubicBezTo>
                <a:cubicBezTo>
                  <a:pt x="631622" y="931710"/>
                  <a:pt x="631466" y="936501"/>
                  <a:pt x="631466" y="941347"/>
                </a:cubicBezTo>
                <a:cubicBezTo>
                  <a:pt x="631466" y="965634"/>
                  <a:pt x="634712" y="991200"/>
                  <a:pt x="640903" y="1017444"/>
                </a:cubicBezTo>
                <a:cubicBezTo>
                  <a:pt x="643994" y="1033162"/>
                  <a:pt x="648584" y="1049402"/>
                  <a:pt x="654464" y="1066008"/>
                </a:cubicBezTo>
                <a:cubicBezTo>
                  <a:pt x="620439" y="993468"/>
                  <a:pt x="602855" y="919749"/>
                  <a:pt x="602910" y="851754"/>
                </a:cubicBezTo>
                <a:cubicBezTo>
                  <a:pt x="602910" y="768389"/>
                  <a:pt x="629144" y="693792"/>
                  <a:pt x="683377" y="639513"/>
                </a:cubicBezTo>
                <a:cubicBezTo>
                  <a:pt x="737665" y="585271"/>
                  <a:pt x="812262" y="559037"/>
                  <a:pt x="895618" y="559037"/>
                </a:cubicBezTo>
                <a:cubicBezTo>
                  <a:pt x="982587" y="559037"/>
                  <a:pt x="1078891" y="587749"/>
                  <a:pt x="1170194" y="642860"/>
                </a:cubicBezTo>
                <a:lnTo>
                  <a:pt x="900263" y="642860"/>
                </a:lnTo>
                <a:cubicBezTo>
                  <a:pt x="897017" y="642860"/>
                  <a:pt x="894329" y="645493"/>
                  <a:pt x="894329" y="648785"/>
                </a:cubicBezTo>
                <a:cubicBezTo>
                  <a:pt x="894329" y="652086"/>
                  <a:pt x="896962" y="654720"/>
                  <a:pt x="900263" y="654720"/>
                </a:cubicBezTo>
                <a:lnTo>
                  <a:pt x="900263" y="654765"/>
                </a:lnTo>
                <a:moveTo>
                  <a:pt x="1403156" y="1202719"/>
                </a:moveTo>
                <a:cubicBezTo>
                  <a:pt x="1403156" y="1271748"/>
                  <a:pt x="1381604" y="1333149"/>
                  <a:pt x="1337063" y="1377690"/>
                </a:cubicBezTo>
                <a:cubicBezTo>
                  <a:pt x="1313097" y="1401665"/>
                  <a:pt x="1284229" y="1418884"/>
                  <a:pt x="1251951" y="1429756"/>
                </a:cubicBezTo>
                <a:cubicBezTo>
                  <a:pt x="1263865" y="1422797"/>
                  <a:pt x="1274893" y="1414394"/>
                  <a:pt x="1284796" y="1404500"/>
                </a:cubicBezTo>
                <a:cubicBezTo>
                  <a:pt x="1319799" y="1369497"/>
                  <a:pt x="1336295" y="1320723"/>
                  <a:pt x="1336295" y="1265822"/>
                </a:cubicBezTo>
                <a:cubicBezTo>
                  <a:pt x="1336295" y="1212778"/>
                  <a:pt x="1321089" y="1153698"/>
                  <a:pt x="1292322" y="1094253"/>
                </a:cubicBezTo>
                <a:cubicBezTo>
                  <a:pt x="1263554" y="1034817"/>
                  <a:pt x="1221282" y="975016"/>
                  <a:pt x="1166838" y="920627"/>
                </a:cubicBezTo>
                <a:cubicBezTo>
                  <a:pt x="1112404" y="866184"/>
                  <a:pt x="1052602" y="823911"/>
                  <a:pt x="993212" y="795144"/>
                </a:cubicBezTo>
                <a:cubicBezTo>
                  <a:pt x="933767" y="766432"/>
                  <a:pt x="874742" y="751170"/>
                  <a:pt x="821643" y="751170"/>
                </a:cubicBezTo>
                <a:cubicBezTo>
                  <a:pt x="766688" y="751170"/>
                  <a:pt x="717969" y="767621"/>
                  <a:pt x="682965" y="802669"/>
                </a:cubicBezTo>
                <a:cubicBezTo>
                  <a:pt x="673072" y="812572"/>
                  <a:pt x="664714" y="823600"/>
                  <a:pt x="657710" y="835515"/>
                </a:cubicBezTo>
                <a:cubicBezTo>
                  <a:pt x="668582" y="803236"/>
                  <a:pt x="685800" y="774369"/>
                  <a:pt x="709776" y="750402"/>
                </a:cubicBezTo>
                <a:cubicBezTo>
                  <a:pt x="754316" y="705862"/>
                  <a:pt x="815718" y="684364"/>
                  <a:pt x="884746" y="684310"/>
                </a:cubicBezTo>
                <a:cubicBezTo>
                  <a:pt x="997336" y="684310"/>
                  <a:pt x="1129723" y="741999"/>
                  <a:pt x="1237567" y="849898"/>
                </a:cubicBezTo>
                <a:cubicBezTo>
                  <a:pt x="1345466" y="957743"/>
                  <a:pt x="1403211" y="1090184"/>
                  <a:pt x="1403156" y="1202719"/>
                </a:cubicBezTo>
                <a:lnTo>
                  <a:pt x="1403156" y="1202719"/>
                </a:lnTo>
                <a:moveTo>
                  <a:pt x="1281650" y="1099456"/>
                </a:moveTo>
                <a:cubicBezTo>
                  <a:pt x="1309796" y="1157612"/>
                  <a:pt x="1324435" y="1215046"/>
                  <a:pt x="1324435" y="1265868"/>
                </a:cubicBezTo>
                <a:cubicBezTo>
                  <a:pt x="1324435" y="1318556"/>
                  <a:pt x="1308817" y="1363818"/>
                  <a:pt x="1276438" y="1396197"/>
                </a:cubicBezTo>
                <a:cubicBezTo>
                  <a:pt x="1249683" y="1422953"/>
                  <a:pt x="1214113" y="1438214"/>
                  <a:pt x="1172873" y="1442749"/>
                </a:cubicBezTo>
                <a:cubicBezTo>
                  <a:pt x="1188857" y="1436980"/>
                  <a:pt x="1203085" y="1428265"/>
                  <a:pt x="1214890" y="1416460"/>
                </a:cubicBezTo>
                <a:cubicBezTo>
                  <a:pt x="1238966" y="1392384"/>
                  <a:pt x="1250149" y="1358515"/>
                  <a:pt x="1250095" y="1319644"/>
                </a:cubicBezTo>
                <a:cubicBezTo>
                  <a:pt x="1250095" y="1273860"/>
                  <a:pt x="1234842" y="1220815"/>
                  <a:pt x="1206688" y="1166015"/>
                </a:cubicBezTo>
                <a:cubicBezTo>
                  <a:pt x="1178488" y="1111215"/>
                  <a:pt x="1137349" y="1054760"/>
                  <a:pt x="1085027" y="1002438"/>
                </a:cubicBezTo>
                <a:cubicBezTo>
                  <a:pt x="1032751" y="950162"/>
                  <a:pt x="976250" y="908978"/>
                  <a:pt x="921450" y="880778"/>
                </a:cubicBezTo>
                <a:cubicBezTo>
                  <a:pt x="866650" y="852623"/>
                  <a:pt x="813606" y="837371"/>
                  <a:pt x="767822" y="837371"/>
                </a:cubicBezTo>
                <a:cubicBezTo>
                  <a:pt x="728951" y="837371"/>
                  <a:pt x="695081" y="848499"/>
                  <a:pt x="671005" y="872575"/>
                </a:cubicBezTo>
                <a:cubicBezTo>
                  <a:pt x="659154" y="884380"/>
                  <a:pt x="650486" y="898608"/>
                  <a:pt x="644716" y="914592"/>
                </a:cubicBezTo>
                <a:cubicBezTo>
                  <a:pt x="649251" y="873353"/>
                  <a:pt x="664513" y="837782"/>
                  <a:pt x="691268" y="811027"/>
                </a:cubicBezTo>
                <a:cubicBezTo>
                  <a:pt x="723647" y="778648"/>
                  <a:pt x="768910" y="763030"/>
                  <a:pt x="821588" y="763030"/>
                </a:cubicBezTo>
                <a:cubicBezTo>
                  <a:pt x="872374" y="763030"/>
                  <a:pt x="929853" y="777670"/>
                  <a:pt x="988000" y="805815"/>
                </a:cubicBezTo>
                <a:cubicBezTo>
                  <a:pt x="1046156" y="833915"/>
                  <a:pt x="1104924" y="875465"/>
                  <a:pt x="1158435" y="929030"/>
                </a:cubicBezTo>
                <a:cubicBezTo>
                  <a:pt x="1211946" y="982541"/>
                  <a:pt x="1253496" y="1041310"/>
                  <a:pt x="1281650" y="1099456"/>
                </a:cubicBezTo>
                <a:lnTo>
                  <a:pt x="1281650" y="1099456"/>
                </a:lnTo>
                <a:moveTo>
                  <a:pt x="1028572" y="1419551"/>
                </a:moveTo>
                <a:cubicBezTo>
                  <a:pt x="951040" y="1389138"/>
                  <a:pt x="873554" y="1339898"/>
                  <a:pt x="804325" y="1273037"/>
                </a:cubicBezTo>
                <a:cubicBezTo>
                  <a:pt x="800045" y="1268712"/>
                  <a:pt x="795821" y="1264323"/>
                  <a:pt x="791742" y="1259943"/>
                </a:cubicBezTo>
                <a:cubicBezTo>
                  <a:pt x="790042" y="1258141"/>
                  <a:pt x="788396" y="1256285"/>
                  <a:pt x="786741" y="1254484"/>
                </a:cubicBezTo>
                <a:cubicBezTo>
                  <a:pt x="783595" y="1251073"/>
                  <a:pt x="780605" y="1247571"/>
                  <a:pt x="777569" y="1244114"/>
                </a:cubicBezTo>
                <a:cubicBezTo>
                  <a:pt x="705597" y="1161069"/>
                  <a:pt x="661367" y="1067141"/>
                  <a:pt x="648017" y="980219"/>
                </a:cubicBezTo>
                <a:cubicBezTo>
                  <a:pt x="647807" y="976561"/>
                  <a:pt x="647706" y="972949"/>
                  <a:pt x="647706" y="969392"/>
                </a:cubicBezTo>
                <a:cubicBezTo>
                  <a:pt x="647706" y="932688"/>
                  <a:pt x="658121" y="902321"/>
                  <a:pt x="679463" y="880979"/>
                </a:cubicBezTo>
                <a:cubicBezTo>
                  <a:pt x="700805" y="859637"/>
                  <a:pt x="731173" y="849276"/>
                  <a:pt x="767877" y="849222"/>
                </a:cubicBezTo>
                <a:cubicBezTo>
                  <a:pt x="811027" y="849222"/>
                  <a:pt x="862526" y="863761"/>
                  <a:pt x="916092" y="891339"/>
                </a:cubicBezTo>
                <a:cubicBezTo>
                  <a:pt x="969648" y="918871"/>
                  <a:pt x="1025225" y="959343"/>
                  <a:pt x="1076679" y="1010842"/>
                </a:cubicBezTo>
                <a:cubicBezTo>
                  <a:pt x="1128123" y="1062295"/>
                  <a:pt x="1168640" y="1117863"/>
                  <a:pt x="1196172" y="1171429"/>
                </a:cubicBezTo>
                <a:cubicBezTo>
                  <a:pt x="1223751" y="1224994"/>
                  <a:pt x="1238290" y="1276548"/>
                  <a:pt x="1238290" y="1319644"/>
                </a:cubicBezTo>
                <a:cubicBezTo>
                  <a:pt x="1238290" y="1356348"/>
                  <a:pt x="1227875" y="1386715"/>
                  <a:pt x="1206533" y="1408057"/>
                </a:cubicBezTo>
                <a:cubicBezTo>
                  <a:pt x="1185190" y="1429399"/>
                  <a:pt x="1154832" y="1439759"/>
                  <a:pt x="1118119" y="1439814"/>
                </a:cubicBezTo>
                <a:cubicBezTo>
                  <a:pt x="1114562" y="1439814"/>
                  <a:pt x="1110959" y="1439659"/>
                  <a:pt x="1107293" y="1439503"/>
                </a:cubicBezTo>
                <a:cubicBezTo>
                  <a:pt x="1081525" y="1435535"/>
                  <a:pt x="1055126" y="1428878"/>
                  <a:pt x="1028572" y="1419551"/>
                </a:cubicBezTo>
                <a:lnTo>
                  <a:pt x="1028572" y="1419551"/>
                </a:lnTo>
                <a:moveTo>
                  <a:pt x="1398931" y="656887"/>
                </a:moveTo>
                <a:cubicBezTo>
                  <a:pt x="1398209" y="656164"/>
                  <a:pt x="1397487" y="655488"/>
                  <a:pt x="1396764" y="654765"/>
                </a:cubicBezTo>
                <a:lnTo>
                  <a:pt x="1407847" y="654765"/>
                </a:lnTo>
                <a:lnTo>
                  <a:pt x="1442439" y="660489"/>
                </a:lnTo>
                <a:cubicBezTo>
                  <a:pt x="1488113" y="668015"/>
                  <a:pt x="1523948" y="703850"/>
                  <a:pt x="1531519" y="749570"/>
                </a:cubicBezTo>
                <a:lnTo>
                  <a:pt x="1537244" y="784162"/>
                </a:lnTo>
                <a:lnTo>
                  <a:pt x="1537244" y="835826"/>
                </a:lnTo>
                <a:cubicBezTo>
                  <a:pt x="1500951" y="773290"/>
                  <a:pt x="1454710" y="712665"/>
                  <a:pt x="1398931" y="656887"/>
                </a:cubicBezTo>
                <a:lnTo>
                  <a:pt x="1398931" y="656887"/>
                </a:lnTo>
                <a:moveTo>
                  <a:pt x="687199" y="241109"/>
                </a:moveTo>
                <a:cubicBezTo>
                  <a:pt x="713177" y="241164"/>
                  <a:pt x="739521" y="242554"/>
                  <a:pt x="766121" y="245077"/>
                </a:cubicBezTo>
                <a:cubicBezTo>
                  <a:pt x="759985" y="244922"/>
                  <a:pt x="753804" y="244767"/>
                  <a:pt x="747714" y="244767"/>
                </a:cubicBezTo>
                <a:cubicBezTo>
                  <a:pt x="606412" y="244767"/>
                  <a:pt x="479228" y="288850"/>
                  <a:pt x="386901" y="381177"/>
                </a:cubicBezTo>
                <a:cubicBezTo>
                  <a:pt x="294574" y="473513"/>
                  <a:pt x="250491" y="600688"/>
                  <a:pt x="250491" y="741999"/>
                </a:cubicBezTo>
                <a:cubicBezTo>
                  <a:pt x="250546" y="976040"/>
                  <a:pt x="370972" y="1249272"/>
                  <a:pt x="593985" y="1472339"/>
                </a:cubicBezTo>
                <a:cubicBezTo>
                  <a:pt x="817053" y="1695352"/>
                  <a:pt x="1090340" y="1815779"/>
                  <a:pt x="1324335" y="1815834"/>
                </a:cubicBezTo>
                <a:cubicBezTo>
                  <a:pt x="1465637" y="1815834"/>
                  <a:pt x="1592821" y="1771760"/>
                  <a:pt x="1685148" y="1679424"/>
                </a:cubicBezTo>
                <a:cubicBezTo>
                  <a:pt x="1777484" y="1587097"/>
                  <a:pt x="1821558" y="1459913"/>
                  <a:pt x="1821558" y="1318611"/>
                </a:cubicBezTo>
                <a:cubicBezTo>
                  <a:pt x="1821558" y="1242103"/>
                  <a:pt x="1808564" y="1161425"/>
                  <a:pt x="1783464" y="1079714"/>
                </a:cubicBezTo>
                <a:cubicBezTo>
                  <a:pt x="1797226" y="1118586"/>
                  <a:pt x="1808665" y="1157457"/>
                  <a:pt x="1817535" y="1196117"/>
                </a:cubicBezTo>
                <a:cubicBezTo>
                  <a:pt x="1817791" y="1197361"/>
                  <a:pt x="1818102" y="1198596"/>
                  <a:pt x="1818358" y="1199830"/>
                </a:cubicBezTo>
                <a:cubicBezTo>
                  <a:pt x="1819446" y="1204521"/>
                  <a:pt x="1820424" y="1209267"/>
                  <a:pt x="1821403" y="1213957"/>
                </a:cubicBezTo>
                <a:cubicBezTo>
                  <a:pt x="1832851" y="1270358"/>
                  <a:pt x="1838721" y="1325779"/>
                  <a:pt x="1838721" y="1379336"/>
                </a:cubicBezTo>
                <a:cubicBezTo>
                  <a:pt x="1838721" y="1534665"/>
                  <a:pt x="1789956" y="1673965"/>
                  <a:pt x="1688705" y="1775262"/>
                </a:cubicBezTo>
                <a:cubicBezTo>
                  <a:pt x="1587408" y="1876513"/>
                  <a:pt x="1448163" y="1925278"/>
                  <a:pt x="1292779" y="1925278"/>
                </a:cubicBezTo>
                <a:cubicBezTo>
                  <a:pt x="1043221" y="1925278"/>
                  <a:pt x="752716" y="1799027"/>
                  <a:pt x="516663" y="1562920"/>
                </a:cubicBezTo>
                <a:cubicBezTo>
                  <a:pt x="280547" y="1326858"/>
                  <a:pt x="154241" y="1036363"/>
                  <a:pt x="154296" y="786795"/>
                </a:cubicBezTo>
                <a:cubicBezTo>
                  <a:pt x="154296" y="631466"/>
                  <a:pt x="203061" y="492176"/>
                  <a:pt x="304312" y="390869"/>
                </a:cubicBezTo>
                <a:cubicBezTo>
                  <a:pt x="402729" y="292462"/>
                  <a:pt x="537128" y="243788"/>
                  <a:pt x="687245" y="241109"/>
                </a:cubicBezTo>
                <a:lnTo>
                  <a:pt x="687199" y="241109"/>
                </a:lnTo>
                <a:moveTo>
                  <a:pt x="295909" y="382576"/>
                </a:moveTo>
                <a:cubicBezTo>
                  <a:pt x="192088" y="486397"/>
                  <a:pt x="142390" y="629098"/>
                  <a:pt x="142390" y="786850"/>
                </a:cubicBezTo>
                <a:cubicBezTo>
                  <a:pt x="142390" y="1040377"/>
                  <a:pt x="270242" y="1333305"/>
                  <a:pt x="508260" y="1571323"/>
                </a:cubicBezTo>
                <a:cubicBezTo>
                  <a:pt x="746278" y="1809287"/>
                  <a:pt x="1039243" y="1937138"/>
                  <a:pt x="1292733" y="1937193"/>
                </a:cubicBezTo>
                <a:cubicBezTo>
                  <a:pt x="1450485" y="1937193"/>
                  <a:pt x="1593177" y="1887541"/>
                  <a:pt x="1697008" y="1783665"/>
                </a:cubicBezTo>
                <a:cubicBezTo>
                  <a:pt x="1747217" y="1733456"/>
                  <a:pt x="1784644" y="1674120"/>
                  <a:pt x="1810064" y="1608384"/>
                </a:cubicBezTo>
                <a:cubicBezTo>
                  <a:pt x="1782586" y="1695974"/>
                  <a:pt x="1736647" y="1774750"/>
                  <a:pt x="1671541" y="1839910"/>
                </a:cubicBezTo>
                <a:cubicBezTo>
                  <a:pt x="1557196" y="1954256"/>
                  <a:pt x="1400788" y="2009467"/>
                  <a:pt x="1228551" y="2009522"/>
                </a:cubicBezTo>
                <a:cubicBezTo>
                  <a:pt x="968981" y="2009522"/>
                  <a:pt x="673840" y="1883728"/>
                  <a:pt x="436187" y="1646075"/>
                </a:cubicBezTo>
                <a:cubicBezTo>
                  <a:pt x="198480" y="1408414"/>
                  <a:pt x="72640" y="1113273"/>
                  <a:pt x="72686" y="853711"/>
                </a:cubicBezTo>
                <a:cubicBezTo>
                  <a:pt x="72686" y="681475"/>
                  <a:pt x="127952" y="525067"/>
                  <a:pt x="242298" y="410721"/>
                </a:cubicBezTo>
                <a:cubicBezTo>
                  <a:pt x="295241" y="357777"/>
                  <a:pt x="357256" y="317516"/>
                  <a:pt x="425671" y="289517"/>
                </a:cubicBezTo>
                <a:cubicBezTo>
                  <a:pt x="377931" y="313337"/>
                  <a:pt x="334268" y="344217"/>
                  <a:pt x="295909" y="382576"/>
                </a:cubicBezTo>
                <a:lnTo>
                  <a:pt x="295909" y="382576"/>
                </a:lnTo>
                <a:moveTo>
                  <a:pt x="1667573" y="1891363"/>
                </a:moveTo>
                <a:cubicBezTo>
                  <a:pt x="1545135" y="2013792"/>
                  <a:pt x="1378101" y="2072981"/>
                  <a:pt x="1195194" y="2073027"/>
                </a:cubicBezTo>
                <a:cubicBezTo>
                  <a:pt x="926808" y="2073027"/>
                  <a:pt x="624563" y="1945231"/>
                  <a:pt x="382109" y="1702777"/>
                </a:cubicBezTo>
                <a:cubicBezTo>
                  <a:pt x="139601" y="1460324"/>
                  <a:pt x="11805" y="1158078"/>
                  <a:pt x="11860" y="889693"/>
                </a:cubicBezTo>
                <a:cubicBezTo>
                  <a:pt x="11860" y="706785"/>
                  <a:pt x="71095" y="539752"/>
                  <a:pt x="193533" y="417314"/>
                </a:cubicBezTo>
                <a:cubicBezTo>
                  <a:pt x="273076" y="337825"/>
                  <a:pt x="371384" y="284982"/>
                  <a:pt x="480673" y="257714"/>
                </a:cubicBezTo>
                <a:cubicBezTo>
                  <a:pt x="387267" y="285293"/>
                  <a:pt x="303078" y="333180"/>
                  <a:pt x="233949" y="402363"/>
                </a:cubicBezTo>
                <a:cubicBezTo>
                  <a:pt x="117025" y="519233"/>
                  <a:pt x="60881" y="678997"/>
                  <a:pt x="60881" y="853711"/>
                </a:cubicBezTo>
                <a:cubicBezTo>
                  <a:pt x="60881" y="1117095"/>
                  <a:pt x="188220" y="1414760"/>
                  <a:pt x="427839" y="1654424"/>
                </a:cubicBezTo>
                <a:cubicBezTo>
                  <a:pt x="667503" y="1894042"/>
                  <a:pt x="965167" y="2021327"/>
                  <a:pt x="1228551" y="2021373"/>
                </a:cubicBezTo>
                <a:cubicBezTo>
                  <a:pt x="1403257" y="2021373"/>
                  <a:pt x="1563020" y="1965238"/>
                  <a:pt x="1679890" y="1848313"/>
                </a:cubicBezTo>
                <a:cubicBezTo>
                  <a:pt x="1767169" y="1761034"/>
                  <a:pt x="1820625" y="1649788"/>
                  <a:pt x="1842077" y="1526316"/>
                </a:cubicBezTo>
                <a:cubicBezTo>
                  <a:pt x="1823048" y="1666741"/>
                  <a:pt x="1765569" y="1793358"/>
                  <a:pt x="1667573" y="1891409"/>
                </a:cubicBezTo>
                <a:lnTo>
                  <a:pt x="1667573" y="1891363"/>
                </a:lnTo>
              </a:path>
            </a:pathLst>
          </a:custGeom>
          <a:solidFill>
            <a:srgbClr val="FFEFDA"/>
          </a:solidFill>
          <a:ln/>
        </p:spPr>
      </p:sp>
      <p:sp>
        <p:nvSpPr>
          <p:cNvPr id="3" name="Shape 1"/>
          <p:cNvSpPr/>
          <p:nvPr/>
        </p:nvSpPr>
        <p:spPr>
          <a:xfrm>
            <a:off x="654464" y="6337139"/>
            <a:ext cx="218478" cy="218478"/>
          </a:xfrm>
          <a:custGeom>
            <a:avLst/>
            <a:gdLst/>
            <a:ahLst/>
            <a:cxnLst/>
            <a:rect l="l" t="t" r="r" b="b"/>
            <a:pathLst>
              <a:path w="218478" h="218478">
                <a:moveTo>
                  <a:pt x="173526" y="116659"/>
                </a:moveTo>
                <a:lnTo>
                  <a:pt x="218478" y="109243"/>
                </a:lnTo>
                <a:lnTo>
                  <a:pt x="173526" y="101818"/>
                </a:lnTo>
                <a:cubicBezTo>
                  <a:pt x="144347" y="97018"/>
                  <a:pt x="121460" y="74130"/>
                  <a:pt x="116659" y="44952"/>
                </a:cubicBezTo>
                <a:lnTo>
                  <a:pt x="109243" y="0"/>
                </a:lnTo>
                <a:lnTo>
                  <a:pt x="101818" y="44952"/>
                </a:lnTo>
                <a:cubicBezTo>
                  <a:pt x="97018" y="74130"/>
                  <a:pt x="74130" y="97018"/>
                  <a:pt x="44952" y="101818"/>
                </a:cubicBezTo>
                <a:lnTo>
                  <a:pt x="0" y="109243"/>
                </a:lnTo>
                <a:lnTo>
                  <a:pt x="44952" y="116659"/>
                </a:lnTo>
                <a:cubicBezTo>
                  <a:pt x="74130" y="121460"/>
                  <a:pt x="97018" y="144347"/>
                  <a:pt x="101818" y="173526"/>
                </a:cubicBezTo>
                <a:lnTo>
                  <a:pt x="109243" y="218478"/>
                </a:lnTo>
                <a:lnTo>
                  <a:pt x="116659" y="173526"/>
                </a:lnTo>
                <a:cubicBezTo>
                  <a:pt x="121460" y="144347"/>
                  <a:pt x="144347" y="121460"/>
                  <a:pt x="173526" y="116659"/>
                </a:cubicBezTo>
              </a:path>
            </a:pathLst>
          </a:custGeom>
          <a:solidFill>
            <a:srgbClr val="FFEFDA"/>
          </a:solidFill>
          <a:ln/>
        </p:spPr>
      </p:sp>
      <p:sp>
        <p:nvSpPr>
          <p:cNvPr id="4" name="Shape 2"/>
          <p:cNvSpPr/>
          <p:nvPr/>
        </p:nvSpPr>
        <p:spPr>
          <a:xfrm>
            <a:off x="560070" y="5901830"/>
            <a:ext cx="130220" cy="130220"/>
          </a:xfrm>
          <a:custGeom>
            <a:avLst/>
            <a:gdLst/>
            <a:ahLst/>
            <a:cxnLst/>
            <a:rect l="l" t="t" r="r" b="b"/>
            <a:pathLst>
              <a:path w="130220" h="130220">
                <a:moveTo>
                  <a:pt x="69540" y="26810"/>
                </a:moveTo>
                <a:lnTo>
                  <a:pt x="65114" y="0"/>
                </a:lnTo>
                <a:lnTo>
                  <a:pt x="60680" y="26810"/>
                </a:lnTo>
                <a:cubicBezTo>
                  <a:pt x="57790" y="44184"/>
                  <a:pt x="44184" y="57845"/>
                  <a:pt x="26810" y="60680"/>
                </a:cubicBezTo>
                <a:lnTo>
                  <a:pt x="0" y="65114"/>
                </a:lnTo>
                <a:lnTo>
                  <a:pt x="26810" y="69540"/>
                </a:lnTo>
                <a:cubicBezTo>
                  <a:pt x="44184" y="72430"/>
                  <a:pt x="57845" y="86045"/>
                  <a:pt x="60680" y="103419"/>
                </a:cubicBezTo>
                <a:lnTo>
                  <a:pt x="65114" y="130220"/>
                </a:lnTo>
                <a:lnTo>
                  <a:pt x="69540" y="103419"/>
                </a:lnTo>
                <a:cubicBezTo>
                  <a:pt x="72430" y="86045"/>
                  <a:pt x="86045" y="72384"/>
                  <a:pt x="103419" y="69540"/>
                </a:cubicBezTo>
                <a:lnTo>
                  <a:pt x="130220" y="65114"/>
                </a:lnTo>
                <a:lnTo>
                  <a:pt x="103419" y="60680"/>
                </a:lnTo>
                <a:cubicBezTo>
                  <a:pt x="86045" y="57790"/>
                  <a:pt x="72384" y="44184"/>
                  <a:pt x="69540" y="26810"/>
                </a:cubicBezTo>
              </a:path>
            </a:pathLst>
          </a:custGeom>
          <a:solidFill>
            <a:srgbClr val="FFEFDA"/>
          </a:solidFill>
          <a:ln/>
        </p:spPr>
      </p:sp>
      <p:sp>
        <p:nvSpPr>
          <p:cNvPr id="5" name="Shape 3"/>
          <p:cNvSpPr/>
          <p:nvPr/>
        </p:nvSpPr>
        <p:spPr>
          <a:xfrm>
            <a:off x="11261458" y="3162151"/>
            <a:ext cx="1074447" cy="159023"/>
          </a:xfrm>
          <a:custGeom>
            <a:avLst/>
            <a:gdLst/>
            <a:ahLst/>
            <a:cxnLst/>
            <a:rect l="l" t="t" r="r" b="b"/>
            <a:pathLst>
              <a:path w="1074447" h="159023">
                <a:moveTo>
                  <a:pt x="1071814" y="58988"/>
                </a:moveTo>
                <a:cubicBezTo>
                  <a:pt x="1069190" y="54059"/>
                  <a:pt x="1063063" y="52203"/>
                  <a:pt x="1058135" y="54837"/>
                </a:cubicBezTo>
                <a:cubicBezTo>
                  <a:pt x="1048369" y="60049"/>
                  <a:pt x="1038713" y="65462"/>
                  <a:pt x="1029377" y="70683"/>
                </a:cubicBezTo>
                <a:cubicBezTo>
                  <a:pt x="966832" y="105714"/>
                  <a:pt x="907743" y="138797"/>
                  <a:pt x="786439" y="138797"/>
                </a:cubicBezTo>
                <a:cubicBezTo>
                  <a:pt x="665135" y="138797"/>
                  <a:pt x="606046" y="105714"/>
                  <a:pt x="543492" y="70683"/>
                </a:cubicBezTo>
                <a:cubicBezTo>
                  <a:pt x="481422" y="35936"/>
                  <a:pt x="417250" y="0"/>
                  <a:pt x="290669" y="0"/>
                </a:cubicBezTo>
                <a:cubicBezTo>
                  <a:pt x="164089" y="0"/>
                  <a:pt x="99907" y="35936"/>
                  <a:pt x="37838" y="70683"/>
                </a:cubicBezTo>
                <a:cubicBezTo>
                  <a:pt x="27743" y="76334"/>
                  <a:pt x="17310" y="82177"/>
                  <a:pt x="6821" y="87737"/>
                </a:cubicBezTo>
                <a:cubicBezTo>
                  <a:pt x="1884" y="90352"/>
                  <a:pt x="0" y="96469"/>
                  <a:pt x="2615" y="101407"/>
                </a:cubicBezTo>
                <a:cubicBezTo>
                  <a:pt x="5230" y="106345"/>
                  <a:pt x="11357" y="108238"/>
                  <a:pt x="16285" y="105613"/>
                </a:cubicBezTo>
                <a:cubicBezTo>
                  <a:pt x="26993" y="99944"/>
                  <a:pt x="37527" y="94046"/>
                  <a:pt x="47723" y="88340"/>
                </a:cubicBezTo>
                <a:cubicBezTo>
                  <a:pt x="110277" y="53310"/>
                  <a:pt x="169365" y="20227"/>
                  <a:pt x="290669" y="20227"/>
                </a:cubicBezTo>
                <a:cubicBezTo>
                  <a:pt x="411974" y="20227"/>
                  <a:pt x="471053" y="53310"/>
                  <a:pt x="533607" y="88340"/>
                </a:cubicBezTo>
                <a:cubicBezTo>
                  <a:pt x="595677" y="123087"/>
                  <a:pt x="659849" y="159023"/>
                  <a:pt x="786439" y="159023"/>
                </a:cubicBezTo>
                <a:cubicBezTo>
                  <a:pt x="913019" y="159023"/>
                  <a:pt x="977192" y="123087"/>
                  <a:pt x="1039261" y="88340"/>
                </a:cubicBezTo>
                <a:cubicBezTo>
                  <a:pt x="1048515" y="83165"/>
                  <a:pt x="1058080" y="77797"/>
                  <a:pt x="1067663" y="72677"/>
                </a:cubicBezTo>
                <a:cubicBezTo>
                  <a:pt x="1072591" y="70043"/>
                  <a:pt x="1074447" y="63917"/>
                  <a:pt x="1071814" y="58988"/>
                </a:cubicBezTo>
              </a:path>
            </a:pathLst>
          </a:custGeom>
          <a:solidFill>
            <a:srgbClr val="2B0000"/>
          </a:solidFill>
          <a:ln/>
        </p:spPr>
      </p:sp>
      <p:sp>
        <p:nvSpPr>
          <p:cNvPr id="6" name="Shape 4"/>
          <p:cNvSpPr/>
          <p:nvPr/>
        </p:nvSpPr>
        <p:spPr>
          <a:xfrm>
            <a:off x="11261458" y="3369372"/>
            <a:ext cx="1074447" cy="159023"/>
          </a:xfrm>
          <a:custGeom>
            <a:avLst/>
            <a:gdLst/>
            <a:ahLst/>
            <a:cxnLst/>
            <a:rect l="l" t="t" r="r" b="b"/>
            <a:pathLst>
              <a:path w="1074447" h="159023">
                <a:moveTo>
                  <a:pt x="1071814" y="58979"/>
                </a:moveTo>
                <a:cubicBezTo>
                  <a:pt x="1069190" y="54059"/>
                  <a:pt x="1063063" y="52194"/>
                  <a:pt x="1058135" y="54837"/>
                </a:cubicBezTo>
                <a:cubicBezTo>
                  <a:pt x="1048369" y="60049"/>
                  <a:pt x="1038713" y="65453"/>
                  <a:pt x="1029377" y="70683"/>
                </a:cubicBezTo>
                <a:cubicBezTo>
                  <a:pt x="966832" y="105705"/>
                  <a:pt x="907743" y="138788"/>
                  <a:pt x="786439" y="138788"/>
                </a:cubicBezTo>
                <a:cubicBezTo>
                  <a:pt x="665135" y="138788"/>
                  <a:pt x="606046" y="105714"/>
                  <a:pt x="543492" y="70683"/>
                </a:cubicBezTo>
                <a:cubicBezTo>
                  <a:pt x="481422" y="35927"/>
                  <a:pt x="417250" y="0"/>
                  <a:pt x="290669" y="0"/>
                </a:cubicBezTo>
                <a:cubicBezTo>
                  <a:pt x="164080" y="0"/>
                  <a:pt x="99898" y="35927"/>
                  <a:pt x="37829" y="70683"/>
                </a:cubicBezTo>
                <a:cubicBezTo>
                  <a:pt x="27743" y="76334"/>
                  <a:pt x="17310" y="82177"/>
                  <a:pt x="6821" y="87737"/>
                </a:cubicBezTo>
                <a:cubicBezTo>
                  <a:pt x="1884" y="90352"/>
                  <a:pt x="0" y="96469"/>
                  <a:pt x="2615" y="101407"/>
                </a:cubicBezTo>
                <a:cubicBezTo>
                  <a:pt x="5230" y="106345"/>
                  <a:pt x="11357" y="108238"/>
                  <a:pt x="16285" y="105613"/>
                </a:cubicBezTo>
                <a:cubicBezTo>
                  <a:pt x="26993" y="99944"/>
                  <a:pt x="37527" y="94037"/>
                  <a:pt x="47723" y="88340"/>
                </a:cubicBezTo>
                <a:cubicBezTo>
                  <a:pt x="110267" y="53310"/>
                  <a:pt x="169356" y="20227"/>
                  <a:pt x="290669" y="20227"/>
                </a:cubicBezTo>
                <a:cubicBezTo>
                  <a:pt x="411974" y="20227"/>
                  <a:pt x="471053" y="53310"/>
                  <a:pt x="533607" y="88340"/>
                </a:cubicBezTo>
                <a:cubicBezTo>
                  <a:pt x="595677" y="123087"/>
                  <a:pt x="659849" y="159023"/>
                  <a:pt x="786439" y="159023"/>
                </a:cubicBezTo>
                <a:cubicBezTo>
                  <a:pt x="913019" y="159023"/>
                  <a:pt x="977192" y="123087"/>
                  <a:pt x="1039261" y="88340"/>
                </a:cubicBezTo>
                <a:cubicBezTo>
                  <a:pt x="1048515" y="83156"/>
                  <a:pt x="1058080" y="77797"/>
                  <a:pt x="1067663" y="72677"/>
                </a:cubicBezTo>
                <a:cubicBezTo>
                  <a:pt x="1072591" y="70034"/>
                  <a:pt x="1074447" y="63907"/>
                  <a:pt x="1071814" y="58979"/>
                </a:cubicBezTo>
              </a:path>
            </a:pathLst>
          </a:custGeom>
          <a:solidFill>
            <a:srgbClr val="2B0000"/>
          </a:solidFill>
          <a:ln/>
        </p:spPr>
      </p:sp>
      <p:sp>
        <p:nvSpPr>
          <p:cNvPr id="7" name="Shape 5"/>
          <p:cNvSpPr/>
          <p:nvPr/>
        </p:nvSpPr>
        <p:spPr>
          <a:xfrm>
            <a:off x="11261458" y="3576584"/>
            <a:ext cx="1074447" cy="159032"/>
          </a:xfrm>
          <a:custGeom>
            <a:avLst/>
            <a:gdLst/>
            <a:ahLst/>
            <a:cxnLst/>
            <a:rect l="l" t="t" r="r" b="b"/>
            <a:pathLst>
              <a:path w="1074447" h="159032">
                <a:moveTo>
                  <a:pt x="1071814" y="58988"/>
                </a:moveTo>
                <a:cubicBezTo>
                  <a:pt x="1069190" y="54059"/>
                  <a:pt x="1063063" y="52203"/>
                  <a:pt x="1058135" y="54837"/>
                </a:cubicBezTo>
                <a:cubicBezTo>
                  <a:pt x="1048360" y="60058"/>
                  <a:pt x="1038713" y="65462"/>
                  <a:pt x="1029377" y="70683"/>
                </a:cubicBezTo>
                <a:cubicBezTo>
                  <a:pt x="966823" y="105714"/>
                  <a:pt x="907743" y="138797"/>
                  <a:pt x="786439" y="138797"/>
                </a:cubicBezTo>
                <a:cubicBezTo>
                  <a:pt x="665135" y="138797"/>
                  <a:pt x="606046" y="105714"/>
                  <a:pt x="543492" y="70683"/>
                </a:cubicBezTo>
                <a:cubicBezTo>
                  <a:pt x="481422" y="35936"/>
                  <a:pt x="417250" y="0"/>
                  <a:pt x="290669" y="0"/>
                </a:cubicBezTo>
                <a:cubicBezTo>
                  <a:pt x="164080" y="0"/>
                  <a:pt x="99898" y="35936"/>
                  <a:pt x="37829" y="70692"/>
                </a:cubicBezTo>
                <a:cubicBezTo>
                  <a:pt x="27743" y="76343"/>
                  <a:pt x="17310" y="82177"/>
                  <a:pt x="6821" y="87737"/>
                </a:cubicBezTo>
                <a:cubicBezTo>
                  <a:pt x="1884" y="90352"/>
                  <a:pt x="0" y="96478"/>
                  <a:pt x="2615" y="101416"/>
                </a:cubicBezTo>
                <a:cubicBezTo>
                  <a:pt x="5230" y="106345"/>
                  <a:pt x="11357" y="108238"/>
                  <a:pt x="16285" y="105613"/>
                </a:cubicBezTo>
                <a:cubicBezTo>
                  <a:pt x="26993" y="99953"/>
                  <a:pt x="37527" y="94046"/>
                  <a:pt x="47723" y="88340"/>
                </a:cubicBezTo>
                <a:cubicBezTo>
                  <a:pt x="110267" y="53319"/>
                  <a:pt x="169356" y="20236"/>
                  <a:pt x="290669" y="20236"/>
                </a:cubicBezTo>
                <a:cubicBezTo>
                  <a:pt x="411974" y="20236"/>
                  <a:pt x="471053" y="53319"/>
                  <a:pt x="533607" y="88340"/>
                </a:cubicBezTo>
                <a:cubicBezTo>
                  <a:pt x="595677" y="123087"/>
                  <a:pt x="659849" y="159032"/>
                  <a:pt x="786439" y="159032"/>
                </a:cubicBezTo>
                <a:cubicBezTo>
                  <a:pt x="913019" y="159032"/>
                  <a:pt x="977192" y="123087"/>
                  <a:pt x="1039252" y="88340"/>
                </a:cubicBezTo>
                <a:cubicBezTo>
                  <a:pt x="1048506" y="83156"/>
                  <a:pt x="1058080" y="77797"/>
                  <a:pt x="1067663" y="72677"/>
                </a:cubicBezTo>
                <a:cubicBezTo>
                  <a:pt x="1072591" y="70043"/>
                  <a:pt x="1074447" y="63907"/>
                  <a:pt x="1071814" y="58988"/>
                </a:cubicBezTo>
              </a:path>
            </a:pathLst>
          </a:custGeom>
          <a:solidFill>
            <a:srgbClr val="2B0000"/>
          </a:solidFill>
          <a:ln/>
        </p:spPr>
      </p:sp>
      <p:sp>
        <p:nvSpPr>
          <p:cNvPr id="8" name="Shape 6"/>
          <p:cNvSpPr/>
          <p:nvPr/>
        </p:nvSpPr>
        <p:spPr>
          <a:xfrm>
            <a:off x="11261458" y="3783796"/>
            <a:ext cx="1074447" cy="159023"/>
          </a:xfrm>
          <a:custGeom>
            <a:avLst/>
            <a:gdLst/>
            <a:ahLst/>
            <a:cxnLst/>
            <a:rect l="l" t="t" r="r" b="b"/>
            <a:pathLst>
              <a:path w="1074447" h="159023">
                <a:moveTo>
                  <a:pt x="1067663" y="72677"/>
                </a:moveTo>
                <a:cubicBezTo>
                  <a:pt x="1072591" y="70043"/>
                  <a:pt x="1074447" y="63917"/>
                  <a:pt x="1071814" y="58988"/>
                </a:cubicBezTo>
                <a:cubicBezTo>
                  <a:pt x="1069190" y="54059"/>
                  <a:pt x="1063063" y="52194"/>
                  <a:pt x="1058135" y="54827"/>
                </a:cubicBezTo>
                <a:cubicBezTo>
                  <a:pt x="1048360" y="60049"/>
                  <a:pt x="1038713" y="65453"/>
                  <a:pt x="1029377" y="70683"/>
                </a:cubicBezTo>
                <a:cubicBezTo>
                  <a:pt x="966823" y="105705"/>
                  <a:pt x="907743" y="138797"/>
                  <a:pt x="786439" y="138797"/>
                </a:cubicBezTo>
                <a:cubicBezTo>
                  <a:pt x="665135" y="138797"/>
                  <a:pt x="606046" y="105705"/>
                  <a:pt x="543492" y="70683"/>
                </a:cubicBezTo>
                <a:cubicBezTo>
                  <a:pt x="481422" y="35936"/>
                  <a:pt x="417250" y="0"/>
                  <a:pt x="290669" y="0"/>
                </a:cubicBezTo>
                <a:cubicBezTo>
                  <a:pt x="164080" y="0"/>
                  <a:pt x="99898" y="35936"/>
                  <a:pt x="37829" y="70683"/>
                </a:cubicBezTo>
                <a:cubicBezTo>
                  <a:pt x="27743" y="76334"/>
                  <a:pt x="17310" y="82177"/>
                  <a:pt x="6821" y="87737"/>
                </a:cubicBezTo>
                <a:cubicBezTo>
                  <a:pt x="1884" y="90352"/>
                  <a:pt x="0" y="96478"/>
                  <a:pt x="2615" y="101407"/>
                </a:cubicBezTo>
                <a:cubicBezTo>
                  <a:pt x="5230" y="106345"/>
                  <a:pt x="11357" y="108238"/>
                  <a:pt x="16285" y="105613"/>
                </a:cubicBezTo>
                <a:cubicBezTo>
                  <a:pt x="26993" y="99944"/>
                  <a:pt x="37527" y="94037"/>
                  <a:pt x="47723" y="88340"/>
                </a:cubicBezTo>
                <a:cubicBezTo>
                  <a:pt x="110267" y="53319"/>
                  <a:pt x="169356" y="20227"/>
                  <a:pt x="290669" y="20227"/>
                </a:cubicBezTo>
                <a:cubicBezTo>
                  <a:pt x="411974" y="20227"/>
                  <a:pt x="471053" y="53310"/>
                  <a:pt x="533607" y="88340"/>
                </a:cubicBezTo>
                <a:cubicBezTo>
                  <a:pt x="595677" y="123087"/>
                  <a:pt x="659849" y="159023"/>
                  <a:pt x="786439" y="159023"/>
                </a:cubicBezTo>
                <a:cubicBezTo>
                  <a:pt x="913019" y="159023"/>
                  <a:pt x="977192" y="123087"/>
                  <a:pt x="1039252" y="88340"/>
                </a:cubicBezTo>
                <a:cubicBezTo>
                  <a:pt x="1048506" y="83156"/>
                  <a:pt x="1058080" y="77797"/>
                  <a:pt x="1067663" y="72677"/>
                </a:cubicBezTo>
              </a:path>
            </a:pathLst>
          </a:custGeom>
          <a:solidFill>
            <a:srgbClr val="2B0000"/>
          </a:solidFill>
          <a:ln/>
        </p:spPr>
      </p:sp>
      <p:sp>
        <p:nvSpPr>
          <p:cNvPr id="9" name="Shape 7"/>
          <p:cNvSpPr/>
          <p:nvPr/>
        </p:nvSpPr>
        <p:spPr>
          <a:xfrm>
            <a:off x="11365206" y="5709203"/>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11"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sp>
        <p:nvSpPr>
          <p:cNvPr id="10" name="Shape 8"/>
          <p:cNvSpPr/>
          <p:nvPr/>
        </p:nvSpPr>
        <p:spPr>
          <a:xfrm>
            <a:off x="544809" y="3493365"/>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2B0000"/>
          </a:solidFill>
          <a:ln/>
        </p:spPr>
      </p:sp>
      <p:pic>
        <p:nvPicPr>
          <p:cNvPr id="11" name="Image 0" descr="D:\Projects\20. fintechthon\deck\out\template_assets\p1_x24.png">    </p:cNvPr>
          <p:cNvPicPr>
            <a:picLocks noChangeAspect="1"/>
          </p:cNvPicPr>
          <p:nvPr/>
        </p:nvPicPr>
        <p:blipFill>
          <a:blip r:embed="rId1"/>
          <a:stretch>
            <a:fillRect/>
          </a:stretch>
        </p:blipFill>
        <p:spPr>
          <a:xfrm>
            <a:off x="4487194" y="278171"/>
            <a:ext cx="3219450" cy="1606550"/>
          </a:xfrm>
          <a:prstGeom prst="rect">
            <a:avLst/>
          </a:prstGeom>
        </p:spPr>
      </p:pic>
      <p:pic>
        <p:nvPicPr>
          <p:cNvPr id="12" name="Image 1" descr="D:\Projects\20. fintechthon\deck\out\template_assets\p1_x25.png">    </p:cNvPr>
          <p:cNvPicPr>
            <a:picLocks noChangeAspect="1"/>
          </p:cNvPicPr>
          <p:nvPr/>
        </p:nvPicPr>
        <p:blipFill>
          <a:blip r:embed="rId2"/>
          <a:stretch>
            <a:fillRect/>
          </a:stretch>
        </p:blipFill>
        <p:spPr>
          <a:xfrm>
            <a:off x="0" y="4323842"/>
            <a:ext cx="12192000" cy="2534158"/>
          </a:xfrm>
          <a:prstGeom prst="rect">
            <a:avLst/>
          </a:prstGeom>
        </p:spPr>
      </p:pic>
      <p:pic>
        <p:nvPicPr>
          <p:cNvPr id="13" name="Image 2" descr="D:\Projects\20. fintechthon\deck\out\template_assets\p1_x26.png">    </p:cNvPr>
          <p:cNvPicPr>
            <a:picLocks noChangeAspect="1"/>
          </p:cNvPicPr>
          <p:nvPr/>
        </p:nvPicPr>
        <p:blipFill>
          <a:blip r:embed="rId3"/>
          <a:stretch>
            <a:fillRect/>
          </a:stretch>
        </p:blipFill>
        <p:spPr>
          <a:xfrm>
            <a:off x="544734" y="278171"/>
            <a:ext cx="901700" cy="901700"/>
          </a:xfrm>
          <a:prstGeom prst="rect">
            <a:avLst/>
          </a:prstGeom>
        </p:spPr>
      </p:pic>
      <p:sp>
        <p:nvSpPr>
          <p:cNvPr id="14" name="Text 9"/>
          <p:cNvSpPr txBox="1"/>
          <p:nvPr/>
        </p:nvSpPr>
        <p:spPr>
          <a:xfrm>
            <a:off x="2784955" y="2291004"/>
            <a:ext cx="6494621" cy="875744"/>
          </a:xfrm>
          <a:prstGeom prst="rect">
            <a:avLst/>
          </a:prstGeom>
          <a:noFill/>
          <a:ln/>
        </p:spPr>
        <p:txBody>
          <a:bodyPr wrap="none" lIns="0" tIns="0" rIns="0" bIns="0" rtlCol="0" anchor="t"/>
          <a:lstStyle/>
          <a:p>
            <a:pPr algn="ctr" indent="0" marL="0">
              <a:buNone/>
            </a:pPr>
            <a:r>
              <a:rPr lang="en-US" sz="6968" b="1" spc="-376" kern="0" dirty="0">
                <a:solidFill>
                  <a:srgbClr val="FF8F43"/>
                </a:solidFill>
                <a:latin typeface="League Spartan" pitchFamily="34" charset="0"/>
                <a:ea typeface="League Spartan" pitchFamily="34" charset="-122"/>
                <a:cs typeface="League Spartan" pitchFamily="34" charset="-120"/>
              </a:rPr>
              <a:t>FINTECHSTICO</a:t>
            </a:r>
            <a:endParaRPr lang="en-US" sz="6968" dirty="0"/>
          </a:p>
        </p:txBody>
      </p:sp>
      <p:sp>
        <p:nvSpPr>
          <p:cNvPr id="15" name="Text 10"/>
          <p:cNvSpPr txBox="1"/>
          <p:nvPr/>
        </p:nvSpPr>
        <p:spPr>
          <a:xfrm>
            <a:off x="5275208" y="1783264"/>
            <a:ext cx="1697067" cy="303371"/>
          </a:xfrm>
          <a:prstGeom prst="rect">
            <a:avLst/>
          </a:prstGeom>
          <a:noFill/>
          <a:ln/>
        </p:spPr>
        <p:txBody>
          <a:bodyPr wrap="none" lIns="0" tIns="0" rIns="0" bIns="0" rtlCol="0" anchor="t"/>
          <a:lstStyle/>
          <a:p>
            <a:pPr algn="ctr" indent="0" marL="0">
              <a:buNone/>
            </a:pPr>
            <a:r>
              <a:rPr lang="en-US" sz="2414" b="1" spc="-130" kern="0" dirty="0">
                <a:solidFill>
                  <a:srgbClr val="2B0000"/>
                </a:solidFill>
                <a:latin typeface="League Spartan" pitchFamily="34" charset="0"/>
                <a:ea typeface="League Spartan" pitchFamily="34" charset="-122"/>
                <a:cs typeface="League Spartan" pitchFamily="34" charset="-120"/>
              </a:rPr>
              <a:t>PRESENTS</a:t>
            </a:r>
            <a:endParaRPr lang="en-US" sz="2414" dirty="0"/>
          </a:p>
        </p:txBody>
      </p:sp>
      <p:sp>
        <p:nvSpPr>
          <p:cNvPr id="16" name="Text 11"/>
          <p:cNvSpPr txBox="1"/>
          <p:nvPr/>
        </p:nvSpPr>
        <p:spPr>
          <a:xfrm>
            <a:off x="4159366" y="3308158"/>
            <a:ext cx="3746010" cy="298456"/>
          </a:xfrm>
          <a:prstGeom prst="rect">
            <a:avLst/>
          </a:prstGeom>
          <a:noFill/>
          <a:ln/>
        </p:spPr>
        <p:txBody>
          <a:bodyPr wrap="none" lIns="0" tIns="0" rIns="0" bIns="0" rtlCol="0" anchor="t"/>
          <a:lstStyle/>
          <a:p>
            <a:pPr algn="ctr" indent="0" marL="0">
              <a:buNone/>
            </a:pPr>
            <a:r>
              <a:rPr lang="en-US" sz="1808" dirty="0">
                <a:solidFill>
                  <a:srgbClr val="2B0000"/>
                </a:solidFill>
                <a:latin typeface="Inter" pitchFamily="34" charset="0"/>
                <a:ea typeface="Inter" pitchFamily="34" charset="-122"/>
                <a:cs typeface="Inter" pitchFamily="34" charset="-120"/>
              </a:rPr>
              <a:t>THE FINTECH HACKATHON</a:t>
            </a:r>
            <a:endParaRPr lang="en-US" sz="180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2222696" y="1435398"/>
            <a:ext cx="7746614" cy="15874"/>
          </a:xfrm>
          <a:custGeom>
            <a:avLst/>
            <a:gdLst/>
            <a:ahLst/>
            <a:cxnLst/>
            <a:rect l="l" t="t" r="r" b="b"/>
            <a:pathLst>
              <a:path w="7746614" h="15874">
                <a:moveTo>
                  <a:pt x="0" y="15874"/>
                </a:moveTo>
                <a:lnTo>
                  <a:pt x="7746614" y="0"/>
                </a:lnTo>
              </a:path>
            </a:pathLst>
          </a:custGeom>
          <a:ln w="6350">
            <a:solidFill>
              <a:srgbClr val="2B0000"/>
            </a:solidFill>
            <a:prstDash val="solid"/>
          </a:ln>
        </p:spPr>
      </p:sp>
      <p:sp>
        <p:nvSpPr>
          <p:cNvPr id="3" name="Shape 1"/>
          <p:cNvSpPr/>
          <p:nvPr/>
        </p:nvSpPr>
        <p:spPr>
          <a:xfrm>
            <a:off x="10673873" y="5689433"/>
            <a:ext cx="2192009" cy="2084832"/>
          </a:xfrm>
          <a:custGeom>
            <a:avLst/>
            <a:gdLst/>
            <a:ahLst/>
            <a:cxnLst/>
            <a:rect l="l" t="t" r="r" b="b"/>
            <a:pathLst>
              <a:path w="2192009" h="2084832">
                <a:moveTo>
                  <a:pt x="5925" y="642960"/>
                </a:moveTo>
                <a:lnTo>
                  <a:pt x="513564" y="642960"/>
                </a:lnTo>
                <a:lnTo>
                  <a:pt x="548155" y="637236"/>
                </a:lnTo>
                <a:cubicBezTo>
                  <a:pt x="593830" y="629711"/>
                  <a:pt x="629665" y="593885"/>
                  <a:pt x="637236" y="548155"/>
                </a:cubicBezTo>
                <a:lnTo>
                  <a:pt x="642960" y="513564"/>
                </a:lnTo>
                <a:lnTo>
                  <a:pt x="642960" y="5925"/>
                </a:lnTo>
                <a:cubicBezTo>
                  <a:pt x="642960" y="2679"/>
                  <a:pt x="645594" y="0"/>
                  <a:pt x="648895" y="0"/>
                </a:cubicBezTo>
                <a:cubicBezTo>
                  <a:pt x="652187" y="0"/>
                  <a:pt x="654820" y="2633"/>
                  <a:pt x="654820" y="5925"/>
                </a:cubicBezTo>
                <a:lnTo>
                  <a:pt x="654820" y="513564"/>
                </a:lnTo>
                <a:lnTo>
                  <a:pt x="660544" y="548155"/>
                </a:lnTo>
                <a:cubicBezTo>
                  <a:pt x="664513" y="572186"/>
                  <a:pt x="676318" y="593418"/>
                  <a:pt x="693225" y="609301"/>
                </a:cubicBezTo>
                <a:cubicBezTo>
                  <a:pt x="697038" y="605379"/>
                  <a:pt x="700860" y="601410"/>
                  <a:pt x="704719" y="597496"/>
                </a:cubicBezTo>
                <a:cubicBezTo>
                  <a:pt x="704929" y="597286"/>
                  <a:pt x="705185" y="597085"/>
                  <a:pt x="705396" y="596820"/>
                </a:cubicBezTo>
                <a:cubicBezTo>
                  <a:pt x="705597" y="596619"/>
                  <a:pt x="705807" y="596363"/>
                  <a:pt x="706063" y="596152"/>
                </a:cubicBezTo>
                <a:cubicBezTo>
                  <a:pt x="706273" y="595951"/>
                  <a:pt x="706529" y="595741"/>
                  <a:pt x="706731" y="595485"/>
                </a:cubicBezTo>
                <a:cubicBezTo>
                  <a:pt x="706941" y="595274"/>
                  <a:pt x="707142" y="595018"/>
                  <a:pt x="707407" y="594817"/>
                </a:cubicBezTo>
                <a:cubicBezTo>
                  <a:pt x="708486" y="593729"/>
                  <a:pt x="709620" y="592650"/>
                  <a:pt x="710699" y="591562"/>
                </a:cubicBezTo>
                <a:cubicBezTo>
                  <a:pt x="711787" y="590428"/>
                  <a:pt x="712866" y="589349"/>
                  <a:pt x="714000" y="588215"/>
                </a:cubicBezTo>
                <a:cubicBezTo>
                  <a:pt x="793242" y="509028"/>
                  <a:pt x="878766" y="442835"/>
                  <a:pt x="966658" y="390302"/>
                </a:cubicBezTo>
                <a:cubicBezTo>
                  <a:pt x="1079202" y="321942"/>
                  <a:pt x="1195861" y="274622"/>
                  <a:pt x="1309384" y="249668"/>
                </a:cubicBezTo>
                <a:cubicBezTo>
                  <a:pt x="1382792" y="232504"/>
                  <a:pt x="1455588" y="223735"/>
                  <a:pt x="1526216" y="223690"/>
                </a:cubicBezTo>
                <a:cubicBezTo>
                  <a:pt x="1711647" y="223690"/>
                  <a:pt x="1882027" y="283848"/>
                  <a:pt x="2006989" y="408810"/>
                </a:cubicBezTo>
                <a:cubicBezTo>
                  <a:pt x="2131850" y="533882"/>
                  <a:pt x="2192009" y="704262"/>
                  <a:pt x="2192009" y="889693"/>
                </a:cubicBezTo>
                <a:cubicBezTo>
                  <a:pt x="2192009" y="1161837"/>
                  <a:pt x="2062722" y="1466670"/>
                  <a:pt x="1818312" y="1711135"/>
                </a:cubicBezTo>
                <a:cubicBezTo>
                  <a:pt x="1573847" y="1955545"/>
                  <a:pt x="1269013" y="2084832"/>
                  <a:pt x="996870" y="2084832"/>
                </a:cubicBezTo>
                <a:cubicBezTo>
                  <a:pt x="811439" y="2084832"/>
                  <a:pt x="641058" y="2024674"/>
                  <a:pt x="516087" y="1899712"/>
                </a:cubicBezTo>
                <a:cubicBezTo>
                  <a:pt x="391125" y="1774750"/>
                  <a:pt x="330967" y="1604370"/>
                  <a:pt x="330967" y="1418929"/>
                </a:cubicBezTo>
                <a:cubicBezTo>
                  <a:pt x="330967" y="1182923"/>
                  <a:pt x="428250" y="922374"/>
                  <a:pt x="613526" y="697870"/>
                </a:cubicBezTo>
                <a:cubicBezTo>
                  <a:pt x="597286" y="678430"/>
                  <a:pt x="574344" y="664769"/>
                  <a:pt x="548155" y="660444"/>
                </a:cubicBezTo>
                <a:lnTo>
                  <a:pt x="513564" y="654720"/>
                </a:lnTo>
                <a:lnTo>
                  <a:pt x="5925" y="654720"/>
                </a:lnTo>
                <a:cubicBezTo>
                  <a:pt x="2679" y="654720"/>
                  <a:pt x="0" y="652086"/>
                  <a:pt x="0" y="648785"/>
                </a:cubicBezTo>
                <a:cubicBezTo>
                  <a:pt x="0" y="645493"/>
                  <a:pt x="2633" y="642860"/>
                  <a:pt x="5925" y="642860"/>
                </a:cubicBezTo>
                <a:lnTo>
                  <a:pt x="5925" y="642960"/>
                </a:lnTo>
                <a:moveTo>
                  <a:pt x="977329" y="398916"/>
                </a:moveTo>
                <a:cubicBezTo>
                  <a:pt x="972693" y="401696"/>
                  <a:pt x="968103" y="404531"/>
                  <a:pt x="963512" y="407365"/>
                </a:cubicBezTo>
                <a:cubicBezTo>
                  <a:pt x="960367" y="409276"/>
                  <a:pt x="957276" y="411178"/>
                  <a:pt x="954131" y="413144"/>
                </a:cubicBezTo>
                <a:cubicBezTo>
                  <a:pt x="871551" y="464954"/>
                  <a:pt x="791797" y="527901"/>
                  <a:pt x="717612" y="601465"/>
                </a:cubicBezTo>
                <a:cubicBezTo>
                  <a:pt x="712455" y="606668"/>
                  <a:pt x="707352" y="611825"/>
                  <a:pt x="702351" y="617083"/>
                </a:cubicBezTo>
                <a:cubicBezTo>
                  <a:pt x="708276" y="621518"/>
                  <a:pt x="714722" y="625331"/>
                  <a:pt x="721526" y="628531"/>
                </a:cubicBezTo>
                <a:cubicBezTo>
                  <a:pt x="725604" y="624352"/>
                  <a:pt x="729627" y="620174"/>
                  <a:pt x="733742" y="616050"/>
                </a:cubicBezTo>
                <a:cubicBezTo>
                  <a:pt x="929597" y="420258"/>
                  <a:pt x="1169316" y="314371"/>
                  <a:pt x="1374233" y="314261"/>
                </a:cubicBezTo>
                <a:cubicBezTo>
                  <a:pt x="1497083" y="314261"/>
                  <a:pt x="1607616" y="352519"/>
                  <a:pt x="1687781" y="432676"/>
                </a:cubicBezTo>
                <a:cubicBezTo>
                  <a:pt x="1767992" y="512896"/>
                  <a:pt x="1806242" y="623374"/>
                  <a:pt x="1806196" y="746224"/>
                </a:cubicBezTo>
                <a:cubicBezTo>
                  <a:pt x="1806141" y="951141"/>
                  <a:pt x="1700254" y="1190814"/>
                  <a:pt x="1504407" y="1386715"/>
                </a:cubicBezTo>
                <a:cubicBezTo>
                  <a:pt x="1308561" y="1582506"/>
                  <a:pt x="1068842" y="1688394"/>
                  <a:pt x="863916" y="1688449"/>
                </a:cubicBezTo>
                <a:cubicBezTo>
                  <a:pt x="741066" y="1688449"/>
                  <a:pt x="630589" y="1650199"/>
                  <a:pt x="550377" y="1570034"/>
                </a:cubicBezTo>
                <a:cubicBezTo>
                  <a:pt x="470157" y="1489814"/>
                  <a:pt x="431908" y="1379290"/>
                  <a:pt x="431963" y="1256486"/>
                </a:cubicBezTo>
                <a:cubicBezTo>
                  <a:pt x="431963" y="1090340"/>
                  <a:pt x="501658" y="901242"/>
                  <a:pt x="632445" y="731218"/>
                </a:cubicBezTo>
                <a:cubicBezTo>
                  <a:pt x="629711" y="723437"/>
                  <a:pt x="626108" y="716067"/>
                  <a:pt x="621774" y="709209"/>
                </a:cubicBezTo>
                <a:cubicBezTo>
                  <a:pt x="465366" y="905622"/>
                  <a:pt x="382265" y="1126422"/>
                  <a:pt x="382311" y="1318665"/>
                </a:cubicBezTo>
                <a:cubicBezTo>
                  <a:pt x="382311" y="1457544"/>
                  <a:pt x="425516" y="1581318"/>
                  <a:pt x="515264" y="1671130"/>
                </a:cubicBezTo>
                <a:cubicBezTo>
                  <a:pt x="605022" y="1760878"/>
                  <a:pt x="728795" y="1804029"/>
                  <a:pt x="867729" y="1804084"/>
                </a:cubicBezTo>
                <a:cubicBezTo>
                  <a:pt x="1097710" y="1804129"/>
                  <a:pt x="1368619" y="1685248"/>
                  <a:pt x="1589721" y="1464092"/>
                </a:cubicBezTo>
                <a:cubicBezTo>
                  <a:pt x="1810887" y="1242980"/>
                  <a:pt x="1929768" y="972071"/>
                  <a:pt x="1929713" y="742100"/>
                </a:cubicBezTo>
                <a:cubicBezTo>
                  <a:pt x="1929713" y="603221"/>
                  <a:pt x="1886508" y="479438"/>
                  <a:pt x="1796759" y="389635"/>
                </a:cubicBezTo>
                <a:cubicBezTo>
                  <a:pt x="1707011" y="299877"/>
                  <a:pt x="1583229" y="256736"/>
                  <a:pt x="1444295" y="256681"/>
                </a:cubicBezTo>
                <a:cubicBezTo>
                  <a:pt x="1337118" y="256681"/>
                  <a:pt x="1221017" y="282504"/>
                  <a:pt x="1105235" y="332467"/>
                </a:cubicBezTo>
                <a:cubicBezTo>
                  <a:pt x="1062240" y="351687"/>
                  <a:pt x="1019501" y="373862"/>
                  <a:pt x="977384" y="398962"/>
                </a:cubicBezTo>
                <a:lnTo>
                  <a:pt x="977329" y="398916"/>
                </a:lnTo>
                <a:moveTo>
                  <a:pt x="733385" y="633268"/>
                </a:moveTo>
                <a:cubicBezTo>
                  <a:pt x="738588" y="634969"/>
                  <a:pt x="744002" y="636313"/>
                  <a:pt x="749525" y="637236"/>
                </a:cubicBezTo>
                <a:lnTo>
                  <a:pt x="784116" y="642960"/>
                </a:lnTo>
                <a:lnTo>
                  <a:pt x="807315" y="642960"/>
                </a:lnTo>
                <a:cubicBezTo>
                  <a:pt x="957587" y="499080"/>
                  <a:pt x="1140239" y="422371"/>
                  <a:pt x="1301136" y="422316"/>
                </a:cubicBezTo>
                <a:cubicBezTo>
                  <a:pt x="1408158" y="422316"/>
                  <a:pt x="1505697" y="456395"/>
                  <a:pt x="1576938" y="527636"/>
                </a:cubicBezTo>
                <a:cubicBezTo>
                  <a:pt x="1648188" y="598831"/>
                  <a:pt x="1682313" y="696425"/>
                  <a:pt x="1682258" y="803447"/>
                </a:cubicBezTo>
                <a:cubicBezTo>
                  <a:pt x="1682258" y="969447"/>
                  <a:pt x="1600547" y="1158591"/>
                  <a:pt x="1447696" y="1311496"/>
                </a:cubicBezTo>
                <a:cubicBezTo>
                  <a:pt x="1294790" y="1464348"/>
                  <a:pt x="1105647" y="1546013"/>
                  <a:pt x="939647" y="1546058"/>
                </a:cubicBezTo>
                <a:cubicBezTo>
                  <a:pt x="832625" y="1546058"/>
                  <a:pt x="735086" y="1511988"/>
                  <a:pt x="663845" y="1440738"/>
                </a:cubicBezTo>
                <a:cubicBezTo>
                  <a:pt x="592595" y="1369497"/>
                  <a:pt x="558470" y="1271958"/>
                  <a:pt x="558516" y="1164936"/>
                </a:cubicBezTo>
                <a:cubicBezTo>
                  <a:pt x="558516" y="1066209"/>
                  <a:pt x="587438" y="959343"/>
                  <a:pt x="642960" y="856802"/>
                </a:cubicBezTo>
                <a:lnTo>
                  <a:pt x="642960" y="784162"/>
                </a:lnTo>
                <a:lnTo>
                  <a:pt x="637236" y="749570"/>
                </a:lnTo>
                <a:cubicBezTo>
                  <a:pt x="637035" y="748235"/>
                  <a:pt x="636669" y="746946"/>
                  <a:pt x="636413" y="745657"/>
                </a:cubicBezTo>
                <a:cubicBezTo>
                  <a:pt x="510528" y="912068"/>
                  <a:pt x="443767" y="1095954"/>
                  <a:pt x="443813" y="1256486"/>
                </a:cubicBezTo>
                <a:cubicBezTo>
                  <a:pt x="443813" y="1376913"/>
                  <a:pt x="481194" y="1484044"/>
                  <a:pt x="558781" y="1561685"/>
                </a:cubicBezTo>
                <a:cubicBezTo>
                  <a:pt x="636413" y="1639263"/>
                  <a:pt x="743489" y="1676644"/>
                  <a:pt x="863971" y="1676644"/>
                </a:cubicBezTo>
                <a:cubicBezTo>
                  <a:pt x="1064819" y="1676690"/>
                  <a:pt x="1302160" y="1572302"/>
                  <a:pt x="1496050" y="1378357"/>
                </a:cubicBezTo>
                <a:cubicBezTo>
                  <a:pt x="1690049" y="1184422"/>
                  <a:pt x="1794391" y="947072"/>
                  <a:pt x="1794336" y="746278"/>
                </a:cubicBezTo>
                <a:cubicBezTo>
                  <a:pt x="1794336" y="625852"/>
                  <a:pt x="1756965" y="518721"/>
                  <a:pt x="1679378" y="441079"/>
                </a:cubicBezTo>
                <a:cubicBezTo>
                  <a:pt x="1601736" y="363492"/>
                  <a:pt x="1494660" y="326121"/>
                  <a:pt x="1374188" y="326121"/>
                </a:cubicBezTo>
                <a:cubicBezTo>
                  <a:pt x="1173331" y="326066"/>
                  <a:pt x="935989" y="430463"/>
                  <a:pt x="742100" y="624407"/>
                </a:cubicBezTo>
                <a:cubicBezTo>
                  <a:pt x="739155" y="627342"/>
                  <a:pt x="736275" y="630332"/>
                  <a:pt x="733385" y="633268"/>
                </a:cubicBezTo>
                <a:lnTo>
                  <a:pt x="733385" y="633268"/>
                </a:lnTo>
                <a:moveTo>
                  <a:pt x="648840" y="1297680"/>
                </a:moveTo>
                <a:cubicBezTo>
                  <a:pt x="645594" y="1297680"/>
                  <a:pt x="642915" y="1295056"/>
                  <a:pt x="642915" y="1291755"/>
                </a:cubicBezTo>
                <a:lnTo>
                  <a:pt x="642915" y="882423"/>
                </a:lnTo>
                <a:cubicBezTo>
                  <a:pt x="595073" y="977283"/>
                  <a:pt x="570275" y="1074923"/>
                  <a:pt x="570320" y="1164936"/>
                </a:cubicBezTo>
                <a:cubicBezTo>
                  <a:pt x="570320" y="1269480"/>
                  <a:pt x="603522" y="1363672"/>
                  <a:pt x="672194" y="1432389"/>
                </a:cubicBezTo>
                <a:cubicBezTo>
                  <a:pt x="740865" y="1501052"/>
                  <a:pt x="835048" y="1534199"/>
                  <a:pt x="939647" y="1534253"/>
                </a:cubicBezTo>
                <a:cubicBezTo>
                  <a:pt x="1101779" y="1534253"/>
                  <a:pt x="1288454" y="1454088"/>
                  <a:pt x="1439348" y="1303148"/>
                </a:cubicBezTo>
                <a:cubicBezTo>
                  <a:pt x="1590288" y="1152254"/>
                  <a:pt x="1670508" y="965579"/>
                  <a:pt x="1670453" y="803447"/>
                </a:cubicBezTo>
                <a:cubicBezTo>
                  <a:pt x="1670453" y="698894"/>
                  <a:pt x="1637261" y="604711"/>
                  <a:pt x="1568589" y="535994"/>
                </a:cubicBezTo>
                <a:cubicBezTo>
                  <a:pt x="1499918" y="467322"/>
                  <a:pt x="1405735" y="434175"/>
                  <a:pt x="1301136" y="434121"/>
                </a:cubicBezTo>
                <a:cubicBezTo>
                  <a:pt x="1147197" y="434121"/>
                  <a:pt x="971193" y="506450"/>
                  <a:pt x="824633" y="642915"/>
                </a:cubicBezTo>
                <a:lnTo>
                  <a:pt x="999503" y="642915"/>
                </a:lnTo>
                <a:cubicBezTo>
                  <a:pt x="1097088" y="580223"/>
                  <a:pt x="1201640" y="547278"/>
                  <a:pt x="1296391" y="547232"/>
                </a:cubicBezTo>
                <a:cubicBezTo>
                  <a:pt x="1382170" y="547232"/>
                  <a:pt x="1460178" y="574344"/>
                  <a:pt x="1516980" y="631210"/>
                </a:cubicBezTo>
                <a:cubicBezTo>
                  <a:pt x="1573792" y="688022"/>
                  <a:pt x="1600968" y="766020"/>
                  <a:pt x="1600913" y="851800"/>
                </a:cubicBezTo>
                <a:cubicBezTo>
                  <a:pt x="1600913" y="988265"/>
                  <a:pt x="1532653" y="1144929"/>
                  <a:pt x="1405579" y="1272058"/>
                </a:cubicBezTo>
                <a:cubicBezTo>
                  <a:pt x="1403156" y="1274482"/>
                  <a:pt x="1400678" y="1276850"/>
                  <a:pt x="1398255" y="1279227"/>
                </a:cubicBezTo>
                <a:cubicBezTo>
                  <a:pt x="1395886" y="1281696"/>
                  <a:pt x="1393518" y="1284174"/>
                  <a:pt x="1391040" y="1286597"/>
                </a:cubicBezTo>
                <a:cubicBezTo>
                  <a:pt x="1385837" y="1291800"/>
                  <a:pt x="1380579" y="1296857"/>
                  <a:pt x="1375267" y="1301804"/>
                </a:cubicBezTo>
                <a:cubicBezTo>
                  <a:pt x="1327480" y="1346865"/>
                  <a:pt x="1276850" y="1382847"/>
                  <a:pt x="1227518" y="1408213"/>
                </a:cubicBezTo>
                <a:cubicBezTo>
                  <a:pt x="1191015" y="1426976"/>
                  <a:pt x="1155290" y="1439970"/>
                  <a:pt x="1121987" y="1446563"/>
                </a:cubicBezTo>
                <a:cubicBezTo>
                  <a:pt x="1120798" y="1446819"/>
                  <a:pt x="1119674" y="1447129"/>
                  <a:pt x="1118485" y="1447385"/>
                </a:cubicBezTo>
                <a:cubicBezTo>
                  <a:pt x="1073112" y="1460589"/>
                  <a:pt x="1028215" y="1467338"/>
                  <a:pt x="985321" y="1467393"/>
                </a:cubicBezTo>
                <a:cubicBezTo>
                  <a:pt x="899541" y="1467393"/>
                  <a:pt x="821543" y="1440271"/>
                  <a:pt x="764731" y="1383460"/>
                </a:cubicBezTo>
                <a:cubicBezTo>
                  <a:pt x="707919" y="1326657"/>
                  <a:pt x="680753" y="1248650"/>
                  <a:pt x="680798" y="1162870"/>
                </a:cubicBezTo>
                <a:cubicBezTo>
                  <a:pt x="680798" y="1026414"/>
                  <a:pt x="749058" y="869741"/>
                  <a:pt x="876132" y="742612"/>
                </a:cubicBezTo>
                <a:cubicBezTo>
                  <a:pt x="909545" y="709209"/>
                  <a:pt x="945060" y="679875"/>
                  <a:pt x="981663" y="654765"/>
                </a:cubicBezTo>
                <a:lnTo>
                  <a:pt x="812106" y="654765"/>
                </a:lnTo>
                <a:cubicBezTo>
                  <a:pt x="808549" y="658222"/>
                  <a:pt x="804937" y="661678"/>
                  <a:pt x="801380" y="665235"/>
                </a:cubicBezTo>
                <a:cubicBezTo>
                  <a:pt x="740911" y="725650"/>
                  <a:pt x="691890" y="791843"/>
                  <a:pt x="654720" y="859847"/>
                </a:cubicBezTo>
                <a:lnTo>
                  <a:pt x="654720" y="1291755"/>
                </a:lnTo>
                <a:cubicBezTo>
                  <a:pt x="654720" y="1295001"/>
                  <a:pt x="652086" y="1297680"/>
                  <a:pt x="648785" y="1297680"/>
                </a:cubicBezTo>
                <a:lnTo>
                  <a:pt x="648840" y="1297680"/>
                </a:lnTo>
                <a:moveTo>
                  <a:pt x="1291755" y="654765"/>
                </a:moveTo>
                <a:lnTo>
                  <a:pt x="1003005" y="654765"/>
                </a:lnTo>
                <a:cubicBezTo>
                  <a:pt x="961812" y="681475"/>
                  <a:pt x="921862" y="713589"/>
                  <a:pt x="884536" y="750969"/>
                </a:cubicBezTo>
                <a:cubicBezTo>
                  <a:pt x="759373" y="876087"/>
                  <a:pt x="692612" y="1030328"/>
                  <a:pt x="692658" y="1162815"/>
                </a:cubicBezTo>
                <a:cubicBezTo>
                  <a:pt x="692658" y="1246181"/>
                  <a:pt x="718901" y="1320778"/>
                  <a:pt x="773134" y="1375056"/>
                </a:cubicBezTo>
                <a:cubicBezTo>
                  <a:pt x="827413" y="1429289"/>
                  <a:pt x="902010" y="1455533"/>
                  <a:pt x="985376" y="1455533"/>
                </a:cubicBezTo>
                <a:cubicBezTo>
                  <a:pt x="993057" y="1455533"/>
                  <a:pt x="1000793" y="1455277"/>
                  <a:pt x="1008574" y="1454865"/>
                </a:cubicBezTo>
                <a:cubicBezTo>
                  <a:pt x="945627" y="1450787"/>
                  <a:pt x="888916" y="1428467"/>
                  <a:pt x="846542" y="1386038"/>
                </a:cubicBezTo>
                <a:cubicBezTo>
                  <a:pt x="799423" y="1338919"/>
                  <a:pt x="777002" y="1274125"/>
                  <a:pt x="777002" y="1202719"/>
                </a:cubicBezTo>
                <a:cubicBezTo>
                  <a:pt x="777048" y="1086106"/>
                  <a:pt x="836283" y="951296"/>
                  <a:pt x="946038" y="841495"/>
                </a:cubicBezTo>
                <a:cubicBezTo>
                  <a:pt x="1055849" y="731739"/>
                  <a:pt x="1190659" y="672505"/>
                  <a:pt x="1307272" y="672450"/>
                </a:cubicBezTo>
                <a:cubicBezTo>
                  <a:pt x="1378723" y="672450"/>
                  <a:pt x="1443527" y="694880"/>
                  <a:pt x="1490591" y="741999"/>
                </a:cubicBezTo>
                <a:cubicBezTo>
                  <a:pt x="1537710" y="789118"/>
                  <a:pt x="1560131" y="853912"/>
                  <a:pt x="1560131" y="925318"/>
                </a:cubicBezTo>
                <a:cubicBezTo>
                  <a:pt x="1560131" y="925830"/>
                  <a:pt x="1560131" y="926397"/>
                  <a:pt x="1560131" y="926964"/>
                </a:cubicBezTo>
                <a:cubicBezTo>
                  <a:pt x="1560387" y="931710"/>
                  <a:pt x="1560542" y="936501"/>
                  <a:pt x="1560542" y="941347"/>
                </a:cubicBezTo>
                <a:cubicBezTo>
                  <a:pt x="1560542" y="965634"/>
                  <a:pt x="1557296" y="991200"/>
                  <a:pt x="1551115" y="1017444"/>
                </a:cubicBezTo>
                <a:cubicBezTo>
                  <a:pt x="1548015" y="1033162"/>
                  <a:pt x="1543434" y="1049402"/>
                  <a:pt x="1537554" y="1065998"/>
                </a:cubicBezTo>
                <a:cubicBezTo>
                  <a:pt x="1571579" y="993468"/>
                  <a:pt x="1589154" y="919749"/>
                  <a:pt x="1589108" y="851754"/>
                </a:cubicBezTo>
                <a:cubicBezTo>
                  <a:pt x="1589108" y="768389"/>
                  <a:pt x="1562865" y="693792"/>
                  <a:pt x="1508632" y="639513"/>
                </a:cubicBezTo>
                <a:cubicBezTo>
                  <a:pt x="1454344" y="585271"/>
                  <a:pt x="1379747" y="559037"/>
                  <a:pt x="1296391" y="559037"/>
                </a:cubicBezTo>
                <a:cubicBezTo>
                  <a:pt x="1209422" y="559037"/>
                  <a:pt x="1113117" y="587749"/>
                  <a:pt x="1021824" y="642860"/>
                </a:cubicBezTo>
                <a:lnTo>
                  <a:pt x="1291755" y="642860"/>
                </a:lnTo>
                <a:cubicBezTo>
                  <a:pt x="1295001" y="642860"/>
                  <a:pt x="1297680" y="645493"/>
                  <a:pt x="1297680" y="648785"/>
                </a:cubicBezTo>
                <a:cubicBezTo>
                  <a:pt x="1297680" y="652086"/>
                  <a:pt x="1295046" y="654720"/>
                  <a:pt x="1291755" y="654720"/>
                </a:cubicBezTo>
                <a:lnTo>
                  <a:pt x="1291755" y="654765"/>
                </a:lnTo>
                <a:moveTo>
                  <a:pt x="788853" y="1202719"/>
                </a:moveTo>
                <a:cubicBezTo>
                  <a:pt x="788853" y="1271748"/>
                  <a:pt x="810405" y="1333149"/>
                  <a:pt x="854946" y="1377690"/>
                </a:cubicBezTo>
                <a:cubicBezTo>
                  <a:pt x="878921" y="1401665"/>
                  <a:pt x="907789" y="1418884"/>
                  <a:pt x="940058" y="1429756"/>
                </a:cubicBezTo>
                <a:cubicBezTo>
                  <a:pt x="928153" y="1422797"/>
                  <a:pt x="917116" y="1414394"/>
                  <a:pt x="907222" y="1404500"/>
                </a:cubicBezTo>
                <a:cubicBezTo>
                  <a:pt x="872219" y="1369497"/>
                  <a:pt x="855723" y="1320723"/>
                  <a:pt x="855723" y="1265822"/>
                </a:cubicBezTo>
                <a:cubicBezTo>
                  <a:pt x="855723" y="1212778"/>
                  <a:pt x="870929" y="1153698"/>
                  <a:pt x="899696" y="1094253"/>
                </a:cubicBezTo>
                <a:cubicBezTo>
                  <a:pt x="928463" y="1034817"/>
                  <a:pt x="970736" y="975016"/>
                  <a:pt x="1025170" y="920627"/>
                </a:cubicBezTo>
                <a:cubicBezTo>
                  <a:pt x="1079614" y="866184"/>
                  <a:pt x="1139416" y="823911"/>
                  <a:pt x="1198806" y="795144"/>
                </a:cubicBezTo>
                <a:cubicBezTo>
                  <a:pt x="1258242" y="766432"/>
                  <a:pt x="1317266" y="751170"/>
                  <a:pt x="1370366" y="751170"/>
                </a:cubicBezTo>
                <a:cubicBezTo>
                  <a:pt x="1425321" y="751170"/>
                  <a:pt x="1474040" y="767621"/>
                  <a:pt x="1509043" y="802669"/>
                </a:cubicBezTo>
                <a:cubicBezTo>
                  <a:pt x="1518946" y="812572"/>
                  <a:pt x="1527295" y="823600"/>
                  <a:pt x="1534308" y="835515"/>
                </a:cubicBezTo>
                <a:cubicBezTo>
                  <a:pt x="1523427" y="803236"/>
                  <a:pt x="1506209" y="774369"/>
                  <a:pt x="1482233" y="750402"/>
                </a:cubicBezTo>
                <a:cubicBezTo>
                  <a:pt x="1437693" y="705853"/>
                  <a:pt x="1376300" y="684355"/>
                  <a:pt x="1307272" y="684310"/>
                </a:cubicBezTo>
                <a:cubicBezTo>
                  <a:pt x="1194682" y="684310"/>
                  <a:pt x="1062295" y="741999"/>
                  <a:pt x="954442" y="849898"/>
                </a:cubicBezTo>
                <a:cubicBezTo>
                  <a:pt x="846542" y="957743"/>
                  <a:pt x="788807" y="1090184"/>
                  <a:pt x="788853" y="1202719"/>
                </a:cubicBezTo>
                <a:lnTo>
                  <a:pt x="788853" y="1202719"/>
                </a:lnTo>
                <a:moveTo>
                  <a:pt x="910367" y="1099465"/>
                </a:moveTo>
                <a:cubicBezTo>
                  <a:pt x="882222" y="1157612"/>
                  <a:pt x="867574" y="1215046"/>
                  <a:pt x="867574" y="1265877"/>
                </a:cubicBezTo>
                <a:cubicBezTo>
                  <a:pt x="867574" y="1318556"/>
                  <a:pt x="883201" y="1363818"/>
                  <a:pt x="915570" y="1396197"/>
                </a:cubicBezTo>
                <a:cubicBezTo>
                  <a:pt x="942326" y="1422953"/>
                  <a:pt x="977896" y="1438214"/>
                  <a:pt x="1019145" y="1442749"/>
                </a:cubicBezTo>
                <a:cubicBezTo>
                  <a:pt x="1003161" y="1436980"/>
                  <a:pt x="988933" y="1428265"/>
                  <a:pt x="977128" y="1416460"/>
                </a:cubicBezTo>
                <a:cubicBezTo>
                  <a:pt x="953052" y="1392384"/>
                  <a:pt x="941859" y="1358515"/>
                  <a:pt x="941914" y="1319644"/>
                </a:cubicBezTo>
                <a:cubicBezTo>
                  <a:pt x="941914" y="1273860"/>
                  <a:pt x="957176" y="1220815"/>
                  <a:pt x="985321" y="1166015"/>
                </a:cubicBezTo>
                <a:cubicBezTo>
                  <a:pt x="1013521" y="1111215"/>
                  <a:pt x="1054660" y="1054760"/>
                  <a:pt x="1106991" y="1002438"/>
                </a:cubicBezTo>
                <a:cubicBezTo>
                  <a:pt x="1159258" y="950162"/>
                  <a:pt x="1215759" y="908978"/>
                  <a:pt x="1270559" y="880778"/>
                </a:cubicBezTo>
                <a:cubicBezTo>
                  <a:pt x="1325359" y="852623"/>
                  <a:pt x="1378412" y="837371"/>
                  <a:pt x="1424187" y="837371"/>
                </a:cubicBezTo>
                <a:cubicBezTo>
                  <a:pt x="1463058" y="837371"/>
                  <a:pt x="1496928" y="848499"/>
                  <a:pt x="1521004" y="872575"/>
                </a:cubicBezTo>
                <a:cubicBezTo>
                  <a:pt x="1532864" y="884380"/>
                  <a:pt x="1541523" y="898608"/>
                  <a:pt x="1547293" y="914592"/>
                </a:cubicBezTo>
                <a:cubicBezTo>
                  <a:pt x="1542757" y="873353"/>
                  <a:pt x="1527496" y="837782"/>
                  <a:pt x="1500741" y="811027"/>
                </a:cubicBezTo>
                <a:cubicBezTo>
                  <a:pt x="1468371" y="778648"/>
                  <a:pt x="1423108" y="763030"/>
                  <a:pt x="1370420" y="763030"/>
                </a:cubicBezTo>
                <a:cubicBezTo>
                  <a:pt x="1319644" y="763030"/>
                  <a:pt x="1262155" y="777670"/>
                  <a:pt x="1204009" y="805815"/>
                </a:cubicBezTo>
                <a:cubicBezTo>
                  <a:pt x="1145862" y="833915"/>
                  <a:pt x="1087084" y="875465"/>
                  <a:pt x="1033574" y="929030"/>
                </a:cubicBezTo>
                <a:cubicBezTo>
                  <a:pt x="980063" y="982541"/>
                  <a:pt x="938513" y="1041310"/>
                  <a:pt x="910367" y="1099456"/>
                </a:cubicBezTo>
                <a:lnTo>
                  <a:pt x="910367" y="1099465"/>
                </a:lnTo>
                <a:moveTo>
                  <a:pt x="1163437" y="1419551"/>
                </a:moveTo>
                <a:cubicBezTo>
                  <a:pt x="1240969" y="1389138"/>
                  <a:pt x="1318455" y="1339898"/>
                  <a:pt x="1387693" y="1273037"/>
                </a:cubicBezTo>
                <a:cubicBezTo>
                  <a:pt x="1391973" y="1268712"/>
                  <a:pt x="1396197" y="1264323"/>
                  <a:pt x="1400266" y="1259943"/>
                </a:cubicBezTo>
                <a:cubicBezTo>
                  <a:pt x="1401967" y="1258141"/>
                  <a:pt x="1403622" y="1256285"/>
                  <a:pt x="1405268" y="1254475"/>
                </a:cubicBezTo>
                <a:cubicBezTo>
                  <a:pt x="1408414" y="1251073"/>
                  <a:pt x="1411404" y="1247571"/>
                  <a:pt x="1414449" y="1244114"/>
                </a:cubicBezTo>
                <a:cubicBezTo>
                  <a:pt x="1486412" y="1161069"/>
                  <a:pt x="1530642" y="1067141"/>
                  <a:pt x="1544001" y="980219"/>
                </a:cubicBezTo>
                <a:cubicBezTo>
                  <a:pt x="1544202" y="976561"/>
                  <a:pt x="1544303" y="972949"/>
                  <a:pt x="1544303" y="969392"/>
                </a:cubicBezTo>
                <a:cubicBezTo>
                  <a:pt x="1544303" y="932688"/>
                  <a:pt x="1533897" y="902321"/>
                  <a:pt x="1512555" y="880979"/>
                </a:cubicBezTo>
                <a:cubicBezTo>
                  <a:pt x="1491213" y="859637"/>
                  <a:pt x="1460845" y="849276"/>
                  <a:pt x="1424141" y="849222"/>
                </a:cubicBezTo>
                <a:cubicBezTo>
                  <a:pt x="1380991" y="849222"/>
                  <a:pt x="1329492" y="863761"/>
                  <a:pt x="1275926" y="891339"/>
                </a:cubicBezTo>
                <a:cubicBezTo>
                  <a:pt x="1222361" y="918871"/>
                  <a:pt x="1166784" y="959343"/>
                  <a:pt x="1115339" y="1010842"/>
                </a:cubicBezTo>
                <a:cubicBezTo>
                  <a:pt x="1063886" y="1062295"/>
                  <a:pt x="1023369" y="1117863"/>
                  <a:pt x="995836" y="1171429"/>
                </a:cubicBezTo>
                <a:cubicBezTo>
                  <a:pt x="968258" y="1224994"/>
                  <a:pt x="953719" y="1276548"/>
                  <a:pt x="953719" y="1319644"/>
                </a:cubicBezTo>
                <a:cubicBezTo>
                  <a:pt x="953719" y="1356348"/>
                  <a:pt x="964134" y="1386715"/>
                  <a:pt x="985476" y="1408057"/>
                </a:cubicBezTo>
                <a:cubicBezTo>
                  <a:pt x="1006818" y="1429399"/>
                  <a:pt x="1037186" y="1439759"/>
                  <a:pt x="1073890" y="1439814"/>
                </a:cubicBezTo>
                <a:cubicBezTo>
                  <a:pt x="1077447" y="1439814"/>
                  <a:pt x="1081059" y="1439659"/>
                  <a:pt x="1084716" y="1439503"/>
                </a:cubicBezTo>
                <a:cubicBezTo>
                  <a:pt x="1110493" y="1435535"/>
                  <a:pt x="1136892" y="1428878"/>
                  <a:pt x="1163437" y="1419551"/>
                </a:cubicBezTo>
                <a:lnTo>
                  <a:pt x="1163437" y="1419551"/>
                </a:lnTo>
                <a:moveTo>
                  <a:pt x="793087" y="656887"/>
                </a:moveTo>
                <a:cubicBezTo>
                  <a:pt x="793809" y="656164"/>
                  <a:pt x="794531" y="655488"/>
                  <a:pt x="795245" y="654765"/>
                </a:cubicBezTo>
                <a:lnTo>
                  <a:pt x="784162" y="654765"/>
                </a:lnTo>
                <a:lnTo>
                  <a:pt x="749570" y="660489"/>
                </a:lnTo>
                <a:cubicBezTo>
                  <a:pt x="703896" y="668015"/>
                  <a:pt x="668070" y="703850"/>
                  <a:pt x="660489" y="749570"/>
                </a:cubicBezTo>
                <a:lnTo>
                  <a:pt x="654765" y="784162"/>
                </a:lnTo>
                <a:lnTo>
                  <a:pt x="654765" y="835826"/>
                </a:lnTo>
                <a:cubicBezTo>
                  <a:pt x="691058" y="773290"/>
                  <a:pt x="737308" y="712665"/>
                  <a:pt x="793087" y="656887"/>
                </a:cubicBezTo>
                <a:lnTo>
                  <a:pt x="793087" y="656887"/>
                </a:lnTo>
                <a:moveTo>
                  <a:pt x="1504819" y="241109"/>
                </a:moveTo>
                <a:cubicBezTo>
                  <a:pt x="1478832" y="241164"/>
                  <a:pt x="1452488" y="242554"/>
                  <a:pt x="1425888" y="245077"/>
                </a:cubicBezTo>
                <a:cubicBezTo>
                  <a:pt x="1432024" y="244922"/>
                  <a:pt x="1438214" y="244767"/>
                  <a:pt x="1444295" y="244767"/>
                </a:cubicBezTo>
                <a:cubicBezTo>
                  <a:pt x="1585597" y="244767"/>
                  <a:pt x="1712781" y="288850"/>
                  <a:pt x="1805108" y="381177"/>
                </a:cubicBezTo>
                <a:cubicBezTo>
                  <a:pt x="1897444" y="473513"/>
                  <a:pt x="1941518" y="600688"/>
                  <a:pt x="1941518" y="741999"/>
                </a:cubicBezTo>
                <a:cubicBezTo>
                  <a:pt x="1941472" y="976040"/>
                  <a:pt x="1821037" y="1249272"/>
                  <a:pt x="1598024" y="1472339"/>
                </a:cubicBezTo>
                <a:cubicBezTo>
                  <a:pt x="1374956" y="1695352"/>
                  <a:pt x="1101678" y="1815779"/>
                  <a:pt x="867683" y="1815834"/>
                </a:cubicBezTo>
                <a:cubicBezTo>
                  <a:pt x="726372" y="1815834"/>
                  <a:pt x="599197" y="1771760"/>
                  <a:pt x="506861" y="1679424"/>
                </a:cubicBezTo>
                <a:cubicBezTo>
                  <a:pt x="414534" y="1587097"/>
                  <a:pt x="370460" y="1459913"/>
                  <a:pt x="370460" y="1318611"/>
                </a:cubicBezTo>
                <a:cubicBezTo>
                  <a:pt x="370460" y="1242103"/>
                  <a:pt x="383444" y="1161425"/>
                  <a:pt x="408554" y="1079714"/>
                </a:cubicBezTo>
                <a:cubicBezTo>
                  <a:pt x="394792" y="1118586"/>
                  <a:pt x="383344" y="1157457"/>
                  <a:pt x="374474" y="1196117"/>
                </a:cubicBezTo>
                <a:cubicBezTo>
                  <a:pt x="374218" y="1197361"/>
                  <a:pt x="373907" y="1198596"/>
                  <a:pt x="373651" y="1199830"/>
                </a:cubicBezTo>
                <a:cubicBezTo>
                  <a:pt x="372572" y="1204521"/>
                  <a:pt x="371594" y="1209267"/>
                  <a:pt x="370615" y="1213957"/>
                </a:cubicBezTo>
                <a:cubicBezTo>
                  <a:pt x="359167" y="1270358"/>
                  <a:pt x="353288" y="1325779"/>
                  <a:pt x="353288" y="1379336"/>
                </a:cubicBezTo>
                <a:cubicBezTo>
                  <a:pt x="353288" y="1534665"/>
                  <a:pt x="402062" y="1673965"/>
                  <a:pt x="503304" y="1775262"/>
                </a:cubicBezTo>
                <a:cubicBezTo>
                  <a:pt x="604610" y="1876513"/>
                  <a:pt x="743855" y="1925278"/>
                  <a:pt x="899230" y="1925278"/>
                </a:cubicBezTo>
                <a:cubicBezTo>
                  <a:pt x="1148797" y="1925278"/>
                  <a:pt x="1439293" y="1799027"/>
                  <a:pt x="1675355" y="1562920"/>
                </a:cubicBezTo>
                <a:cubicBezTo>
                  <a:pt x="1911462" y="1326858"/>
                  <a:pt x="2037768" y="1036363"/>
                  <a:pt x="2037713" y="786795"/>
                </a:cubicBezTo>
                <a:cubicBezTo>
                  <a:pt x="2037713" y="631466"/>
                  <a:pt x="1988948" y="492176"/>
                  <a:pt x="1887697" y="390869"/>
                </a:cubicBezTo>
                <a:cubicBezTo>
                  <a:pt x="1789289" y="292462"/>
                  <a:pt x="1654890" y="243788"/>
                  <a:pt x="1504764" y="241109"/>
                </a:cubicBezTo>
                <a:lnTo>
                  <a:pt x="1504819" y="241109"/>
                </a:lnTo>
                <a:moveTo>
                  <a:pt x="1896100" y="382576"/>
                </a:moveTo>
                <a:cubicBezTo>
                  <a:pt x="1999930" y="486397"/>
                  <a:pt x="2049628" y="629098"/>
                  <a:pt x="2049628" y="786850"/>
                </a:cubicBezTo>
                <a:cubicBezTo>
                  <a:pt x="2049628" y="1040377"/>
                  <a:pt x="1921776" y="1333305"/>
                  <a:pt x="1683758" y="1571323"/>
                </a:cubicBezTo>
                <a:cubicBezTo>
                  <a:pt x="1445740" y="1809287"/>
                  <a:pt x="1152766" y="1937138"/>
                  <a:pt x="899285" y="1937193"/>
                </a:cubicBezTo>
                <a:cubicBezTo>
                  <a:pt x="741533" y="1937193"/>
                  <a:pt x="598831" y="1887541"/>
                  <a:pt x="495010" y="1783665"/>
                </a:cubicBezTo>
                <a:cubicBezTo>
                  <a:pt x="444792" y="1733456"/>
                  <a:pt x="407365" y="1674120"/>
                  <a:pt x="381954" y="1608384"/>
                </a:cubicBezTo>
                <a:cubicBezTo>
                  <a:pt x="409432" y="1695974"/>
                  <a:pt x="455362" y="1774750"/>
                  <a:pt x="520476" y="1839910"/>
                </a:cubicBezTo>
                <a:cubicBezTo>
                  <a:pt x="634813" y="1954256"/>
                  <a:pt x="791230" y="2009467"/>
                  <a:pt x="963467" y="2009522"/>
                </a:cubicBezTo>
                <a:cubicBezTo>
                  <a:pt x="1223028" y="2009522"/>
                  <a:pt x="1518169" y="1883728"/>
                  <a:pt x="1755831" y="1646075"/>
                </a:cubicBezTo>
                <a:cubicBezTo>
                  <a:pt x="1993538" y="1408414"/>
                  <a:pt x="2119378" y="1113273"/>
                  <a:pt x="2119323" y="853711"/>
                </a:cubicBezTo>
                <a:cubicBezTo>
                  <a:pt x="2119323" y="681475"/>
                  <a:pt x="2064057" y="525067"/>
                  <a:pt x="1949711" y="410721"/>
                </a:cubicBezTo>
                <a:cubicBezTo>
                  <a:pt x="1896776" y="357777"/>
                  <a:pt x="1834753" y="317516"/>
                  <a:pt x="1766346" y="289517"/>
                </a:cubicBezTo>
                <a:cubicBezTo>
                  <a:pt x="1814078" y="313337"/>
                  <a:pt x="1857750" y="344217"/>
                  <a:pt x="1896100" y="382576"/>
                </a:cubicBezTo>
                <a:lnTo>
                  <a:pt x="1896100" y="382576"/>
                </a:lnTo>
                <a:moveTo>
                  <a:pt x="524445" y="1891363"/>
                </a:moveTo>
                <a:cubicBezTo>
                  <a:pt x="646883" y="2013792"/>
                  <a:pt x="813907" y="2072981"/>
                  <a:pt x="996815" y="2073027"/>
                </a:cubicBezTo>
                <a:cubicBezTo>
                  <a:pt x="1265200" y="2073027"/>
                  <a:pt x="1567455" y="1945231"/>
                  <a:pt x="1809908" y="1702777"/>
                </a:cubicBezTo>
                <a:cubicBezTo>
                  <a:pt x="2052407" y="1460324"/>
                  <a:pt x="2180204" y="1158078"/>
                  <a:pt x="2180158" y="889693"/>
                </a:cubicBezTo>
                <a:cubicBezTo>
                  <a:pt x="2180158" y="706785"/>
                  <a:pt x="2120923" y="539752"/>
                  <a:pt x="1998485" y="417314"/>
                </a:cubicBezTo>
                <a:cubicBezTo>
                  <a:pt x="1918942" y="337825"/>
                  <a:pt x="1820625" y="284982"/>
                  <a:pt x="1711336" y="257714"/>
                </a:cubicBezTo>
                <a:cubicBezTo>
                  <a:pt x="1804751" y="285293"/>
                  <a:pt x="1888940" y="333180"/>
                  <a:pt x="1958069" y="402363"/>
                </a:cubicBezTo>
                <a:cubicBezTo>
                  <a:pt x="2074993" y="519233"/>
                  <a:pt x="2131128" y="678997"/>
                  <a:pt x="2131128" y="853711"/>
                </a:cubicBezTo>
                <a:cubicBezTo>
                  <a:pt x="2131128" y="1117095"/>
                  <a:pt x="2003798" y="1414760"/>
                  <a:pt x="1764179" y="1654424"/>
                </a:cubicBezTo>
                <a:cubicBezTo>
                  <a:pt x="1524515" y="1894042"/>
                  <a:pt x="1226850" y="2021327"/>
                  <a:pt x="963467" y="2021373"/>
                </a:cubicBezTo>
                <a:cubicBezTo>
                  <a:pt x="788752" y="2021373"/>
                  <a:pt x="628988" y="1965238"/>
                  <a:pt x="512119" y="1848313"/>
                </a:cubicBezTo>
                <a:cubicBezTo>
                  <a:pt x="424839" y="1761034"/>
                  <a:pt x="371384" y="1649788"/>
                  <a:pt x="349941" y="1526316"/>
                </a:cubicBezTo>
                <a:cubicBezTo>
                  <a:pt x="368960" y="1666741"/>
                  <a:pt x="426440" y="1793358"/>
                  <a:pt x="524445" y="1891409"/>
                </a:cubicBezTo>
                <a:lnTo>
                  <a:pt x="524445" y="1891363"/>
                </a:lnTo>
              </a:path>
            </a:pathLst>
          </a:custGeom>
          <a:solidFill>
            <a:srgbClr val="FF8F43"/>
          </a:solidFill>
          <a:ln/>
        </p:spPr>
      </p:sp>
      <p:sp>
        <p:nvSpPr>
          <p:cNvPr id="4" name="Shape 2"/>
          <p:cNvSpPr/>
          <p:nvPr/>
        </p:nvSpPr>
        <p:spPr>
          <a:xfrm>
            <a:off x="10896941" y="6472260"/>
            <a:ext cx="218478" cy="218478"/>
          </a:xfrm>
          <a:custGeom>
            <a:avLst/>
            <a:gdLst/>
            <a:ahLst/>
            <a:cxnLst/>
            <a:rect l="l" t="t" r="r" b="b"/>
            <a:pathLst>
              <a:path w="218478" h="218478">
                <a:moveTo>
                  <a:pt x="44952" y="116659"/>
                </a:moveTo>
                <a:lnTo>
                  <a:pt x="0" y="109243"/>
                </a:lnTo>
                <a:lnTo>
                  <a:pt x="44952" y="101818"/>
                </a:lnTo>
                <a:cubicBezTo>
                  <a:pt x="74130" y="97018"/>
                  <a:pt x="97018" y="74130"/>
                  <a:pt x="101818" y="44952"/>
                </a:cubicBezTo>
                <a:lnTo>
                  <a:pt x="109243" y="0"/>
                </a:lnTo>
                <a:lnTo>
                  <a:pt x="116659" y="44952"/>
                </a:lnTo>
                <a:cubicBezTo>
                  <a:pt x="121460" y="74130"/>
                  <a:pt x="144347" y="97018"/>
                  <a:pt x="173526" y="101818"/>
                </a:cubicBezTo>
                <a:lnTo>
                  <a:pt x="218478" y="109243"/>
                </a:lnTo>
                <a:lnTo>
                  <a:pt x="173526" y="116659"/>
                </a:lnTo>
                <a:cubicBezTo>
                  <a:pt x="144347" y="121460"/>
                  <a:pt x="121460" y="144347"/>
                  <a:pt x="116659" y="173526"/>
                </a:cubicBezTo>
                <a:lnTo>
                  <a:pt x="109243" y="218478"/>
                </a:lnTo>
                <a:lnTo>
                  <a:pt x="101818" y="173526"/>
                </a:lnTo>
                <a:cubicBezTo>
                  <a:pt x="97018" y="144347"/>
                  <a:pt x="74130" y="121460"/>
                  <a:pt x="44952" y="116659"/>
                </a:cubicBezTo>
              </a:path>
            </a:pathLst>
          </a:custGeom>
          <a:solidFill>
            <a:srgbClr val="FF8F43"/>
          </a:solidFill>
          <a:ln/>
        </p:spPr>
      </p:sp>
      <p:sp>
        <p:nvSpPr>
          <p:cNvPr id="5" name="Shape 3"/>
          <p:cNvSpPr/>
          <p:nvPr/>
        </p:nvSpPr>
        <p:spPr>
          <a:xfrm>
            <a:off x="12019139" y="5695414"/>
            <a:ext cx="188686" cy="188686"/>
          </a:xfrm>
          <a:custGeom>
            <a:avLst/>
            <a:gdLst/>
            <a:ahLst/>
            <a:cxnLst/>
            <a:rect l="l" t="t" r="r" b="b"/>
            <a:pathLst>
              <a:path w="188686" h="188686">
                <a:moveTo>
                  <a:pt x="87947" y="38816"/>
                </a:moveTo>
                <a:lnTo>
                  <a:pt x="94339" y="0"/>
                </a:lnTo>
                <a:lnTo>
                  <a:pt x="100730" y="38816"/>
                </a:lnTo>
                <a:cubicBezTo>
                  <a:pt x="104909" y="64026"/>
                  <a:pt x="124651" y="83768"/>
                  <a:pt x="149861" y="87947"/>
                </a:cubicBezTo>
                <a:lnTo>
                  <a:pt x="188686" y="94339"/>
                </a:lnTo>
                <a:lnTo>
                  <a:pt x="149861" y="100730"/>
                </a:lnTo>
                <a:cubicBezTo>
                  <a:pt x="124651" y="104909"/>
                  <a:pt x="104909" y="124651"/>
                  <a:pt x="100730" y="149861"/>
                </a:cubicBezTo>
                <a:lnTo>
                  <a:pt x="94339" y="188686"/>
                </a:lnTo>
                <a:lnTo>
                  <a:pt x="87947" y="149861"/>
                </a:lnTo>
                <a:cubicBezTo>
                  <a:pt x="83768" y="124651"/>
                  <a:pt x="64026" y="104909"/>
                  <a:pt x="38816" y="100730"/>
                </a:cubicBezTo>
                <a:lnTo>
                  <a:pt x="0" y="94339"/>
                </a:lnTo>
                <a:lnTo>
                  <a:pt x="38816" y="87947"/>
                </a:lnTo>
                <a:cubicBezTo>
                  <a:pt x="64026" y="83768"/>
                  <a:pt x="83768" y="64026"/>
                  <a:pt x="87947" y="38816"/>
                </a:cubicBezTo>
                <a:lnTo>
                  <a:pt x="87947" y="38816"/>
                </a:lnTo>
              </a:path>
            </a:pathLst>
          </a:custGeom>
          <a:solidFill>
            <a:srgbClr val="FF8F43"/>
          </a:solidFill>
          <a:ln/>
        </p:spPr>
      </p:sp>
      <p:sp>
        <p:nvSpPr>
          <p:cNvPr id="6" name="Shape 4"/>
          <p:cNvSpPr/>
          <p:nvPr/>
        </p:nvSpPr>
        <p:spPr>
          <a:xfrm>
            <a:off x="11079593" y="6036951"/>
            <a:ext cx="130220" cy="130220"/>
          </a:xfrm>
          <a:custGeom>
            <a:avLst/>
            <a:gdLst/>
            <a:ahLst/>
            <a:cxnLst/>
            <a:rect l="l" t="t" r="r" b="b"/>
            <a:pathLst>
              <a:path w="130220" h="130220">
                <a:moveTo>
                  <a:pt x="60680" y="26810"/>
                </a:moveTo>
                <a:lnTo>
                  <a:pt x="65114" y="0"/>
                </a:lnTo>
                <a:lnTo>
                  <a:pt x="69540" y="26810"/>
                </a:lnTo>
                <a:cubicBezTo>
                  <a:pt x="72430" y="44184"/>
                  <a:pt x="86045" y="57845"/>
                  <a:pt x="103409" y="60680"/>
                </a:cubicBezTo>
                <a:lnTo>
                  <a:pt x="130220" y="65114"/>
                </a:lnTo>
                <a:lnTo>
                  <a:pt x="103409" y="69540"/>
                </a:lnTo>
                <a:cubicBezTo>
                  <a:pt x="86045" y="72430"/>
                  <a:pt x="72384" y="86045"/>
                  <a:pt x="69540" y="103419"/>
                </a:cubicBezTo>
                <a:lnTo>
                  <a:pt x="65114" y="130220"/>
                </a:lnTo>
                <a:lnTo>
                  <a:pt x="60680" y="103419"/>
                </a:lnTo>
                <a:cubicBezTo>
                  <a:pt x="57790" y="86045"/>
                  <a:pt x="44184" y="72384"/>
                  <a:pt x="26810" y="69540"/>
                </a:cubicBezTo>
                <a:lnTo>
                  <a:pt x="0" y="65114"/>
                </a:lnTo>
                <a:lnTo>
                  <a:pt x="26810" y="60680"/>
                </a:lnTo>
                <a:cubicBezTo>
                  <a:pt x="44184" y="57790"/>
                  <a:pt x="57845" y="44184"/>
                  <a:pt x="60680" y="26810"/>
                </a:cubicBezTo>
              </a:path>
            </a:pathLst>
          </a:custGeom>
          <a:solidFill>
            <a:srgbClr val="FF8F43"/>
          </a:solidFill>
          <a:ln/>
        </p:spPr>
      </p:sp>
      <p:sp>
        <p:nvSpPr>
          <p:cNvPr id="7" name="Shape 5"/>
          <p:cNvSpPr/>
          <p:nvPr/>
        </p:nvSpPr>
        <p:spPr>
          <a:xfrm>
            <a:off x="1013100" y="5689479"/>
            <a:ext cx="831647" cy="123087"/>
          </a:xfrm>
          <a:custGeom>
            <a:avLst/>
            <a:gdLst/>
            <a:ahLst/>
            <a:cxnLst/>
            <a:rect l="l" t="t" r="r" b="b"/>
            <a:pathLst>
              <a:path w="831647" h="123087">
                <a:moveTo>
                  <a:pt x="829608" y="45656"/>
                </a:moveTo>
                <a:cubicBezTo>
                  <a:pt x="827578" y="41843"/>
                  <a:pt x="822832" y="40407"/>
                  <a:pt x="819019" y="42437"/>
                </a:cubicBezTo>
                <a:cubicBezTo>
                  <a:pt x="811457" y="46479"/>
                  <a:pt x="803986" y="50667"/>
                  <a:pt x="796762" y="54718"/>
                </a:cubicBezTo>
                <a:cubicBezTo>
                  <a:pt x="748345" y="81821"/>
                  <a:pt x="702607" y="107433"/>
                  <a:pt x="608725" y="107433"/>
                </a:cubicBezTo>
                <a:cubicBezTo>
                  <a:pt x="514835" y="107433"/>
                  <a:pt x="469087" y="81821"/>
                  <a:pt x="420670" y="54718"/>
                </a:cubicBezTo>
                <a:cubicBezTo>
                  <a:pt x="372636" y="27816"/>
                  <a:pt x="322957" y="0"/>
                  <a:pt x="224979" y="0"/>
                </a:cubicBezTo>
                <a:cubicBezTo>
                  <a:pt x="127001" y="0"/>
                  <a:pt x="77331" y="27816"/>
                  <a:pt x="29288" y="54718"/>
                </a:cubicBezTo>
                <a:cubicBezTo>
                  <a:pt x="21479" y="59089"/>
                  <a:pt x="13396" y="63606"/>
                  <a:pt x="5276" y="67912"/>
                </a:cubicBezTo>
                <a:cubicBezTo>
                  <a:pt x="1454" y="69933"/>
                  <a:pt x="0" y="74670"/>
                  <a:pt x="2021" y="78492"/>
                </a:cubicBezTo>
                <a:cubicBezTo>
                  <a:pt x="4051" y="82314"/>
                  <a:pt x="8787" y="83777"/>
                  <a:pt x="12610" y="81747"/>
                </a:cubicBezTo>
                <a:cubicBezTo>
                  <a:pt x="20894" y="77358"/>
                  <a:pt x="29050" y="72795"/>
                  <a:pt x="36933" y="68379"/>
                </a:cubicBezTo>
                <a:cubicBezTo>
                  <a:pt x="85359" y="41258"/>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76" y="64374"/>
                  <a:pt x="818973" y="60213"/>
                  <a:pt x="826398" y="56254"/>
                </a:cubicBezTo>
                <a:cubicBezTo>
                  <a:pt x="830211" y="54215"/>
                  <a:pt x="831647" y="49478"/>
                  <a:pt x="829608" y="45656"/>
                </a:cubicBezTo>
              </a:path>
            </a:pathLst>
          </a:custGeom>
          <a:solidFill>
            <a:srgbClr val="2B0000"/>
          </a:solidFill>
          <a:ln/>
        </p:spPr>
      </p:sp>
      <p:sp>
        <p:nvSpPr>
          <p:cNvPr id="8" name="Shape 6"/>
          <p:cNvSpPr/>
          <p:nvPr/>
        </p:nvSpPr>
        <p:spPr>
          <a:xfrm>
            <a:off x="1013100" y="5849874"/>
            <a:ext cx="831647" cy="123087"/>
          </a:xfrm>
          <a:custGeom>
            <a:avLst/>
            <a:gdLst/>
            <a:ahLst/>
            <a:cxnLst/>
            <a:rect l="l" t="t" r="r" b="b"/>
            <a:pathLst>
              <a:path w="831647" h="123087">
                <a:moveTo>
                  <a:pt x="829608" y="45656"/>
                </a:moveTo>
                <a:cubicBezTo>
                  <a:pt x="827578" y="41843"/>
                  <a:pt x="822832" y="40398"/>
                  <a:pt x="819019" y="42437"/>
                </a:cubicBezTo>
                <a:cubicBezTo>
                  <a:pt x="811457" y="46479"/>
                  <a:pt x="803986" y="50658"/>
                  <a:pt x="796762" y="54709"/>
                </a:cubicBezTo>
                <a:cubicBezTo>
                  <a:pt x="748345" y="81821"/>
                  <a:pt x="702607" y="107424"/>
                  <a:pt x="608725" y="107424"/>
                </a:cubicBezTo>
                <a:cubicBezTo>
                  <a:pt x="514835" y="107424"/>
                  <a:pt x="469087" y="81821"/>
                  <a:pt x="420670" y="54709"/>
                </a:cubicBezTo>
                <a:cubicBezTo>
                  <a:pt x="372636" y="27807"/>
                  <a:pt x="322957" y="0"/>
                  <a:pt x="224979" y="0"/>
                </a:cubicBezTo>
                <a:cubicBezTo>
                  <a:pt x="127001" y="0"/>
                  <a:pt x="77322" y="27807"/>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67"/>
                  <a:pt x="413025" y="68379"/>
                </a:cubicBezTo>
                <a:cubicBezTo>
                  <a:pt x="461068" y="95271"/>
                  <a:pt x="510738" y="123087"/>
                  <a:pt x="608725" y="123087"/>
                </a:cubicBezTo>
                <a:cubicBezTo>
                  <a:pt x="706694" y="123087"/>
                  <a:pt x="756364" y="95271"/>
                  <a:pt x="804407" y="68379"/>
                </a:cubicBezTo>
                <a:cubicBezTo>
                  <a:pt x="811576" y="64365"/>
                  <a:pt x="818973" y="60213"/>
                  <a:pt x="826398" y="56254"/>
                </a:cubicBezTo>
                <a:cubicBezTo>
                  <a:pt x="830211" y="54206"/>
                  <a:pt x="831647" y="49469"/>
                  <a:pt x="829608" y="45656"/>
                </a:cubicBezTo>
              </a:path>
            </a:pathLst>
          </a:custGeom>
          <a:solidFill>
            <a:srgbClr val="2B0000"/>
          </a:solidFill>
          <a:ln/>
        </p:spPr>
      </p:sp>
      <p:sp>
        <p:nvSpPr>
          <p:cNvPr id="9" name="Shape 7"/>
          <p:cNvSpPr/>
          <p:nvPr/>
        </p:nvSpPr>
        <p:spPr>
          <a:xfrm>
            <a:off x="1013100" y="6010260"/>
            <a:ext cx="831647" cy="123087"/>
          </a:xfrm>
          <a:custGeom>
            <a:avLst/>
            <a:gdLst/>
            <a:ahLst/>
            <a:cxnLst/>
            <a:rect l="l" t="t" r="r" b="b"/>
            <a:pathLst>
              <a:path w="831647" h="123087">
                <a:moveTo>
                  <a:pt x="829608" y="45656"/>
                </a:moveTo>
                <a:cubicBezTo>
                  <a:pt x="827578" y="41843"/>
                  <a:pt x="822832" y="40407"/>
                  <a:pt x="819019" y="42446"/>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18"/>
                </a:cubicBezTo>
                <a:cubicBezTo>
                  <a:pt x="21470" y="59089"/>
                  <a:pt x="13396" y="63606"/>
                  <a:pt x="5276" y="67912"/>
                </a:cubicBezTo>
                <a:cubicBezTo>
                  <a:pt x="1454" y="69933"/>
                  <a:pt x="0" y="74670"/>
                  <a:pt x="2021" y="78501"/>
                </a:cubicBezTo>
                <a:cubicBezTo>
                  <a:pt x="4051" y="82314"/>
                  <a:pt x="8787" y="83777"/>
                  <a:pt x="12610" y="81747"/>
                </a:cubicBezTo>
                <a:cubicBezTo>
                  <a:pt x="20894" y="77358"/>
                  <a:pt x="29041" y="72795"/>
                  <a:pt x="36933" y="68379"/>
                </a:cubicBezTo>
                <a:cubicBezTo>
                  <a:pt x="85350" y="41267"/>
                  <a:pt x="131088" y="15664"/>
                  <a:pt x="224979" y="15664"/>
                </a:cubicBezTo>
                <a:cubicBezTo>
                  <a:pt x="318870" y="15664"/>
                  <a:pt x="364608" y="41267"/>
                  <a:pt x="413025" y="68370"/>
                </a:cubicBezTo>
                <a:cubicBezTo>
                  <a:pt x="461068" y="95271"/>
                  <a:pt x="510738" y="123087"/>
                  <a:pt x="608725" y="123087"/>
                </a:cubicBezTo>
                <a:cubicBezTo>
                  <a:pt x="706694" y="123087"/>
                  <a:pt x="756364" y="95271"/>
                  <a:pt x="804407" y="68370"/>
                </a:cubicBezTo>
                <a:cubicBezTo>
                  <a:pt x="811567" y="64365"/>
                  <a:pt x="818973" y="60222"/>
                  <a:pt x="826398" y="56254"/>
                </a:cubicBezTo>
                <a:cubicBezTo>
                  <a:pt x="830211" y="54215"/>
                  <a:pt x="831647" y="49469"/>
                  <a:pt x="829608" y="45656"/>
                </a:cubicBezTo>
              </a:path>
            </a:pathLst>
          </a:custGeom>
          <a:solidFill>
            <a:srgbClr val="2B0000"/>
          </a:solidFill>
          <a:ln/>
        </p:spPr>
      </p:sp>
      <p:sp>
        <p:nvSpPr>
          <p:cNvPr id="10" name="Shape 8"/>
          <p:cNvSpPr/>
          <p:nvPr/>
        </p:nvSpPr>
        <p:spPr>
          <a:xfrm>
            <a:off x="1013100" y="6170655"/>
            <a:ext cx="831647" cy="123087"/>
          </a:xfrm>
          <a:custGeom>
            <a:avLst/>
            <a:gdLst/>
            <a:ahLst/>
            <a:cxnLst/>
            <a:rect l="l" t="t" r="r" b="b"/>
            <a:pathLst>
              <a:path w="831647" h="123087">
                <a:moveTo>
                  <a:pt x="826398" y="56254"/>
                </a:moveTo>
                <a:cubicBezTo>
                  <a:pt x="830211" y="54215"/>
                  <a:pt x="831647" y="49469"/>
                  <a:pt x="829608" y="45656"/>
                </a:cubicBezTo>
                <a:cubicBezTo>
                  <a:pt x="827578" y="41843"/>
                  <a:pt x="822832" y="40398"/>
                  <a:pt x="819019" y="42437"/>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67" y="64365"/>
                  <a:pt x="818973" y="60213"/>
                  <a:pt x="826398" y="56254"/>
                </a:cubicBezTo>
              </a:path>
            </a:pathLst>
          </a:custGeom>
          <a:solidFill>
            <a:srgbClr val="2B0000"/>
          </a:solidFill>
          <a:ln/>
        </p:spPr>
      </p:sp>
      <p:sp>
        <p:nvSpPr>
          <p:cNvPr id="11" name="Shape 9"/>
          <p:cNvSpPr/>
          <p:nvPr/>
        </p:nvSpPr>
        <p:spPr>
          <a:xfrm>
            <a:off x="925611" y="2878211"/>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pic>
        <p:nvPicPr>
          <p:cNvPr id="12" name="Image 0" descr="D:\Projects\20. fintechthon\deck\out\template_assets\p2_x31.png">    </p:cNvPr>
          <p:cNvPicPr>
            <a:picLocks noChangeAspect="1"/>
          </p:cNvPicPr>
          <p:nvPr/>
        </p:nvPicPr>
        <p:blipFill>
          <a:blip r:embed="rId1"/>
          <a:stretch>
            <a:fillRect/>
          </a:stretch>
        </p:blipFill>
        <p:spPr>
          <a:xfrm>
            <a:off x="544734" y="278171"/>
            <a:ext cx="901700" cy="901700"/>
          </a:xfrm>
          <a:prstGeom prst="rect">
            <a:avLst/>
          </a:prstGeom>
        </p:spPr>
      </p:pic>
      <p:sp>
        <p:nvSpPr>
          <p:cNvPr id="13" name="Text 10"/>
          <p:cNvSpPr txBox="1"/>
          <p:nvPr/>
        </p:nvSpPr>
        <p:spPr>
          <a:xfrm>
            <a:off x="1759871" y="264669"/>
            <a:ext cx="8672233" cy="875744"/>
          </a:xfrm>
          <a:prstGeom prst="rect">
            <a:avLst/>
          </a:prstGeom>
          <a:noFill/>
          <a:ln/>
        </p:spPr>
        <p:txBody>
          <a:bodyPr wrap="none" lIns="0" tIns="0" rIns="0" bIns="0" rtlCol="0" anchor="t"/>
          <a:lstStyle/>
          <a:p>
            <a:pPr algn="ctr" indent="0" marL="0">
              <a:buNone/>
            </a:pPr>
            <a:r>
              <a:rPr lang="en-US" sz="6968" b="1" spc="-376" kern="0" dirty="0">
                <a:solidFill>
                  <a:srgbClr val="000000"/>
                </a:solidFill>
                <a:latin typeface="League Spartan" pitchFamily="34" charset="0"/>
                <a:ea typeface="League Spartan" pitchFamily="34" charset="-122"/>
                <a:cs typeface="League Spartan" pitchFamily="34" charset="-120"/>
              </a:rPr>
              <a:t>Problem Statement</a:t>
            </a:r>
            <a:endParaRPr lang="en-US" sz="6968" dirty="0"/>
          </a:p>
        </p:txBody>
      </p:sp>
      <p:sp>
        <p:nvSpPr>
          <p:cNvPr id="14" name="Text 11"/>
          <p:cNvSpPr txBox="1"/>
          <p:nvPr/>
        </p:nvSpPr>
        <p:spPr>
          <a:xfrm>
            <a:off x="460675" y="1530340"/>
            <a:ext cx="11270437" cy="234909"/>
          </a:xfrm>
          <a:prstGeom prst="rect">
            <a:avLst/>
          </a:prstGeom>
          <a:noFill/>
          <a:ln/>
        </p:spPr>
        <p:txBody>
          <a:bodyPr wrap="none" lIns="0" tIns="0" rIns="0" bIns="0" rtlCol="0" anchor="t"/>
          <a:lstStyle/>
          <a:p>
            <a:pPr algn="ctr" indent="0" marL="0">
              <a:buNone/>
            </a:pPr>
            <a:r>
              <a:rPr lang="en-US" sz="2000" b="1" spc="-20" kern="0" dirty="0">
                <a:solidFill>
                  <a:srgbClr val="24110C"/>
                </a:solidFill>
                <a:latin typeface="League Spartan" pitchFamily="34" charset="0"/>
                <a:ea typeface="League Spartan" pitchFamily="34" charset="-122"/>
                <a:cs typeface="League Spartan" pitchFamily="34" charset="-120"/>
              </a:rPr>
              <a:t>Businesses lose real money every month because </a:t>
            </a:r>
            <a:pPr algn="ctr" indent="0" marL="0">
              <a:buNone/>
            </a:pPr>
            <a:r>
              <a:rPr lang="en-US" sz="2000" b="1" spc="-20" kern="0" dirty="0">
                <a:solidFill>
                  <a:srgbClr val="D2601A"/>
                </a:solidFill>
                <a:latin typeface="League Spartan" pitchFamily="34" charset="0"/>
                <a:ea typeface="League Spartan" pitchFamily="34" charset="-122"/>
                <a:cs typeface="League Spartan" pitchFamily="34" charset="-120"/>
              </a:rPr>
              <a:t>their records don't match the government's</a:t>
            </a:r>
            <a:endParaRPr lang="en-US" sz="2000" dirty="0"/>
          </a:p>
        </p:txBody>
      </p:sp>
      <p:sp>
        <p:nvSpPr>
          <p:cNvPr id="15" name="Shape 12"/>
          <p:cNvSpPr/>
          <p:nvPr/>
        </p:nvSpPr>
        <p:spPr>
          <a:xfrm>
            <a:off x="888980" y="2019270"/>
            <a:ext cx="2400300" cy="1625620"/>
          </a:xfrm>
          <a:prstGeom prst="roundRect">
            <a:avLst>
              <a:gd name="adj" fmla="val 7813"/>
            </a:avLst>
          </a:prstGeom>
          <a:solidFill>
            <a:srgbClr val="FFFFFF"/>
          </a:solidFill>
          <a:ln w="6350">
            <a:solidFill>
              <a:srgbClr val="24110C">
                <a:alpha val="13000"/>
              </a:srgbClr>
            </a:solidFill>
            <a:prstDash val="solid"/>
          </a:ln>
        </p:spPr>
      </p:sp>
      <p:sp>
        <p:nvSpPr>
          <p:cNvPr id="16" name="Shape 13"/>
          <p:cNvSpPr/>
          <p:nvPr/>
        </p:nvSpPr>
        <p:spPr>
          <a:xfrm>
            <a:off x="1035009" y="1924080"/>
            <a:ext cx="215890" cy="215890"/>
          </a:xfrm>
          <a:prstGeom prst="ellipse">
            <a:avLst/>
          </a:prstGeom>
          <a:solidFill>
            <a:srgbClr val="24110C"/>
          </a:solidFill>
          <a:ln/>
        </p:spPr>
      </p:sp>
      <p:sp>
        <p:nvSpPr>
          <p:cNvPr id="17" name="Text 14"/>
          <p:cNvSpPr txBox="1"/>
          <p:nvPr/>
        </p:nvSpPr>
        <p:spPr>
          <a:xfrm>
            <a:off x="1125261" y="1959651"/>
            <a:ext cx="65105" cy="101590"/>
          </a:xfrm>
          <a:prstGeom prst="rect">
            <a:avLst/>
          </a:prstGeom>
          <a:noFill/>
          <a:ln/>
        </p:spPr>
        <p:txBody>
          <a:bodyPr wrap="none" lIns="0" tIns="0" rIns="0" bIns="0" rtlCol="0" anchor="t"/>
          <a:lstStyle/>
          <a:p>
            <a:pPr algn="l" indent="0" marL="0">
              <a:buNone/>
            </a:pPr>
            <a:r>
              <a:rPr lang="en-US" sz="850" b="1" dirty="0">
                <a:solidFill>
                  <a:srgbClr val="FFFFFF"/>
                </a:solidFill>
                <a:latin typeface="League Spartan" pitchFamily="34" charset="0"/>
                <a:ea typeface="League Spartan" pitchFamily="34" charset="-122"/>
                <a:cs typeface="League Spartan" pitchFamily="34" charset="-120"/>
              </a:rPr>
              <a:t>1</a:t>
            </a:r>
            <a:endParaRPr lang="en-US" sz="850" dirty="0"/>
          </a:p>
        </p:txBody>
      </p:sp>
      <p:sp>
        <p:nvSpPr>
          <p:cNvPr id="18" name="Shape 15"/>
          <p:cNvSpPr/>
          <p:nvPr/>
        </p:nvSpPr>
        <p:spPr>
          <a:xfrm>
            <a:off x="1047720" y="2165391"/>
            <a:ext cx="355610" cy="355610"/>
          </a:xfrm>
          <a:prstGeom prst="roundRect">
            <a:avLst>
              <a:gd name="adj" fmla="val 28568"/>
            </a:avLst>
          </a:prstGeom>
          <a:solidFill>
            <a:srgbClr val="E3EEFA"/>
          </a:solidFill>
          <a:ln/>
        </p:spPr>
      </p:sp>
      <p:pic>
        <p:nvPicPr>
          <p:cNvPr id="19" name="Image 1" descr="D:\Projects\20. fintechthon\deck\out\assets\s2_img001.png">    </p:cNvPr>
          <p:cNvPicPr>
            <a:picLocks noChangeAspect="1"/>
          </p:cNvPicPr>
          <p:nvPr/>
        </p:nvPicPr>
        <p:blipFill>
          <a:blip r:embed="rId2"/>
          <a:stretch>
            <a:fillRect/>
          </a:stretch>
        </p:blipFill>
        <p:spPr>
          <a:xfrm>
            <a:off x="1123980" y="2241560"/>
            <a:ext cx="203180" cy="203180"/>
          </a:xfrm>
          <a:prstGeom prst="rect">
            <a:avLst/>
          </a:prstGeom>
        </p:spPr>
      </p:pic>
      <p:sp>
        <p:nvSpPr>
          <p:cNvPr id="20" name="Text 16"/>
          <p:cNvSpPr txBox="1"/>
          <p:nvPr/>
        </p:nvSpPr>
        <p:spPr>
          <a:xfrm>
            <a:off x="1492209" y="2241560"/>
            <a:ext cx="1361907" cy="139720"/>
          </a:xfrm>
          <a:prstGeom prst="rect">
            <a:avLst/>
          </a:prstGeom>
          <a:noFill/>
          <a:ln/>
        </p:spPr>
        <p:txBody>
          <a:bodyPr wrap="none" lIns="0" tIns="0" rIns="0" bIns="0" rtlCol="0" anchor="t"/>
          <a:lstStyle/>
          <a:p>
            <a:pPr algn="l" indent="0" marL="0">
              <a:buNone/>
            </a:pPr>
            <a:r>
              <a:rPr lang="en-US" sz="1200" b="1" dirty="0">
                <a:solidFill>
                  <a:srgbClr val="24110C"/>
                </a:solidFill>
                <a:latin typeface="League Spartan" pitchFamily="34" charset="0"/>
                <a:ea typeface="League Spartan" pitchFamily="34" charset="-122"/>
                <a:cs typeface="League Spartan" pitchFamily="34" charset="-120"/>
              </a:rPr>
              <a:t>A shop buys stock</a:t>
            </a:r>
            <a:endParaRPr lang="en-US" sz="1200" dirty="0"/>
          </a:p>
        </p:txBody>
      </p:sp>
      <p:sp>
        <p:nvSpPr>
          <p:cNvPr id="21" name="Text 17"/>
          <p:cNvSpPr txBox="1"/>
          <p:nvPr/>
        </p:nvSpPr>
        <p:spPr>
          <a:xfrm>
            <a:off x="1047720" y="2595799"/>
            <a:ext cx="2082820" cy="620238"/>
          </a:xfrm>
          <a:prstGeom prst="rect">
            <a:avLst/>
          </a:prstGeom>
          <a:noFill/>
          <a:ln/>
        </p:spPr>
        <p:txBody>
          <a:bodyPr wrap="square" lIns="0" tIns="0" rIns="0" bIns="0" rtlCol="0" anchor="t"/>
          <a:lstStyle/>
          <a:p>
            <a:pPr algn="l" indent="0" marL="0">
              <a:lnSpc>
                <a:spcPts val="1221"/>
              </a:lnSpc>
              <a:buNone/>
            </a:pPr>
            <a:r>
              <a:rPr lang="en-US" sz="825" dirty="0">
                <a:solidFill>
                  <a:srgbClr val="5B4339"/>
                </a:solidFill>
                <a:latin typeface="Inter" pitchFamily="34" charset="0"/>
                <a:ea typeface="Inter" pitchFamily="34" charset="-122"/>
                <a:cs typeface="Inter" pitchFamily="34" charset="-120"/>
              </a:rPr>
              <a:t>Sharma Traders, a Delhi wholesaler, buys goods worth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₹1,00,000</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and pays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₹18,000 GST</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on top to its supplier. Its accountant records the bill in the books.</a:t>
            </a:r>
            <a:endParaRPr lang="en-US" sz="825" dirty="0"/>
          </a:p>
        </p:txBody>
      </p:sp>
      <p:pic>
        <p:nvPicPr>
          <p:cNvPr id="22" name="Image 2" descr="D:\Projects\20. fintechthon\deck\out\assets\s2_img002.png">    </p:cNvPr>
          <p:cNvPicPr>
            <a:picLocks noChangeAspect="1"/>
          </p:cNvPicPr>
          <p:nvPr/>
        </p:nvPicPr>
        <p:blipFill>
          <a:blip r:embed="rId3"/>
          <a:stretch>
            <a:fillRect/>
          </a:stretch>
        </p:blipFill>
        <p:spPr>
          <a:xfrm>
            <a:off x="3321009" y="2736891"/>
            <a:ext cx="203180" cy="203180"/>
          </a:xfrm>
          <a:prstGeom prst="rect">
            <a:avLst/>
          </a:prstGeom>
        </p:spPr>
      </p:pic>
      <p:sp>
        <p:nvSpPr>
          <p:cNvPr id="23" name="Shape 18"/>
          <p:cNvSpPr/>
          <p:nvPr/>
        </p:nvSpPr>
        <p:spPr>
          <a:xfrm>
            <a:off x="3556010" y="2019270"/>
            <a:ext cx="2400300" cy="1625620"/>
          </a:xfrm>
          <a:prstGeom prst="roundRect">
            <a:avLst>
              <a:gd name="adj" fmla="val 7813"/>
            </a:avLst>
          </a:prstGeom>
          <a:solidFill>
            <a:srgbClr val="FFFFFF"/>
          </a:solidFill>
          <a:ln w="6350">
            <a:solidFill>
              <a:srgbClr val="24110C">
                <a:alpha val="13000"/>
              </a:srgbClr>
            </a:solidFill>
            <a:prstDash val="solid"/>
          </a:ln>
        </p:spPr>
      </p:sp>
      <p:sp>
        <p:nvSpPr>
          <p:cNvPr id="24" name="Shape 19"/>
          <p:cNvSpPr/>
          <p:nvPr/>
        </p:nvSpPr>
        <p:spPr>
          <a:xfrm>
            <a:off x="3702040" y="1924080"/>
            <a:ext cx="215890" cy="215890"/>
          </a:xfrm>
          <a:prstGeom prst="ellipse">
            <a:avLst/>
          </a:prstGeom>
          <a:solidFill>
            <a:srgbClr val="24110C"/>
          </a:solidFill>
          <a:ln/>
        </p:spPr>
      </p:sp>
      <p:sp>
        <p:nvSpPr>
          <p:cNvPr id="25" name="Text 20"/>
          <p:cNvSpPr txBox="1"/>
          <p:nvPr/>
        </p:nvSpPr>
        <p:spPr>
          <a:xfrm>
            <a:off x="3779215" y="1959651"/>
            <a:ext cx="94275" cy="101590"/>
          </a:xfrm>
          <a:prstGeom prst="rect">
            <a:avLst/>
          </a:prstGeom>
          <a:noFill/>
          <a:ln/>
        </p:spPr>
        <p:txBody>
          <a:bodyPr wrap="none" lIns="0" tIns="0" rIns="0" bIns="0" rtlCol="0" anchor="t"/>
          <a:lstStyle/>
          <a:p>
            <a:pPr algn="l" indent="0" marL="0">
              <a:buNone/>
            </a:pPr>
            <a:r>
              <a:rPr lang="en-US" sz="850" b="1" dirty="0">
                <a:solidFill>
                  <a:srgbClr val="FFFFFF"/>
                </a:solidFill>
                <a:latin typeface="League Spartan" pitchFamily="34" charset="0"/>
                <a:ea typeface="League Spartan" pitchFamily="34" charset="-122"/>
                <a:cs typeface="League Spartan" pitchFamily="34" charset="-120"/>
              </a:rPr>
              <a:t>2</a:t>
            </a:r>
            <a:endParaRPr lang="en-US" sz="850" dirty="0"/>
          </a:p>
        </p:txBody>
      </p:sp>
      <p:sp>
        <p:nvSpPr>
          <p:cNvPr id="26" name="Shape 21"/>
          <p:cNvSpPr/>
          <p:nvPr/>
        </p:nvSpPr>
        <p:spPr>
          <a:xfrm>
            <a:off x="3714750" y="2165391"/>
            <a:ext cx="355610" cy="355610"/>
          </a:xfrm>
          <a:prstGeom prst="roundRect">
            <a:avLst>
              <a:gd name="adj" fmla="val 28568"/>
            </a:avLst>
          </a:prstGeom>
          <a:solidFill>
            <a:srgbClr val="DDF3E8"/>
          </a:solidFill>
          <a:ln/>
        </p:spPr>
      </p:sp>
      <p:pic>
        <p:nvPicPr>
          <p:cNvPr id="27" name="Image 3" descr="D:\Projects\20. fintechthon\deck\out\assets\s2_img003.png">    </p:cNvPr>
          <p:cNvPicPr>
            <a:picLocks noChangeAspect="1"/>
          </p:cNvPicPr>
          <p:nvPr/>
        </p:nvPicPr>
        <p:blipFill>
          <a:blip r:embed="rId4"/>
          <a:stretch>
            <a:fillRect/>
          </a:stretch>
        </p:blipFill>
        <p:spPr>
          <a:xfrm>
            <a:off x="3790920" y="2241560"/>
            <a:ext cx="203180" cy="203180"/>
          </a:xfrm>
          <a:prstGeom prst="rect">
            <a:avLst/>
          </a:prstGeom>
        </p:spPr>
      </p:pic>
      <p:sp>
        <p:nvSpPr>
          <p:cNvPr id="28" name="Text 22"/>
          <p:cNvSpPr txBox="1"/>
          <p:nvPr/>
        </p:nvSpPr>
        <p:spPr>
          <a:xfrm>
            <a:off x="4159240" y="2241560"/>
            <a:ext cx="1853397" cy="139720"/>
          </a:xfrm>
          <a:prstGeom prst="rect">
            <a:avLst/>
          </a:prstGeom>
          <a:noFill/>
          <a:ln/>
        </p:spPr>
        <p:txBody>
          <a:bodyPr wrap="none" lIns="0" tIns="0" rIns="0" bIns="0" rtlCol="0" anchor="t"/>
          <a:lstStyle/>
          <a:p>
            <a:pPr algn="l" indent="0" marL="0">
              <a:buNone/>
            </a:pPr>
            <a:r>
              <a:rPr lang="en-US" sz="1200" b="1" dirty="0">
                <a:solidFill>
                  <a:srgbClr val="24110C"/>
                </a:solidFill>
                <a:latin typeface="League Spartan" pitchFamily="34" charset="0"/>
                <a:ea typeface="League Spartan" pitchFamily="34" charset="-122"/>
                <a:cs typeface="League Spartan" pitchFamily="34" charset="-120"/>
              </a:rPr>
              <a:t>That GST can come back</a:t>
            </a:r>
            <a:endParaRPr lang="en-US" sz="1200" dirty="0"/>
          </a:p>
        </p:txBody>
      </p:sp>
      <p:sp>
        <p:nvSpPr>
          <p:cNvPr id="29" name="Text 23"/>
          <p:cNvSpPr txBox="1"/>
          <p:nvPr/>
        </p:nvSpPr>
        <p:spPr>
          <a:xfrm>
            <a:off x="3714750" y="2595799"/>
            <a:ext cx="2082820" cy="775320"/>
          </a:xfrm>
          <a:prstGeom prst="rect">
            <a:avLst/>
          </a:prstGeom>
          <a:noFill/>
          <a:ln/>
        </p:spPr>
        <p:txBody>
          <a:bodyPr wrap="square" lIns="0" tIns="0" rIns="0" bIns="0" rtlCol="0" anchor="t"/>
          <a:lstStyle/>
          <a:p>
            <a:pPr algn="l" indent="0" marL="0">
              <a:lnSpc>
                <a:spcPts val="1221"/>
              </a:lnSpc>
              <a:buNone/>
            </a:pPr>
            <a:r>
              <a:rPr lang="en-US" sz="825" dirty="0">
                <a:solidFill>
                  <a:srgbClr val="5B4339"/>
                </a:solidFill>
                <a:latin typeface="Inter" pitchFamily="34" charset="0"/>
                <a:ea typeface="Inter" pitchFamily="34" charset="-122"/>
                <a:cs typeface="Inter" pitchFamily="34" charset="-120"/>
              </a:rPr>
              <a:t>When the shop later sells goods, it can subtract the ₹18,000 it already paid from the GST it owes. This credit is called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input tax credit (ITC)</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and it works like cash in hand.</a:t>
            </a:r>
            <a:endParaRPr lang="en-US" sz="825" dirty="0"/>
          </a:p>
        </p:txBody>
      </p:sp>
      <p:pic>
        <p:nvPicPr>
          <p:cNvPr id="30" name="Image 4" descr="D:\Projects\20. fintechthon\deck\out\assets\s2_img004.png">    </p:cNvPr>
          <p:cNvPicPr>
            <a:picLocks noChangeAspect="1"/>
          </p:cNvPicPr>
          <p:nvPr/>
        </p:nvPicPr>
        <p:blipFill>
          <a:blip r:embed="rId5"/>
          <a:stretch>
            <a:fillRect/>
          </a:stretch>
        </p:blipFill>
        <p:spPr>
          <a:xfrm>
            <a:off x="5988040" y="2736891"/>
            <a:ext cx="203180" cy="203180"/>
          </a:xfrm>
          <a:prstGeom prst="rect">
            <a:avLst/>
          </a:prstGeom>
        </p:spPr>
      </p:pic>
      <p:sp>
        <p:nvSpPr>
          <p:cNvPr id="31" name="Shape 24"/>
          <p:cNvSpPr/>
          <p:nvPr/>
        </p:nvSpPr>
        <p:spPr>
          <a:xfrm>
            <a:off x="6223041" y="2019270"/>
            <a:ext cx="2400300" cy="1625620"/>
          </a:xfrm>
          <a:prstGeom prst="roundRect">
            <a:avLst>
              <a:gd name="adj" fmla="val 7813"/>
            </a:avLst>
          </a:prstGeom>
          <a:solidFill>
            <a:srgbClr val="FFFFFF"/>
          </a:solidFill>
          <a:ln w="6350">
            <a:solidFill>
              <a:srgbClr val="24110C">
                <a:alpha val="13000"/>
              </a:srgbClr>
            </a:solidFill>
            <a:prstDash val="solid"/>
          </a:ln>
        </p:spPr>
      </p:sp>
      <p:sp>
        <p:nvSpPr>
          <p:cNvPr id="32" name="Shape 25"/>
          <p:cNvSpPr/>
          <p:nvPr/>
        </p:nvSpPr>
        <p:spPr>
          <a:xfrm>
            <a:off x="6369070" y="1924080"/>
            <a:ext cx="215890" cy="215890"/>
          </a:xfrm>
          <a:prstGeom prst="ellipse">
            <a:avLst/>
          </a:prstGeom>
          <a:solidFill>
            <a:srgbClr val="24110C"/>
          </a:solidFill>
          <a:ln/>
        </p:spPr>
      </p:sp>
      <p:sp>
        <p:nvSpPr>
          <p:cNvPr id="33" name="Text 26"/>
          <p:cNvSpPr txBox="1"/>
          <p:nvPr/>
        </p:nvSpPr>
        <p:spPr>
          <a:xfrm>
            <a:off x="6447892" y="1959651"/>
            <a:ext cx="90526" cy="101590"/>
          </a:xfrm>
          <a:prstGeom prst="rect">
            <a:avLst/>
          </a:prstGeom>
          <a:noFill/>
          <a:ln/>
        </p:spPr>
        <p:txBody>
          <a:bodyPr wrap="none" lIns="0" tIns="0" rIns="0" bIns="0" rtlCol="0" anchor="t"/>
          <a:lstStyle/>
          <a:p>
            <a:pPr algn="l" indent="0" marL="0">
              <a:buNone/>
            </a:pPr>
            <a:r>
              <a:rPr lang="en-US" sz="850" b="1" dirty="0">
                <a:solidFill>
                  <a:srgbClr val="FFFFFF"/>
                </a:solidFill>
                <a:latin typeface="League Spartan" pitchFamily="34" charset="0"/>
                <a:ea typeface="League Spartan" pitchFamily="34" charset="-122"/>
                <a:cs typeface="League Spartan" pitchFamily="34" charset="-120"/>
              </a:rPr>
              <a:t>3</a:t>
            </a:r>
            <a:endParaRPr lang="en-US" sz="850" dirty="0"/>
          </a:p>
        </p:txBody>
      </p:sp>
      <p:sp>
        <p:nvSpPr>
          <p:cNvPr id="34" name="Shape 27"/>
          <p:cNvSpPr/>
          <p:nvPr/>
        </p:nvSpPr>
        <p:spPr>
          <a:xfrm>
            <a:off x="6381780" y="2165391"/>
            <a:ext cx="355610" cy="355610"/>
          </a:xfrm>
          <a:prstGeom prst="roundRect">
            <a:avLst>
              <a:gd name="adj" fmla="val 28568"/>
            </a:avLst>
          </a:prstGeom>
          <a:solidFill>
            <a:srgbClr val="FBEFD2"/>
          </a:solidFill>
          <a:ln/>
        </p:spPr>
      </p:sp>
      <p:pic>
        <p:nvPicPr>
          <p:cNvPr id="35" name="Image 5" descr="D:\Projects\20. fintechthon\deck\out\assets\s2_img005.png">    </p:cNvPr>
          <p:cNvPicPr>
            <a:picLocks noChangeAspect="1"/>
          </p:cNvPicPr>
          <p:nvPr/>
        </p:nvPicPr>
        <p:blipFill>
          <a:blip r:embed="rId6"/>
          <a:stretch>
            <a:fillRect/>
          </a:stretch>
        </p:blipFill>
        <p:spPr>
          <a:xfrm>
            <a:off x="6457950" y="2241560"/>
            <a:ext cx="203180" cy="203180"/>
          </a:xfrm>
          <a:prstGeom prst="rect">
            <a:avLst/>
          </a:prstGeom>
        </p:spPr>
      </p:pic>
      <p:sp>
        <p:nvSpPr>
          <p:cNvPr id="36" name="Text 28"/>
          <p:cNvSpPr txBox="1"/>
          <p:nvPr/>
        </p:nvSpPr>
        <p:spPr>
          <a:xfrm>
            <a:off x="6826270" y="2143811"/>
            <a:ext cx="1638330" cy="335310"/>
          </a:xfrm>
          <a:prstGeom prst="rect">
            <a:avLst/>
          </a:prstGeom>
          <a:noFill/>
          <a:ln/>
        </p:spPr>
        <p:txBody>
          <a:bodyPr wrap="square" lIns="0" tIns="0" rIns="0" bIns="0" rtlCol="0" anchor="t"/>
          <a:lstStyle/>
          <a:p>
            <a:pPr algn="l" indent="0" marL="0">
              <a:lnSpc>
                <a:spcPts val="1320"/>
              </a:lnSpc>
              <a:buNone/>
            </a:pPr>
            <a:r>
              <a:rPr lang="en-US" sz="1200" b="1" dirty="0">
                <a:solidFill>
                  <a:srgbClr val="24110C"/>
                </a:solidFill>
                <a:latin typeface="League Spartan" pitchFamily="34" charset="0"/>
                <a:ea typeface="League Spartan" pitchFamily="34" charset="-122"/>
                <a:cs typeface="League Spartan" pitchFamily="34" charset="-120"/>
              </a:rPr>
              <a:t>Only if every record agrees</a:t>
            </a:r>
            <a:endParaRPr lang="en-US" sz="1200" dirty="0"/>
          </a:p>
        </p:txBody>
      </p:sp>
      <p:sp>
        <p:nvSpPr>
          <p:cNvPr id="37" name="Text 29"/>
          <p:cNvSpPr txBox="1"/>
          <p:nvPr/>
        </p:nvSpPr>
        <p:spPr>
          <a:xfrm>
            <a:off x="6381780" y="2595799"/>
            <a:ext cx="2082820" cy="775320"/>
          </a:xfrm>
          <a:prstGeom prst="rect">
            <a:avLst/>
          </a:prstGeom>
          <a:noFill/>
          <a:ln/>
        </p:spPr>
        <p:txBody>
          <a:bodyPr wrap="square" lIns="0" tIns="0" rIns="0" bIns="0" rtlCol="0" anchor="t"/>
          <a:lstStyle/>
          <a:p>
            <a:pPr algn="l" indent="0" marL="0">
              <a:lnSpc>
                <a:spcPts val="1221"/>
              </a:lnSpc>
              <a:buNone/>
            </a:pPr>
            <a:r>
              <a:rPr lang="en-US" sz="825" dirty="0">
                <a:solidFill>
                  <a:srgbClr val="5B4339"/>
                </a:solidFill>
                <a:latin typeface="Inter" pitchFamily="34" charset="0"/>
                <a:ea typeface="Inter" pitchFamily="34" charset="-122"/>
                <a:cs typeface="Inter" pitchFamily="34" charset="-120"/>
              </a:rPr>
              <a:t>The supplier must report the same sale on the GST portal, the bill must charge the right rate, and the shop must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pay within 180 days</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Books, bank and portal must all tell one story.</a:t>
            </a:r>
            <a:endParaRPr lang="en-US" sz="825" dirty="0"/>
          </a:p>
        </p:txBody>
      </p:sp>
      <p:pic>
        <p:nvPicPr>
          <p:cNvPr id="38" name="Image 6" descr="D:\Projects\20. fintechthon\deck\out\assets\s2_img006.png">    </p:cNvPr>
          <p:cNvPicPr>
            <a:picLocks noChangeAspect="1"/>
          </p:cNvPicPr>
          <p:nvPr/>
        </p:nvPicPr>
        <p:blipFill>
          <a:blip r:embed="rId7"/>
          <a:stretch>
            <a:fillRect/>
          </a:stretch>
        </p:blipFill>
        <p:spPr>
          <a:xfrm>
            <a:off x="8655070" y="2736891"/>
            <a:ext cx="203180" cy="203180"/>
          </a:xfrm>
          <a:prstGeom prst="rect">
            <a:avLst/>
          </a:prstGeom>
        </p:spPr>
      </p:pic>
      <p:sp>
        <p:nvSpPr>
          <p:cNvPr id="39" name="Shape 30"/>
          <p:cNvSpPr/>
          <p:nvPr/>
        </p:nvSpPr>
        <p:spPr>
          <a:xfrm>
            <a:off x="8889980" y="2019270"/>
            <a:ext cx="2400300" cy="1625620"/>
          </a:xfrm>
          <a:prstGeom prst="roundRect">
            <a:avLst>
              <a:gd name="adj" fmla="val 7813"/>
            </a:avLst>
          </a:prstGeom>
          <a:solidFill>
            <a:srgbClr val="FFF6F5"/>
          </a:solidFill>
          <a:ln w="6350">
            <a:solidFill>
              <a:srgbClr val="F1B8B3"/>
            </a:solidFill>
            <a:prstDash val="solid"/>
          </a:ln>
        </p:spPr>
      </p:sp>
      <p:sp>
        <p:nvSpPr>
          <p:cNvPr id="40" name="Shape 31"/>
          <p:cNvSpPr/>
          <p:nvPr/>
        </p:nvSpPr>
        <p:spPr>
          <a:xfrm>
            <a:off x="9036009" y="1924080"/>
            <a:ext cx="215890" cy="215890"/>
          </a:xfrm>
          <a:prstGeom prst="ellipse">
            <a:avLst/>
          </a:prstGeom>
          <a:solidFill>
            <a:srgbClr val="D64545"/>
          </a:solidFill>
          <a:ln/>
        </p:spPr>
      </p:sp>
      <p:sp>
        <p:nvSpPr>
          <p:cNvPr id="41" name="Text 32"/>
          <p:cNvSpPr txBox="1"/>
          <p:nvPr/>
        </p:nvSpPr>
        <p:spPr>
          <a:xfrm>
            <a:off x="9115562" y="1959651"/>
            <a:ext cx="89063" cy="101590"/>
          </a:xfrm>
          <a:prstGeom prst="rect">
            <a:avLst/>
          </a:prstGeom>
          <a:noFill/>
          <a:ln/>
        </p:spPr>
        <p:txBody>
          <a:bodyPr wrap="none" lIns="0" tIns="0" rIns="0" bIns="0" rtlCol="0" anchor="t"/>
          <a:lstStyle/>
          <a:p>
            <a:pPr algn="l" indent="0" marL="0">
              <a:buNone/>
            </a:pPr>
            <a:r>
              <a:rPr lang="en-US" sz="850" b="1" dirty="0">
                <a:solidFill>
                  <a:srgbClr val="FFFFFF"/>
                </a:solidFill>
                <a:latin typeface="League Spartan" pitchFamily="34" charset="0"/>
                <a:ea typeface="League Spartan" pitchFamily="34" charset="-122"/>
                <a:cs typeface="League Spartan" pitchFamily="34" charset="-120"/>
              </a:rPr>
              <a:t>4</a:t>
            </a:r>
            <a:endParaRPr lang="en-US" sz="850" dirty="0"/>
          </a:p>
        </p:txBody>
      </p:sp>
      <p:sp>
        <p:nvSpPr>
          <p:cNvPr id="42" name="Shape 33"/>
          <p:cNvSpPr/>
          <p:nvPr/>
        </p:nvSpPr>
        <p:spPr>
          <a:xfrm>
            <a:off x="9048720" y="2165391"/>
            <a:ext cx="355610" cy="355610"/>
          </a:xfrm>
          <a:prstGeom prst="roundRect">
            <a:avLst>
              <a:gd name="adj" fmla="val 28568"/>
            </a:avLst>
          </a:prstGeom>
          <a:solidFill>
            <a:srgbClr val="FBE1DF"/>
          </a:solidFill>
          <a:ln/>
        </p:spPr>
      </p:sp>
      <p:pic>
        <p:nvPicPr>
          <p:cNvPr id="43" name="Image 7" descr="D:\Projects\20. fintechthon\deck\out\assets\s2_img007.png">    </p:cNvPr>
          <p:cNvPicPr>
            <a:picLocks noChangeAspect="1"/>
          </p:cNvPicPr>
          <p:nvPr/>
        </p:nvPicPr>
        <p:blipFill>
          <a:blip r:embed="rId8"/>
          <a:stretch>
            <a:fillRect/>
          </a:stretch>
        </p:blipFill>
        <p:spPr>
          <a:xfrm>
            <a:off x="9124980" y="2241560"/>
            <a:ext cx="203180" cy="203180"/>
          </a:xfrm>
          <a:prstGeom prst="rect">
            <a:avLst/>
          </a:prstGeom>
        </p:spPr>
      </p:pic>
      <p:sp>
        <p:nvSpPr>
          <p:cNvPr id="44" name="Text 34"/>
          <p:cNvSpPr txBox="1"/>
          <p:nvPr/>
        </p:nvSpPr>
        <p:spPr>
          <a:xfrm>
            <a:off x="9493209" y="2143811"/>
            <a:ext cx="1638330" cy="335310"/>
          </a:xfrm>
          <a:prstGeom prst="rect">
            <a:avLst/>
          </a:prstGeom>
          <a:noFill/>
          <a:ln/>
        </p:spPr>
        <p:txBody>
          <a:bodyPr wrap="square" lIns="0" tIns="0" rIns="0" bIns="0" rtlCol="0" anchor="t"/>
          <a:lstStyle/>
          <a:p>
            <a:pPr algn="l" indent="0" marL="0">
              <a:lnSpc>
                <a:spcPts val="1320"/>
              </a:lnSpc>
              <a:buNone/>
            </a:pPr>
            <a:r>
              <a:rPr lang="en-US" sz="1200" b="1" dirty="0">
                <a:solidFill>
                  <a:srgbClr val="24110C"/>
                </a:solidFill>
                <a:latin typeface="League Spartan" pitchFamily="34" charset="0"/>
                <a:ea typeface="League Spartan" pitchFamily="34" charset="-122"/>
                <a:cs typeface="League Spartan" pitchFamily="34" charset="-120"/>
              </a:rPr>
              <a:t>One mismatch, money gone</a:t>
            </a:r>
            <a:endParaRPr lang="en-US" sz="1200" dirty="0"/>
          </a:p>
        </p:txBody>
      </p:sp>
      <p:sp>
        <p:nvSpPr>
          <p:cNvPr id="45" name="Text 35"/>
          <p:cNvSpPr txBox="1"/>
          <p:nvPr/>
        </p:nvSpPr>
        <p:spPr>
          <a:xfrm>
            <a:off x="9048720" y="2595799"/>
            <a:ext cx="2082820" cy="620238"/>
          </a:xfrm>
          <a:prstGeom prst="rect">
            <a:avLst/>
          </a:prstGeom>
          <a:noFill/>
          <a:ln/>
        </p:spPr>
        <p:txBody>
          <a:bodyPr wrap="square" lIns="0" tIns="0" rIns="0" bIns="0" rtlCol="0" anchor="t"/>
          <a:lstStyle/>
          <a:p>
            <a:pPr algn="l" indent="0" marL="0">
              <a:lnSpc>
                <a:spcPts val="1221"/>
              </a:lnSpc>
              <a:buNone/>
            </a:pPr>
            <a:r>
              <a:rPr lang="en-US" sz="825" dirty="0">
                <a:solidFill>
                  <a:srgbClr val="5B4339"/>
                </a:solidFill>
                <a:latin typeface="Inter" pitchFamily="34" charset="0"/>
                <a:ea typeface="Inter" pitchFamily="34" charset="-122"/>
                <a:cs typeface="Inter" pitchFamily="34" charset="-120"/>
              </a:rPr>
              <a:t>If even one detail differs, the credit is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denied</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the business pays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interest</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or a </a:t>
            </a:r>
            <a:pPr algn="l" indent="0" marL="0">
              <a:lnSpc>
                <a:spcPts val="1221"/>
              </a:lnSpc>
              <a:buNone/>
            </a:pPr>
            <a:r>
              <a:rPr lang="en-US" sz="825" b="1" dirty="0">
                <a:solidFill>
                  <a:srgbClr val="24110C"/>
                </a:solidFill>
                <a:latin typeface="Inter" pitchFamily="34" charset="0"/>
                <a:ea typeface="Inter" pitchFamily="34" charset="-122"/>
                <a:cs typeface="Inter" pitchFamily="34" charset="-120"/>
              </a:rPr>
              <a:t>tax notice</a:t>
            </a:r>
            <a:pPr algn="l" indent="0" marL="0">
              <a:lnSpc>
                <a:spcPts val="1221"/>
              </a:lnSpc>
              <a:buNone/>
            </a:pPr>
            <a:r>
              <a:rPr lang="en-US" sz="825" dirty="0">
                <a:solidFill>
                  <a:srgbClr val="5B4339"/>
                </a:solidFill>
                <a:latin typeface="Inter" pitchFamily="34" charset="0"/>
                <a:ea typeface="Inter" pitchFamily="34" charset="-122"/>
                <a:cs typeface="Inter" pitchFamily="34" charset="-120"/>
              </a:rPr>
              <a:t> arrives months later. Often it surfaces only when it is too late to fix.</a:t>
            </a:r>
            <a:endParaRPr lang="en-US" sz="825" dirty="0"/>
          </a:p>
        </p:txBody>
      </p:sp>
      <p:sp>
        <p:nvSpPr>
          <p:cNvPr id="46" name="Shape 36"/>
          <p:cNvSpPr/>
          <p:nvPr/>
        </p:nvSpPr>
        <p:spPr>
          <a:xfrm>
            <a:off x="888980" y="3822741"/>
            <a:ext cx="6096030" cy="1816090"/>
          </a:xfrm>
          <a:prstGeom prst="roundRect">
            <a:avLst>
              <a:gd name="adj" fmla="val 6294"/>
            </a:avLst>
          </a:prstGeom>
          <a:solidFill>
            <a:srgbClr val="FFF7EC"/>
          </a:solidFill>
          <a:ln w="6350">
            <a:solidFill>
              <a:srgbClr val="24110C">
                <a:alpha val="13000"/>
              </a:srgbClr>
            </a:solidFill>
            <a:prstDash val="solid"/>
          </a:ln>
        </p:spPr>
      </p:sp>
      <p:sp>
        <p:nvSpPr>
          <p:cNvPr id="47" name="Text 37"/>
          <p:cNvSpPr txBox="1"/>
          <p:nvPr/>
        </p:nvSpPr>
        <p:spPr>
          <a:xfrm>
            <a:off x="1060430" y="3926799"/>
            <a:ext cx="3002981" cy="133320"/>
          </a:xfrm>
          <a:prstGeom prst="rect">
            <a:avLst/>
          </a:prstGeom>
          <a:noFill/>
          <a:ln/>
        </p:spPr>
        <p:txBody>
          <a:bodyPr wrap="none" lIns="0" tIns="0" rIns="0" bIns="0" rtlCol="0" anchor="t"/>
          <a:lstStyle/>
          <a:p>
            <a:pPr algn="l" indent="0" marL="0">
              <a:buNone/>
            </a:pPr>
            <a:r>
              <a:rPr lang="en-US" sz="1150" b="1" dirty="0">
                <a:solidFill>
                  <a:srgbClr val="24110C"/>
                </a:solidFill>
                <a:latin typeface="League Spartan" pitchFamily="34" charset="0"/>
                <a:ea typeface="League Spartan" pitchFamily="34" charset="-122"/>
                <a:cs typeface="League Spartan" pitchFamily="34" charset="-120"/>
              </a:rPr>
              <a:t>Today, an accountant checks this by hand</a:t>
            </a:r>
            <a:endParaRPr lang="en-US" sz="1150" dirty="0"/>
          </a:p>
        </p:txBody>
      </p:sp>
      <p:sp>
        <p:nvSpPr>
          <p:cNvPr id="48" name="Text 38"/>
          <p:cNvSpPr txBox="1"/>
          <p:nvPr/>
        </p:nvSpPr>
        <p:spPr>
          <a:xfrm>
            <a:off x="1060430" y="4114800"/>
            <a:ext cx="5525171" cy="120609"/>
          </a:xfrm>
          <a:prstGeom prst="rect">
            <a:avLst/>
          </a:prstGeom>
          <a:noFill/>
          <a:ln/>
        </p:spPr>
        <p:txBody>
          <a:bodyPr wrap="none" lIns="0" tIns="0" rIns="0" bIns="0" rtlCol="0" anchor="t"/>
          <a:lstStyle/>
          <a:p>
            <a:pPr algn="l" indent="0" marL="0">
              <a:buNone/>
            </a:pPr>
            <a:r>
              <a:rPr lang="en-US" sz="775" dirty="0">
                <a:solidFill>
                  <a:srgbClr val="5B4339"/>
                </a:solidFill>
                <a:latin typeface="Inter" pitchFamily="34" charset="0"/>
                <a:ea typeface="Inter" pitchFamily="34" charset="-122"/>
                <a:cs typeface="Inter" pitchFamily="34" charset="-120"/>
              </a:rPr>
              <a:t>Every month, four sets of records are downloaded and compared line by line to find what does not match.</a:t>
            </a:r>
            <a:endParaRPr lang="en-US" sz="775" dirty="0"/>
          </a:p>
        </p:txBody>
      </p:sp>
      <p:sp>
        <p:nvSpPr>
          <p:cNvPr id="49" name="Shape 39"/>
          <p:cNvSpPr/>
          <p:nvPr/>
        </p:nvSpPr>
        <p:spPr>
          <a:xfrm>
            <a:off x="1060430" y="4352910"/>
            <a:ext cx="1153333" cy="222291"/>
          </a:xfrm>
          <a:prstGeom prst="roundRect">
            <a:avLst>
              <a:gd name="adj" fmla="val 50000"/>
            </a:avLst>
          </a:prstGeom>
          <a:solidFill>
            <a:srgbClr val="FFFFFF"/>
          </a:solidFill>
          <a:ln w="6350">
            <a:solidFill>
              <a:srgbClr val="24110C">
                <a:alpha val="13000"/>
              </a:srgbClr>
            </a:solidFill>
            <a:prstDash val="solid"/>
          </a:ln>
        </p:spPr>
      </p:sp>
      <p:sp>
        <p:nvSpPr>
          <p:cNvPr id="50" name="Text 40"/>
          <p:cNvSpPr txBox="1"/>
          <p:nvPr/>
        </p:nvSpPr>
        <p:spPr>
          <a:xfrm>
            <a:off x="1295430" y="4403750"/>
            <a:ext cx="961492" cy="120609"/>
          </a:xfrm>
          <a:prstGeom prst="rect">
            <a:avLst/>
          </a:prstGeom>
          <a:noFill/>
          <a:ln/>
        </p:spPr>
        <p:txBody>
          <a:bodyPr wrap="none" lIns="0" tIns="0" rIns="0" bIns="0" rtlCol="0" anchor="t"/>
          <a:lstStyle/>
          <a:p>
            <a:pPr algn="l" indent="0" marL="0">
              <a:buNone/>
            </a:pPr>
            <a:r>
              <a:rPr lang="en-US" sz="750" dirty="0">
                <a:solidFill>
                  <a:srgbClr val="24110C"/>
                </a:solidFill>
                <a:latin typeface="Inter SemiBold" pitchFamily="34" charset="0"/>
                <a:ea typeface="Inter SemiBold" pitchFamily="34" charset="-122"/>
                <a:cs typeface="Inter SemiBold" pitchFamily="34" charset="-120"/>
              </a:rPr>
              <a:t>Accounting books</a:t>
            </a:r>
            <a:endParaRPr lang="en-US" sz="750" dirty="0"/>
          </a:p>
        </p:txBody>
      </p:sp>
      <p:pic>
        <p:nvPicPr>
          <p:cNvPr id="51" name="Image 8" descr="D:\Projects\20. fintechthon\deck\out\assets\s2_img008.png">    </p:cNvPr>
          <p:cNvPicPr>
            <a:picLocks noChangeAspect="1"/>
          </p:cNvPicPr>
          <p:nvPr/>
        </p:nvPicPr>
        <p:blipFill>
          <a:blip r:embed="rId9"/>
          <a:stretch>
            <a:fillRect/>
          </a:stretch>
        </p:blipFill>
        <p:spPr>
          <a:xfrm>
            <a:off x="1136691" y="4400550"/>
            <a:ext cx="127010" cy="127010"/>
          </a:xfrm>
          <a:prstGeom prst="rect">
            <a:avLst/>
          </a:prstGeom>
        </p:spPr>
      </p:pic>
      <p:sp>
        <p:nvSpPr>
          <p:cNvPr id="52" name="Shape 41"/>
          <p:cNvSpPr/>
          <p:nvPr/>
        </p:nvSpPr>
        <p:spPr>
          <a:xfrm>
            <a:off x="2270912" y="4352910"/>
            <a:ext cx="1153333" cy="222291"/>
          </a:xfrm>
          <a:prstGeom prst="roundRect">
            <a:avLst>
              <a:gd name="adj" fmla="val 50000"/>
            </a:avLst>
          </a:prstGeom>
          <a:solidFill>
            <a:srgbClr val="FFFFFF"/>
          </a:solidFill>
          <a:ln w="6350">
            <a:solidFill>
              <a:srgbClr val="24110C">
                <a:alpha val="13000"/>
              </a:srgbClr>
            </a:solidFill>
            <a:prstDash val="solid"/>
          </a:ln>
        </p:spPr>
      </p:sp>
      <p:sp>
        <p:nvSpPr>
          <p:cNvPr id="53" name="Text 42"/>
          <p:cNvSpPr txBox="1"/>
          <p:nvPr/>
        </p:nvSpPr>
        <p:spPr>
          <a:xfrm>
            <a:off x="2505913" y="4403750"/>
            <a:ext cx="828629" cy="120609"/>
          </a:xfrm>
          <a:prstGeom prst="rect">
            <a:avLst/>
          </a:prstGeom>
          <a:noFill/>
          <a:ln/>
        </p:spPr>
        <p:txBody>
          <a:bodyPr wrap="none" lIns="0" tIns="0" rIns="0" bIns="0" rtlCol="0" anchor="t"/>
          <a:lstStyle/>
          <a:p>
            <a:pPr algn="l" indent="0" marL="0">
              <a:buNone/>
            </a:pPr>
            <a:r>
              <a:rPr lang="en-US" sz="750" dirty="0">
                <a:solidFill>
                  <a:srgbClr val="24110C"/>
                </a:solidFill>
                <a:latin typeface="Inter SemiBold" pitchFamily="34" charset="0"/>
                <a:ea typeface="Inter SemiBold" pitchFamily="34" charset="-122"/>
                <a:cs typeface="Inter SemiBold" pitchFamily="34" charset="-120"/>
              </a:rPr>
              <a:t>GST portal data</a:t>
            </a:r>
            <a:endParaRPr lang="en-US" sz="750" dirty="0"/>
          </a:p>
        </p:txBody>
      </p:sp>
      <p:pic>
        <p:nvPicPr>
          <p:cNvPr id="54" name="Image 9" descr="D:\Projects\20. fintechthon\deck\out\assets\s2_img009.png">    </p:cNvPr>
          <p:cNvPicPr>
            <a:picLocks noChangeAspect="1"/>
          </p:cNvPicPr>
          <p:nvPr/>
        </p:nvPicPr>
        <p:blipFill>
          <a:blip r:embed="rId10"/>
          <a:stretch>
            <a:fillRect/>
          </a:stretch>
        </p:blipFill>
        <p:spPr>
          <a:xfrm>
            <a:off x="2347082" y="4400550"/>
            <a:ext cx="127010" cy="127010"/>
          </a:xfrm>
          <a:prstGeom prst="rect">
            <a:avLst/>
          </a:prstGeom>
        </p:spPr>
      </p:pic>
      <p:sp>
        <p:nvSpPr>
          <p:cNvPr id="55" name="Shape 43"/>
          <p:cNvSpPr/>
          <p:nvPr/>
        </p:nvSpPr>
        <p:spPr>
          <a:xfrm>
            <a:off x="1060430" y="4632350"/>
            <a:ext cx="1153333" cy="222291"/>
          </a:xfrm>
          <a:prstGeom prst="roundRect">
            <a:avLst>
              <a:gd name="adj" fmla="val 50000"/>
            </a:avLst>
          </a:prstGeom>
          <a:solidFill>
            <a:srgbClr val="FFFFFF"/>
          </a:solidFill>
          <a:ln w="6350">
            <a:solidFill>
              <a:srgbClr val="24110C">
                <a:alpha val="13000"/>
              </a:srgbClr>
            </a:solidFill>
            <a:prstDash val="solid"/>
          </a:ln>
        </p:spPr>
      </p:sp>
      <p:sp>
        <p:nvSpPr>
          <p:cNvPr id="56" name="Text 44"/>
          <p:cNvSpPr txBox="1"/>
          <p:nvPr/>
        </p:nvSpPr>
        <p:spPr>
          <a:xfrm>
            <a:off x="1295430" y="4683100"/>
            <a:ext cx="829727" cy="120609"/>
          </a:xfrm>
          <a:prstGeom prst="rect">
            <a:avLst/>
          </a:prstGeom>
          <a:noFill/>
          <a:ln/>
        </p:spPr>
        <p:txBody>
          <a:bodyPr wrap="none" lIns="0" tIns="0" rIns="0" bIns="0" rtlCol="0" anchor="t"/>
          <a:lstStyle/>
          <a:p>
            <a:pPr algn="l" indent="0" marL="0">
              <a:buNone/>
            </a:pPr>
            <a:r>
              <a:rPr lang="en-US" sz="750" dirty="0">
                <a:solidFill>
                  <a:srgbClr val="24110C"/>
                </a:solidFill>
                <a:latin typeface="Inter SemiBold" pitchFamily="34" charset="0"/>
                <a:ea typeface="Inter SemiBold" pitchFamily="34" charset="-122"/>
                <a:cs typeface="Inter SemiBold" pitchFamily="34" charset="-120"/>
              </a:rPr>
              <a:t>Bank statement</a:t>
            </a:r>
            <a:endParaRPr lang="en-US" sz="750" dirty="0"/>
          </a:p>
        </p:txBody>
      </p:sp>
      <p:pic>
        <p:nvPicPr>
          <p:cNvPr id="57" name="Image 10" descr="D:\Projects\20. fintechthon\deck\out\assets\s2_img010.png">    </p:cNvPr>
          <p:cNvPicPr>
            <a:picLocks noChangeAspect="1"/>
          </p:cNvPicPr>
          <p:nvPr/>
        </p:nvPicPr>
        <p:blipFill>
          <a:blip r:embed="rId11"/>
          <a:stretch>
            <a:fillRect/>
          </a:stretch>
        </p:blipFill>
        <p:spPr>
          <a:xfrm>
            <a:off x="1136691" y="4679991"/>
            <a:ext cx="127010" cy="127010"/>
          </a:xfrm>
          <a:prstGeom prst="rect">
            <a:avLst/>
          </a:prstGeom>
        </p:spPr>
      </p:pic>
      <p:sp>
        <p:nvSpPr>
          <p:cNvPr id="58" name="Shape 45"/>
          <p:cNvSpPr/>
          <p:nvPr/>
        </p:nvSpPr>
        <p:spPr>
          <a:xfrm>
            <a:off x="2270912" y="4632350"/>
            <a:ext cx="1153333" cy="222291"/>
          </a:xfrm>
          <a:prstGeom prst="roundRect">
            <a:avLst>
              <a:gd name="adj" fmla="val 50000"/>
            </a:avLst>
          </a:prstGeom>
          <a:solidFill>
            <a:srgbClr val="FFFFFF"/>
          </a:solidFill>
          <a:ln w="6350">
            <a:solidFill>
              <a:srgbClr val="24110C">
                <a:alpha val="13000"/>
              </a:srgbClr>
            </a:solidFill>
            <a:prstDash val="solid"/>
          </a:ln>
        </p:spPr>
      </p:sp>
      <p:sp>
        <p:nvSpPr>
          <p:cNvPr id="59" name="Text 46"/>
          <p:cNvSpPr txBox="1"/>
          <p:nvPr/>
        </p:nvSpPr>
        <p:spPr>
          <a:xfrm>
            <a:off x="2505913" y="4683100"/>
            <a:ext cx="913760" cy="120609"/>
          </a:xfrm>
          <a:prstGeom prst="rect">
            <a:avLst/>
          </a:prstGeom>
          <a:noFill/>
          <a:ln/>
        </p:spPr>
        <p:txBody>
          <a:bodyPr wrap="none" lIns="0" tIns="0" rIns="0" bIns="0" rtlCol="0" anchor="t"/>
          <a:lstStyle/>
          <a:p>
            <a:pPr algn="l" indent="0" marL="0">
              <a:buNone/>
            </a:pPr>
            <a:r>
              <a:rPr lang="en-US" sz="750" dirty="0">
                <a:solidFill>
                  <a:srgbClr val="24110C"/>
                </a:solidFill>
                <a:latin typeface="Inter SemiBold" pitchFamily="34" charset="0"/>
                <a:ea typeface="Inter SemiBold" pitchFamily="34" charset="-122"/>
                <a:cs typeface="Inter SemiBold" pitchFamily="34" charset="-120"/>
              </a:rPr>
              <a:t>Bills and invoices</a:t>
            </a:r>
            <a:endParaRPr lang="en-US" sz="750" dirty="0"/>
          </a:p>
        </p:txBody>
      </p:sp>
      <p:pic>
        <p:nvPicPr>
          <p:cNvPr id="60" name="Image 11" descr="D:\Projects\20. fintechthon\deck\out\assets\s2_img011.png">    </p:cNvPr>
          <p:cNvPicPr>
            <a:picLocks noChangeAspect="1"/>
          </p:cNvPicPr>
          <p:nvPr/>
        </p:nvPicPr>
        <p:blipFill>
          <a:blip r:embed="rId12"/>
          <a:stretch>
            <a:fillRect/>
          </a:stretch>
        </p:blipFill>
        <p:spPr>
          <a:xfrm>
            <a:off x="2347082" y="4679991"/>
            <a:ext cx="127010" cy="127010"/>
          </a:xfrm>
          <a:prstGeom prst="rect">
            <a:avLst/>
          </a:prstGeom>
        </p:spPr>
      </p:pic>
      <p:pic>
        <p:nvPicPr>
          <p:cNvPr id="61" name="Image 12" descr="D:\Projects\20. fintechthon\deck\out\assets\s2_img012.png">    </p:cNvPr>
          <p:cNvPicPr>
            <a:picLocks noChangeAspect="1"/>
          </p:cNvPicPr>
          <p:nvPr/>
        </p:nvPicPr>
        <p:blipFill>
          <a:blip r:embed="rId13"/>
          <a:stretch>
            <a:fillRect/>
          </a:stretch>
        </p:blipFill>
        <p:spPr>
          <a:xfrm>
            <a:off x="3532144" y="4521159"/>
            <a:ext cx="292059" cy="165141"/>
          </a:xfrm>
          <a:prstGeom prst="rect">
            <a:avLst/>
          </a:prstGeom>
        </p:spPr>
      </p:pic>
      <p:sp>
        <p:nvSpPr>
          <p:cNvPr id="62" name="Shape 47"/>
          <p:cNvSpPr/>
          <p:nvPr/>
        </p:nvSpPr>
        <p:spPr>
          <a:xfrm>
            <a:off x="3932194" y="4337091"/>
            <a:ext cx="952530" cy="533370"/>
          </a:xfrm>
          <a:prstGeom prst="roundRect">
            <a:avLst>
              <a:gd name="adj" fmla="val 16664"/>
            </a:avLst>
          </a:prstGeom>
          <a:solidFill>
            <a:srgbClr val="1E6B3E"/>
          </a:solidFill>
          <a:ln/>
        </p:spPr>
      </p:sp>
      <p:pic>
        <p:nvPicPr>
          <p:cNvPr id="63" name="Image 13" descr="D:\Projects\20. fintechthon\deck\out\assets\s2_img013.png">    </p:cNvPr>
          <p:cNvPicPr>
            <a:picLocks noChangeAspect="1"/>
          </p:cNvPicPr>
          <p:nvPr/>
        </p:nvPicPr>
        <p:blipFill>
          <a:blip r:embed="rId14"/>
          <a:stretch>
            <a:fillRect/>
          </a:stretch>
        </p:blipFill>
        <p:spPr>
          <a:xfrm>
            <a:off x="4306915" y="4372021"/>
            <a:ext cx="203180" cy="203180"/>
          </a:xfrm>
          <a:prstGeom prst="rect">
            <a:avLst/>
          </a:prstGeom>
        </p:spPr>
      </p:pic>
      <p:sp>
        <p:nvSpPr>
          <p:cNvPr id="64" name="Text 48"/>
          <p:cNvSpPr txBox="1"/>
          <p:nvPr/>
        </p:nvSpPr>
        <p:spPr>
          <a:xfrm>
            <a:off x="4095963" y="4587911"/>
            <a:ext cx="725485" cy="127010"/>
          </a:xfrm>
          <a:prstGeom prst="rect">
            <a:avLst/>
          </a:prstGeom>
          <a:noFill/>
          <a:ln/>
        </p:spPr>
        <p:txBody>
          <a:bodyPr wrap="none" lIns="0" tIns="0" rIns="0" bIns="0" rtlCol="0" anchor="t"/>
          <a:lstStyle/>
          <a:p>
            <a:pPr algn="l" indent="0" marL="0">
              <a:buNone/>
            </a:pPr>
            <a:r>
              <a:rPr lang="en-US" sz="800" b="1" dirty="0">
                <a:solidFill>
                  <a:srgbClr val="FFFFFF"/>
                </a:solidFill>
                <a:latin typeface="Inter" pitchFamily="34" charset="0"/>
                <a:ea typeface="Inter" pitchFamily="34" charset="-122"/>
                <a:cs typeface="Inter" pitchFamily="34" charset="-120"/>
              </a:rPr>
              <a:t>Excel sheets</a:t>
            </a:r>
            <a:endParaRPr lang="en-US" sz="800" dirty="0"/>
          </a:p>
        </p:txBody>
      </p:sp>
      <p:sp>
        <p:nvSpPr>
          <p:cNvPr id="65" name="Text 49"/>
          <p:cNvSpPr txBox="1"/>
          <p:nvPr/>
        </p:nvSpPr>
        <p:spPr>
          <a:xfrm>
            <a:off x="4061216" y="4733940"/>
            <a:ext cx="803300" cy="95280"/>
          </a:xfrm>
          <a:prstGeom prst="rect">
            <a:avLst/>
          </a:prstGeom>
          <a:noFill/>
          <a:ln/>
        </p:spPr>
        <p:txBody>
          <a:bodyPr wrap="none" lIns="0" tIns="0" rIns="0" bIns="0" rtlCol="0" anchor="t"/>
          <a:lstStyle/>
          <a:p>
            <a:pPr algn="l" indent="0" marL="0">
              <a:buNone/>
            </a:pPr>
            <a:r>
              <a:rPr lang="en-US" sz="625" dirty="0">
                <a:solidFill>
                  <a:srgbClr val="FFFFFF"/>
                </a:solidFill>
                <a:latin typeface="Inter" pitchFamily="34" charset="0"/>
                <a:ea typeface="Inter" pitchFamily="34" charset="-122"/>
                <a:cs typeface="Inter" pitchFamily="34" charset="-120"/>
              </a:rPr>
              <a:t>thousands of rows</a:t>
            </a:r>
            <a:endParaRPr lang="en-US" sz="625" dirty="0"/>
          </a:p>
        </p:txBody>
      </p:sp>
      <p:pic>
        <p:nvPicPr>
          <p:cNvPr id="66" name="Image 14" descr="D:\Projects\20. fintechthon\deck\out\assets\s2_img014.png">    </p:cNvPr>
          <p:cNvPicPr>
            <a:picLocks noChangeAspect="1"/>
          </p:cNvPicPr>
          <p:nvPr/>
        </p:nvPicPr>
        <p:blipFill>
          <a:blip r:embed="rId15"/>
          <a:stretch>
            <a:fillRect/>
          </a:stretch>
        </p:blipFill>
        <p:spPr>
          <a:xfrm>
            <a:off x="4992715" y="4521159"/>
            <a:ext cx="292059" cy="165141"/>
          </a:xfrm>
          <a:prstGeom prst="rect">
            <a:avLst/>
          </a:prstGeom>
        </p:spPr>
      </p:pic>
      <p:sp>
        <p:nvSpPr>
          <p:cNvPr id="67" name="Shape 50"/>
          <p:cNvSpPr/>
          <p:nvPr/>
        </p:nvSpPr>
        <p:spPr>
          <a:xfrm>
            <a:off x="5392765" y="4337091"/>
            <a:ext cx="1420795" cy="533370"/>
          </a:xfrm>
          <a:prstGeom prst="roundRect">
            <a:avLst>
              <a:gd name="adj" fmla="val 16664"/>
            </a:avLst>
          </a:prstGeom>
          <a:solidFill>
            <a:srgbClr val="FBE1DF"/>
          </a:solidFill>
          <a:ln w="6350">
            <a:solidFill>
              <a:srgbClr val="F1B8B3"/>
            </a:solidFill>
            <a:prstDash val="solid"/>
          </a:ln>
        </p:spPr>
      </p:sp>
      <p:pic>
        <p:nvPicPr>
          <p:cNvPr id="68" name="Image 15" descr="D:\Projects\20. fintechthon\deck\out\assets\s2_img015.png">    </p:cNvPr>
          <p:cNvPicPr>
            <a:picLocks noChangeAspect="1"/>
          </p:cNvPicPr>
          <p:nvPr/>
        </p:nvPicPr>
        <p:blipFill>
          <a:blip r:embed="rId16"/>
          <a:stretch>
            <a:fillRect/>
          </a:stretch>
        </p:blipFill>
        <p:spPr>
          <a:xfrm>
            <a:off x="6007882" y="4378330"/>
            <a:ext cx="190470" cy="190470"/>
          </a:xfrm>
          <a:prstGeom prst="rect">
            <a:avLst/>
          </a:prstGeom>
        </p:spPr>
      </p:pic>
      <p:sp>
        <p:nvSpPr>
          <p:cNvPr id="69" name="Text 51"/>
          <p:cNvSpPr txBox="1"/>
          <p:nvPr/>
        </p:nvSpPr>
        <p:spPr>
          <a:xfrm>
            <a:off x="5619720" y="4581510"/>
            <a:ext cx="966887" cy="127010"/>
          </a:xfrm>
          <a:prstGeom prst="rect">
            <a:avLst/>
          </a:prstGeom>
          <a:noFill/>
          <a:ln/>
        </p:spPr>
        <p:txBody>
          <a:bodyPr wrap="none" lIns="0" tIns="0" rIns="0" bIns="0" rtlCol="0" anchor="t"/>
          <a:lstStyle/>
          <a:p>
            <a:pPr algn="ctr" indent="0" marL="0">
              <a:buNone/>
            </a:pPr>
            <a:r>
              <a:rPr lang="en-US" sz="800" b="1" dirty="0">
                <a:solidFill>
                  <a:srgbClr val="D64545"/>
                </a:solidFill>
                <a:latin typeface="Inter" pitchFamily="34" charset="0"/>
                <a:ea typeface="Inter" pitchFamily="34" charset="-122"/>
                <a:cs typeface="Inter" pitchFamily="34" charset="-120"/>
              </a:rPr>
              <a:t>Slow and manual</a:t>
            </a:r>
            <a:endParaRPr lang="en-US" sz="800" dirty="0"/>
          </a:p>
        </p:txBody>
      </p:sp>
      <p:sp>
        <p:nvSpPr>
          <p:cNvPr id="70" name="Text 52"/>
          <p:cNvSpPr txBox="1"/>
          <p:nvPr/>
        </p:nvSpPr>
        <p:spPr>
          <a:xfrm>
            <a:off x="5392217" y="4727539"/>
            <a:ext cx="1421801" cy="95280"/>
          </a:xfrm>
          <a:prstGeom prst="rect">
            <a:avLst/>
          </a:prstGeom>
          <a:noFill/>
          <a:ln/>
        </p:spPr>
        <p:txBody>
          <a:bodyPr wrap="none" lIns="0" tIns="0" rIns="0" bIns="0" rtlCol="0" anchor="t"/>
          <a:lstStyle/>
          <a:p>
            <a:pPr algn="ctr" indent="0" marL="0">
              <a:buNone/>
            </a:pPr>
            <a:r>
              <a:rPr lang="en-US" sz="625" dirty="0">
                <a:solidFill>
                  <a:srgbClr val="5B4339"/>
                </a:solidFill>
                <a:latin typeface="Inter" pitchFamily="34" charset="0"/>
                <a:ea typeface="Inter" pitchFamily="34" charset="-122"/>
                <a:cs typeface="Inter" pitchFamily="34" charset="-120"/>
              </a:rPr>
              <a:t>and mistakes found late, or never</a:t>
            </a:r>
            <a:endParaRPr lang="en-US" sz="625" dirty="0"/>
          </a:p>
        </p:txBody>
      </p:sp>
      <p:pic>
        <p:nvPicPr>
          <p:cNvPr id="71" name="Image 16" descr="D:\Projects\20. fintechthon\deck\out\assets\s2_img016.png">    </p:cNvPr>
          <p:cNvPicPr>
            <a:picLocks noChangeAspect="1"/>
          </p:cNvPicPr>
          <p:nvPr/>
        </p:nvPicPr>
        <p:blipFill>
          <a:blip r:embed="rId17"/>
          <a:stretch>
            <a:fillRect/>
          </a:stretch>
        </p:blipFill>
        <p:spPr>
          <a:xfrm>
            <a:off x="1054120" y="4965741"/>
            <a:ext cx="127010" cy="127010"/>
          </a:xfrm>
          <a:prstGeom prst="rect">
            <a:avLst/>
          </a:prstGeom>
        </p:spPr>
      </p:pic>
      <p:sp>
        <p:nvSpPr>
          <p:cNvPr id="72" name="Text 53"/>
          <p:cNvSpPr txBox="1"/>
          <p:nvPr/>
        </p:nvSpPr>
        <p:spPr>
          <a:xfrm>
            <a:off x="1225570" y="4972050"/>
            <a:ext cx="2774381"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The same bill written two ways looks like a mismatch</a:t>
            </a:r>
            <a:endParaRPr lang="en-US" sz="775" dirty="0"/>
          </a:p>
        </p:txBody>
      </p:sp>
      <p:pic>
        <p:nvPicPr>
          <p:cNvPr id="73" name="Image 17" descr="D:\Projects\20. fintechthon\deck\out\assets\s2_img017.png">    </p:cNvPr>
          <p:cNvPicPr>
            <a:picLocks noChangeAspect="1"/>
          </p:cNvPicPr>
          <p:nvPr/>
        </p:nvPicPr>
        <p:blipFill>
          <a:blip r:embed="rId18"/>
          <a:stretch>
            <a:fillRect/>
          </a:stretch>
        </p:blipFill>
        <p:spPr>
          <a:xfrm>
            <a:off x="4006809" y="4965741"/>
            <a:ext cx="127010" cy="127010"/>
          </a:xfrm>
          <a:prstGeom prst="rect">
            <a:avLst/>
          </a:prstGeom>
        </p:spPr>
      </p:pic>
      <p:sp>
        <p:nvSpPr>
          <p:cNvPr id="74" name="Text 54"/>
          <p:cNvSpPr txBox="1"/>
          <p:nvPr/>
        </p:nvSpPr>
        <p:spPr>
          <a:xfrm>
            <a:off x="4178259" y="4972050"/>
            <a:ext cx="2559497"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Problems are listed, but not what each one costs</a:t>
            </a:r>
            <a:endParaRPr lang="en-US" sz="775" dirty="0"/>
          </a:p>
        </p:txBody>
      </p:sp>
      <p:pic>
        <p:nvPicPr>
          <p:cNvPr id="75" name="Image 18" descr="D:\Projects\20. fintechthon\deck\out\assets\s2_img018.png">    </p:cNvPr>
          <p:cNvPicPr>
            <a:picLocks noChangeAspect="1"/>
          </p:cNvPicPr>
          <p:nvPr/>
        </p:nvPicPr>
        <p:blipFill>
          <a:blip r:embed="rId19"/>
          <a:stretch>
            <a:fillRect/>
          </a:stretch>
        </p:blipFill>
        <p:spPr>
          <a:xfrm>
            <a:off x="1054120" y="5150724"/>
            <a:ext cx="127010" cy="127010"/>
          </a:xfrm>
          <a:prstGeom prst="rect">
            <a:avLst/>
          </a:prstGeom>
        </p:spPr>
      </p:pic>
      <p:sp>
        <p:nvSpPr>
          <p:cNvPr id="76" name="Text 55"/>
          <p:cNvSpPr txBox="1"/>
          <p:nvPr/>
        </p:nvSpPr>
        <p:spPr>
          <a:xfrm>
            <a:off x="1225570" y="5157125"/>
            <a:ext cx="2692634"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Bills entered twice and wrong tax rates slip through</a:t>
            </a:r>
            <a:endParaRPr lang="en-US" sz="775" dirty="0"/>
          </a:p>
        </p:txBody>
      </p:sp>
      <p:pic>
        <p:nvPicPr>
          <p:cNvPr id="77" name="Image 19" descr="D:\Projects\20. fintechthon\deck\out\assets\s2_img019.png">    </p:cNvPr>
          <p:cNvPicPr>
            <a:picLocks noChangeAspect="1"/>
          </p:cNvPicPr>
          <p:nvPr/>
        </p:nvPicPr>
        <p:blipFill>
          <a:blip r:embed="rId20"/>
          <a:stretch>
            <a:fillRect/>
          </a:stretch>
        </p:blipFill>
        <p:spPr>
          <a:xfrm>
            <a:off x="4006809" y="5150724"/>
            <a:ext cx="127010" cy="127010"/>
          </a:xfrm>
          <a:prstGeom prst="rect">
            <a:avLst/>
          </a:prstGeom>
        </p:spPr>
      </p:pic>
      <p:sp>
        <p:nvSpPr>
          <p:cNvPr id="78" name="Text 56"/>
          <p:cNvSpPr txBox="1"/>
          <p:nvPr/>
        </p:nvSpPr>
        <p:spPr>
          <a:xfrm>
            <a:off x="4178259" y="5157125"/>
            <a:ext cx="2523470"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Fake suppliers are caught only after a tax notice</a:t>
            </a:r>
            <a:endParaRPr lang="en-US" sz="775" dirty="0"/>
          </a:p>
        </p:txBody>
      </p:sp>
      <p:sp>
        <p:nvSpPr>
          <p:cNvPr id="79" name="Shape 57"/>
          <p:cNvSpPr/>
          <p:nvPr/>
        </p:nvSpPr>
        <p:spPr>
          <a:xfrm>
            <a:off x="7137441" y="3822741"/>
            <a:ext cx="4165641" cy="562996"/>
          </a:xfrm>
          <a:prstGeom prst="roundRect">
            <a:avLst>
              <a:gd name="adj" fmla="val 20302"/>
            </a:avLst>
          </a:prstGeom>
          <a:solidFill>
            <a:srgbClr val="FFFFFF"/>
          </a:solidFill>
          <a:ln w="6350">
            <a:solidFill>
              <a:srgbClr val="24110C">
                <a:alpha val="13000"/>
              </a:srgbClr>
            </a:solidFill>
            <a:prstDash val="solid"/>
          </a:ln>
        </p:spPr>
      </p:sp>
      <p:sp>
        <p:nvSpPr>
          <p:cNvPr id="80" name="Text 58"/>
          <p:cNvSpPr txBox="1"/>
          <p:nvPr/>
        </p:nvSpPr>
        <p:spPr>
          <a:xfrm>
            <a:off x="7270760" y="3935943"/>
            <a:ext cx="1246967" cy="234909"/>
          </a:xfrm>
          <a:prstGeom prst="rect">
            <a:avLst/>
          </a:prstGeom>
          <a:noFill/>
          <a:ln/>
        </p:spPr>
        <p:txBody>
          <a:bodyPr wrap="none" lIns="0" tIns="0" rIns="0" bIns="0" rtlCol="0" anchor="t"/>
          <a:lstStyle/>
          <a:p>
            <a:pPr algn="l" indent="0" marL="0">
              <a:buNone/>
            </a:pPr>
            <a:r>
              <a:rPr lang="en-US" sz="2000" dirty="0">
                <a:solidFill>
                  <a:srgbClr val="D2601A"/>
                </a:solidFill>
                <a:latin typeface="League Spartan ExtraBold" pitchFamily="34" charset="0"/>
                <a:ea typeface="League Spartan ExtraBold" pitchFamily="34" charset="-122"/>
                <a:cs typeface="League Spartan ExtraBold" pitchFamily="34" charset="-120"/>
              </a:rPr>
              <a:t>1.67 crore</a:t>
            </a:r>
            <a:endParaRPr lang="en-US" sz="2000" dirty="0"/>
          </a:p>
        </p:txBody>
      </p:sp>
      <p:sp>
        <p:nvSpPr>
          <p:cNvPr id="81" name="Text 59"/>
          <p:cNvSpPr txBox="1"/>
          <p:nvPr/>
        </p:nvSpPr>
        <p:spPr>
          <a:xfrm>
            <a:off x="8591520" y="3909426"/>
            <a:ext cx="2578059" cy="265725"/>
          </a:xfrm>
          <a:prstGeom prst="rect">
            <a:avLst/>
          </a:prstGeom>
          <a:noFill/>
          <a:ln/>
        </p:spPr>
        <p:txBody>
          <a:bodyPr wrap="square" lIns="0" tIns="0" rIns="0" bIns="0" rtlCol="0" anchor="t"/>
          <a:lstStyle/>
          <a:p>
            <a:pPr algn="l" indent="0" marL="0">
              <a:lnSpc>
                <a:spcPts val="1046"/>
              </a:lnSpc>
              <a:buNone/>
            </a:pPr>
            <a:r>
              <a:rPr lang="en-US" sz="775" dirty="0">
                <a:solidFill>
                  <a:srgbClr val="24110C"/>
                </a:solidFill>
                <a:latin typeface="Inter" pitchFamily="34" charset="0"/>
                <a:ea typeface="Inter" pitchFamily="34" charset="-122"/>
                <a:cs typeface="Inter" pitchFamily="34" charset="-120"/>
              </a:rPr>
              <a:t>businesses are registered under GST and face this every filing cycle</a:t>
            </a:r>
            <a:endParaRPr lang="en-US" sz="775" dirty="0"/>
          </a:p>
        </p:txBody>
      </p:sp>
      <p:sp>
        <p:nvSpPr>
          <p:cNvPr id="82" name="Text 60"/>
          <p:cNvSpPr txBox="1"/>
          <p:nvPr/>
        </p:nvSpPr>
        <p:spPr>
          <a:xfrm>
            <a:off x="8591520" y="4181277"/>
            <a:ext cx="893186"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GSTN, 30 Jun 2026</a:t>
            </a:r>
            <a:endParaRPr lang="en-US" sz="650" dirty="0"/>
          </a:p>
        </p:txBody>
      </p:sp>
      <p:sp>
        <p:nvSpPr>
          <p:cNvPr id="83" name="Shape 61"/>
          <p:cNvSpPr/>
          <p:nvPr/>
        </p:nvSpPr>
        <p:spPr>
          <a:xfrm>
            <a:off x="7137441" y="4449196"/>
            <a:ext cx="4165641" cy="563088"/>
          </a:xfrm>
          <a:prstGeom prst="roundRect">
            <a:avLst>
              <a:gd name="adj" fmla="val 20299"/>
            </a:avLst>
          </a:prstGeom>
          <a:solidFill>
            <a:srgbClr val="FFFFFF"/>
          </a:solidFill>
          <a:ln w="6350">
            <a:solidFill>
              <a:srgbClr val="24110C">
                <a:alpha val="13000"/>
              </a:srgbClr>
            </a:solidFill>
            <a:prstDash val="solid"/>
          </a:ln>
        </p:spPr>
      </p:sp>
      <p:sp>
        <p:nvSpPr>
          <p:cNvPr id="84" name="Text 62"/>
          <p:cNvSpPr txBox="1"/>
          <p:nvPr/>
        </p:nvSpPr>
        <p:spPr>
          <a:xfrm>
            <a:off x="7270760" y="4562399"/>
            <a:ext cx="1324600" cy="234909"/>
          </a:xfrm>
          <a:prstGeom prst="rect">
            <a:avLst/>
          </a:prstGeom>
          <a:noFill/>
          <a:ln/>
        </p:spPr>
        <p:txBody>
          <a:bodyPr wrap="none" lIns="0" tIns="0" rIns="0" bIns="0" rtlCol="0" anchor="t"/>
          <a:lstStyle/>
          <a:p>
            <a:pPr algn="l" indent="0" marL="0">
              <a:buNone/>
            </a:pPr>
            <a:r>
              <a:rPr lang="en-US" sz="2000" dirty="0">
                <a:solidFill>
                  <a:srgbClr val="D64545"/>
                </a:solidFill>
                <a:latin typeface="League Spartan ExtraBold" pitchFamily="34" charset="0"/>
                <a:ea typeface="League Spartan ExtraBold" pitchFamily="34" charset="-122"/>
                <a:cs typeface="League Spartan ExtraBold" pitchFamily="34" charset="-120"/>
              </a:rPr>
              <a:t>₹35,132 cr</a:t>
            </a:r>
            <a:endParaRPr lang="en-US" sz="2000" dirty="0"/>
          </a:p>
        </p:txBody>
      </p:sp>
      <p:sp>
        <p:nvSpPr>
          <p:cNvPr id="85" name="Text 63"/>
          <p:cNvSpPr txBox="1"/>
          <p:nvPr/>
        </p:nvSpPr>
        <p:spPr>
          <a:xfrm>
            <a:off x="8591520" y="4536064"/>
            <a:ext cx="2578059" cy="265725"/>
          </a:xfrm>
          <a:prstGeom prst="rect">
            <a:avLst/>
          </a:prstGeom>
          <a:noFill/>
          <a:ln/>
        </p:spPr>
        <p:txBody>
          <a:bodyPr wrap="square" lIns="0" tIns="0" rIns="0" bIns="0" rtlCol="0" anchor="t"/>
          <a:lstStyle/>
          <a:p>
            <a:pPr algn="l" indent="0" marL="0">
              <a:lnSpc>
                <a:spcPts val="1046"/>
              </a:lnSpc>
              <a:buNone/>
            </a:pPr>
            <a:r>
              <a:rPr lang="en-US" sz="775" dirty="0">
                <a:solidFill>
                  <a:srgbClr val="24110C"/>
                </a:solidFill>
                <a:latin typeface="Inter" pitchFamily="34" charset="0"/>
                <a:ea typeface="Inter" pitchFamily="34" charset="-122"/>
                <a:cs typeface="Inter" pitchFamily="34" charset="-120"/>
              </a:rPr>
              <a:t>of fake tax credit caught in just 7 months, much of it through fake supplier bills</a:t>
            </a:r>
            <a:endParaRPr lang="en-US" sz="775" dirty="0"/>
          </a:p>
        </p:txBody>
      </p:sp>
      <p:sp>
        <p:nvSpPr>
          <p:cNvPr id="86" name="Text 64"/>
          <p:cNvSpPr txBox="1"/>
          <p:nvPr/>
        </p:nvSpPr>
        <p:spPr>
          <a:xfrm>
            <a:off x="8591520" y="4807824"/>
            <a:ext cx="999622"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CBIC, Apr to Oct 2024</a:t>
            </a:r>
            <a:endParaRPr lang="en-US" sz="650" dirty="0"/>
          </a:p>
        </p:txBody>
      </p:sp>
      <p:sp>
        <p:nvSpPr>
          <p:cNvPr id="87" name="Shape 65"/>
          <p:cNvSpPr/>
          <p:nvPr/>
        </p:nvSpPr>
        <p:spPr>
          <a:xfrm>
            <a:off x="7137441" y="5075743"/>
            <a:ext cx="4165641" cy="562996"/>
          </a:xfrm>
          <a:prstGeom prst="roundRect">
            <a:avLst>
              <a:gd name="adj" fmla="val 20302"/>
            </a:avLst>
          </a:prstGeom>
          <a:solidFill>
            <a:srgbClr val="FFFFFF"/>
          </a:solidFill>
          <a:ln w="6350">
            <a:solidFill>
              <a:srgbClr val="24110C">
                <a:alpha val="13000"/>
              </a:srgbClr>
            </a:solidFill>
            <a:prstDash val="solid"/>
          </a:ln>
        </p:spPr>
      </p:sp>
      <p:sp>
        <p:nvSpPr>
          <p:cNvPr id="88" name="Text 66"/>
          <p:cNvSpPr txBox="1"/>
          <p:nvPr/>
        </p:nvSpPr>
        <p:spPr>
          <a:xfrm>
            <a:off x="7270760" y="5188946"/>
            <a:ext cx="1198321" cy="234909"/>
          </a:xfrm>
          <a:prstGeom prst="rect">
            <a:avLst/>
          </a:prstGeom>
          <a:noFill/>
          <a:ln/>
        </p:spPr>
        <p:txBody>
          <a:bodyPr wrap="none" lIns="0" tIns="0" rIns="0" bIns="0" rtlCol="0" anchor="t"/>
          <a:lstStyle/>
          <a:p>
            <a:pPr algn="l" indent="0" marL="0">
              <a:buNone/>
            </a:pPr>
            <a:r>
              <a:rPr lang="en-US" sz="2000" dirty="0">
                <a:solidFill>
                  <a:srgbClr val="24110C"/>
                </a:solidFill>
                <a:latin typeface="League Spartan ExtraBold" pitchFamily="34" charset="0"/>
                <a:ea typeface="League Spartan ExtraBold" pitchFamily="34" charset="-122"/>
                <a:cs typeface="League Spartan ExtraBold" pitchFamily="34" charset="-120"/>
              </a:rPr>
              <a:t>Oct 2025</a:t>
            </a:r>
            <a:endParaRPr lang="en-US" sz="2000" dirty="0"/>
          </a:p>
        </p:txBody>
      </p:sp>
      <p:sp>
        <p:nvSpPr>
          <p:cNvPr id="89" name="Text 67"/>
          <p:cNvSpPr txBox="1"/>
          <p:nvPr/>
        </p:nvSpPr>
        <p:spPr>
          <a:xfrm>
            <a:off x="8591520" y="5162520"/>
            <a:ext cx="2578059" cy="265725"/>
          </a:xfrm>
          <a:prstGeom prst="rect">
            <a:avLst/>
          </a:prstGeom>
          <a:noFill/>
          <a:ln/>
        </p:spPr>
        <p:txBody>
          <a:bodyPr wrap="square" lIns="0" tIns="0" rIns="0" bIns="0" rtlCol="0" anchor="t"/>
          <a:lstStyle/>
          <a:p>
            <a:pPr algn="l" indent="0" marL="0">
              <a:lnSpc>
                <a:spcPts val="1046"/>
              </a:lnSpc>
              <a:buNone/>
            </a:pPr>
            <a:r>
              <a:rPr lang="en-US" sz="775" dirty="0">
                <a:solidFill>
                  <a:srgbClr val="24110C"/>
                </a:solidFill>
                <a:latin typeface="Inter" pitchFamily="34" charset="0"/>
                <a:ea typeface="Inter" pitchFamily="34" charset="-122"/>
                <a:cs typeface="Inter" pitchFamily="34" charset="-120"/>
              </a:rPr>
              <a:t>new rules lock returns to what was already reported, so errors can't be fixed at the last minute</a:t>
            </a:r>
            <a:endParaRPr lang="en-US" sz="775" dirty="0"/>
          </a:p>
        </p:txBody>
      </p:sp>
      <p:sp>
        <p:nvSpPr>
          <p:cNvPr id="90" name="Text 68"/>
          <p:cNvSpPr txBox="1"/>
          <p:nvPr/>
        </p:nvSpPr>
        <p:spPr>
          <a:xfrm>
            <a:off x="8591520" y="5434279"/>
            <a:ext cx="757032"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GSTN advisories</a:t>
            </a:r>
            <a:endParaRPr lang="en-US" sz="650" dirty="0"/>
          </a:p>
        </p:txBody>
      </p:sp>
      <p:sp>
        <p:nvSpPr>
          <p:cNvPr id="91" name="Text 69"/>
          <p:cNvSpPr txBox="1"/>
          <p:nvPr/>
        </p:nvSpPr>
        <p:spPr>
          <a:xfrm>
            <a:off x="2790932" y="6422106"/>
            <a:ext cx="6610198" cy="127010"/>
          </a:xfrm>
          <a:prstGeom prst="rect">
            <a:avLst/>
          </a:prstGeom>
          <a:noFill/>
          <a:ln/>
        </p:spPr>
        <p:txBody>
          <a:bodyPr wrap="none" lIns="0" tIns="0" rIns="0" bIns="0" rtlCol="0" anchor="t"/>
          <a:lstStyle/>
          <a:p>
            <a:pPr algn="ctr" indent="0" marL="0">
              <a:buNone/>
            </a:pPr>
            <a:r>
              <a:rPr lang="en-US" sz="850" b="1" dirty="0">
                <a:solidFill>
                  <a:srgbClr val="24110C"/>
                </a:solidFill>
                <a:latin typeface="Inter" pitchFamily="34" charset="0"/>
                <a:ea typeface="Inter" pitchFamily="34" charset="-122"/>
                <a:cs typeface="Inter" pitchFamily="34" charset="-120"/>
              </a:rPr>
              <a:t>Who feels it most:</a:t>
            </a:r>
            <a:pPr algn="ctr" indent="0" marL="0">
              <a:buNone/>
            </a:pPr>
            <a:r>
              <a:rPr lang="en-US" sz="850" dirty="0">
                <a:solidFill>
                  <a:srgbClr val="5B4339"/>
                </a:solidFill>
                <a:latin typeface="Inter" pitchFamily="34" charset="0"/>
                <a:ea typeface="Inter" pitchFamily="34" charset="-122"/>
                <a:cs typeface="Inter" pitchFamily="34" charset="-120"/>
              </a:rPr>
              <a:t> small and mid-sized businesses, and the CA firms that file GST for dozens of them every month.</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2222696" y="1807888"/>
            <a:ext cx="7746614" cy="4234"/>
          </a:xfrm>
          <a:custGeom>
            <a:avLst/>
            <a:gdLst/>
            <a:ahLst/>
            <a:cxnLst/>
            <a:rect l="l" t="t" r="r" b="b"/>
            <a:pathLst>
              <a:path w="7746614" h="4234">
                <a:moveTo>
                  <a:pt x="0" y="0"/>
                </a:moveTo>
                <a:lnTo>
                  <a:pt x="7746614" y="3173"/>
                </a:lnTo>
              </a:path>
            </a:pathLst>
          </a:custGeom>
          <a:ln w="6350">
            <a:solidFill>
              <a:srgbClr val="2B0000"/>
            </a:solidFill>
            <a:prstDash val="solid"/>
          </a:ln>
        </p:spPr>
      </p:sp>
      <p:sp>
        <p:nvSpPr>
          <p:cNvPr id="3" name="Shape 1"/>
          <p:cNvSpPr/>
          <p:nvPr/>
        </p:nvSpPr>
        <p:spPr>
          <a:xfrm>
            <a:off x="10673873" y="5689433"/>
            <a:ext cx="2192009" cy="2084832"/>
          </a:xfrm>
          <a:custGeom>
            <a:avLst/>
            <a:gdLst/>
            <a:ahLst/>
            <a:cxnLst/>
            <a:rect l="l" t="t" r="r" b="b"/>
            <a:pathLst>
              <a:path w="2192009" h="2084832">
                <a:moveTo>
                  <a:pt x="5925" y="642960"/>
                </a:moveTo>
                <a:lnTo>
                  <a:pt x="513564" y="642960"/>
                </a:lnTo>
                <a:lnTo>
                  <a:pt x="548155" y="637236"/>
                </a:lnTo>
                <a:cubicBezTo>
                  <a:pt x="593830" y="629711"/>
                  <a:pt x="629665" y="593885"/>
                  <a:pt x="637236" y="548155"/>
                </a:cubicBezTo>
                <a:lnTo>
                  <a:pt x="642960" y="513564"/>
                </a:lnTo>
                <a:lnTo>
                  <a:pt x="642960" y="5925"/>
                </a:lnTo>
                <a:cubicBezTo>
                  <a:pt x="642960" y="2679"/>
                  <a:pt x="645594" y="0"/>
                  <a:pt x="648895" y="0"/>
                </a:cubicBezTo>
                <a:cubicBezTo>
                  <a:pt x="652187" y="0"/>
                  <a:pt x="654820" y="2633"/>
                  <a:pt x="654820" y="5925"/>
                </a:cubicBezTo>
                <a:lnTo>
                  <a:pt x="654820" y="513564"/>
                </a:lnTo>
                <a:lnTo>
                  <a:pt x="660544" y="548155"/>
                </a:lnTo>
                <a:cubicBezTo>
                  <a:pt x="664513" y="572186"/>
                  <a:pt x="676318" y="593418"/>
                  <a:pt x="693225" y="609301"/>
                </a:cubicBezTo>
                <a:cubicBezTo>
                  <a:pt x="697038" y="605379"/>
                  <a:pt x="700860" y="601410"/>
                  <a:pt x="704719" y="597496"/>
                </a:cubicBezTo>
                <a:cubicBezTo>
                  <a:pt x="704929" y="597286"/>
                  <a:pt x="705185" y="597085"/>
                  <a:pt x="705396" y="596820"/>
                </a:cubicBezTo>
                <a:cubicBezTo>
                  <a:pt x="705597" y="596619"/>
                  <a:pt x="705807" y="596363"/>
                  <a:pt x="706063" y="596152"/>
                </a:cubicBezTo>
                <a:cubicBezTo>
                  <a:pt x="706273" y="595951"/>
                  <a:pt x="706529" y="595741"/>
                  <a:pt x="706731" y="595485"/>
                </a:cubicBezTo>
                <a:cubicBezTo>
                  <a:pt x="706941" y="595274"/>
                  <a:pt x="707142" y="595018"/>
                  <a:pt x="707407" y="594817"/>
                </a:cubicBezTo>
                <a:cubicBezTo>
                  <a:pt x="708486" y="593729"/>
                  <a:pt x="709620" y="592650"/>
                  <a:pt x="710699" y="591562"/>
                </a:cubicBezTo>
                <a:cubicBezTo>
                  <a:pt x="711787" y="590428"/>
                  <a:pt x="712866" y="589349"/>
                  <a:pt x="714000" y="588215"/>
                </a:cubicBezTo>
                <a:cubicBezTo>
                  <a:pt x="793242" y="509028"/>
                  <a:pt x="878766" y="442835"/>
                  <a:pt x="966658" y="390302"/>
                </a:cubicBezTo>
                <a:cubicBezTo>
                  <a:pt x="1079202" y="321942"/>
                  <a:pt x="1195861" y="274622"/>
                  <a:pt x="1309384" y="249668"/>
                </a:cubicBezTo>
                <a:cubicBezTo>
                  <a:pt x="1382792" y="232504"/>
                  <a:pt x="1455588" y="223735"/>
                  <a:pt x="1526216" y="223690"/>
                </a:cubicBezTo>
                <a:cubicBezTo>
                  <a:pt x="1711647" y="223690"/>
                  <a:pt x="1882027" y="283848"/>
                  <a:pt x="2006989" y="408810"/>
                </a:cubicBezTo>
                <a:cubicBezTo>
                  <a:pt x="2131850" y="533882"/>
                  <a:pt x="2192009" y="704262"/>
                  <a:pt x="2192009" y="889693"/>
                </a:cubicBezTo>
                <a:cubicBezTo>
                  <a:pt x="2192009" y="1161837"/>
                  <a:pt x="2062722" y="1466670"/>
                  <a:pt x="1818312" y="1711135"/>
                </a:cubicBezTo>
                <a:cubicBezTo>
                  <a:pt x="1573847" y="1955545"/>
                  <a:pt x="1269013" y="2084832"/>
                  <a:pt x="996870" y="2084832"/>
                </a:cubicBezTo>
                <a:cubicBezTo>
                  <a:pt x="811439" y="2084832"/>
                  <a:pt x="641058" y="2024674"/>
                  <a:pt x="516087" y="1899712"/>
                </a:cubicBezTo>
                <a:cubicBezTo>
                  <a:pt x="391125" y="1774750"/>
                  <a:pt x="330967" y="1604370"/>
                  <a:pt x="330967" y="1418929"/>
                </a:cubicBezTo>
                <a:cubicBezTo>
                  <a:pt x="330967" y="1182923"/>
                  <a:pt x="428250" y="922374"/>
                  <a:pt x="613526" y="697870"/>
                </a:cubicBezTo>
                <a:cubicBezTo>
                  <a:pt x="597286" y="678430"/>
                  <a:pt x="574344" y="664769"/>
                  <a:pt x="548155" y="660444"/>
                </a:cubicBezTo>
                <a:lnTo>
                  <a:pt x="513564" y="654720"/>
                </a:lnTo>
                <a:lnTo>
                  <a:pt x="5925" y="654720"/>
                </a:lnTo>
                <a:cubicBezTo>
                  <a:pt x="2679" y="654720"/>
                  <a:pt x="0" y="652086"/>
                  <a:pt x="0" y="648785"/>
                </a:cubicBezTo>
                <a:cubicBezTo>
                  <a:pt x="0" y="645493"/>
                  <a:pt x="2633" y="642860"/>
                  <a:pt x="5925" y="642860"/>
                </a:cubicBezTo>
                <a:lnTo>
                  <a:pt x="5925" y="642960"/>
                </a:lnTo>
                <a:moveTo>
                  <a:pt x="977329" y="398916"/>
                </a:moveTo>
                <a:cubicBezTo>
                  <a:pt x="972693" y="401696"/>
                  <a:pt x="968103" y="404531"/>
                  <a:pt x="963512" y="407365"/>
                </a:cubicBezTo>
                <a:cubicBezTo>
                  <a:pt x="960367" y="409276"/>
                  <a:pt x="957276" y="411178"/>
                  <a:pt x="954131" y="413144"/>
                </a:cubicBezTo>
                <a:cubicBezTo>
                  <a:pt x="871551" y="464954"/>
                  <a:pt x="791797" y="527901"/>
                  <a:pt x="717612" y="601465"/>
                </a:cubicBezTo>
                <a:cubicBezTo>
                  <a:pt x="712455" y="606668"/>
                  <a:pt x="707352" y="611825"/>
                  <a:pt x="702351" y="617083"/>
                </a:cubicBezTo>
                <a:cubicBezTo>
                  <a:pt x="708276" y="621518"/>
                  <a:pt x="714722" y="625331"/>
                  <a:pt x="721526" y="628531"/>
                </a:cubicBezTo>
                <a:cubicBezTo>
                  <a:pt x="725604" y="624352"/>
                  <a:pt x="729627" y="620174"/>
                  <a:pt x="733742" y="616050"/>
                </a:cubicBezTo>
                <a:cubicBezTo>
                  <a:pt x="929597" y="420258"/>
                  <a:pt x="1169316" y="314371"/>
                  <a:pt x="1374233" y="314261"/>
                </a:cubicBezTo>
                <a:cubicBezTo>
                  <a:pt x="1497083" y="314261"/>
                  <a:pt x="1607616" y="352519"/>
                  <a:pt x="1687781" y="432676"/>
                </a:cubicBezTo>
                <a:cubicBezTo>
                  <a:pt x="1767992" y="512896"/>
                  <a:pt x="1806242" y="623374"/>
                  <a:pt x="1806196" y="746224"/>
                </a:cubicBezTo>
                <a:cubicBezTo>
                  <a:pt x="1806141" y="951141"/>
                  <a:pt x="1700254" y="1190814"/>
                  <a:pt x="1504407" y="1386715"/>
                </a:cubicBezTo>
                <a:cubicBezTo>
                  <a:pt x="1308561" y="1582506"/>
                  <a:pt x="1068842" y="1688394"/>
                  <a:pt x="863916" y="1688449"/>
                </a:cubicBezTo>
                <a:cubicBezTo>
                  <a:pt x="741066" y="1688449"/>
                  <a:pt x="630589" y="1650199"/>
                  <a:pt x="550377" y="1570034"/>
                </a:cubicBezTo>
                <a:cubicBezTo>
                  <a:pt x="470157" y="1489814"/>
                  <a:pt x="431908" y="1379290"/>
                  <a:pt x="431963" y="1256486"/>
                </a:cubicBezTo>
                <a:cubicBezTo>
                  <a:pt x="431963" y="1090340"/>
                  <a:pt x="501658" y="901242"/>
                  <a:pt x="632445" y="731218"/>
                </a:cubicBezTo>
                <a:cubicBezTo>
                  <a:pt x="629711" y="723437"/>
                  <a:pt x="626108" y="716067"/>
                  <a:pt x="621774" y="709209"/>
                </a:cubicBezTo>
                <a:cubicBezTo>
                  <a:pt x="465366" y="905622"/>
                  <a:pt x="382265" y="1126422"/>
                  <a:pt x="382311" y="1318665"/>
                </a:cubicBezTo>
                <a:cubicBezTo>
                  <a:pt x="382311" y="1457544"/>
                  <a:pt x="425516" y="1581318"/>
                  <a:pt x="515264" y="1671130"/>
                </a:cubicBezTo>
                <a:cubicBezTo>
                  <a:pt x="605022" y="1760878"/>
                  <a:pt x="728795" y="1804029"/>
                  <a:pt x="867729" y="1804084"/>
                </a:cubicBezTo>
                <a:cubicBezTo>
                  <a:pt x="1097710" y="1804129"/>
                  <a:pt x="1368619" y="1685248"/>
                  <a:pt x="1589721" y="1464092"/>
                </a:cubicBezTo>
                <a:cubicBezTo>
                  <a:pt x="1810887" y="1242980"/>
                  <a:pt x="1929768" y="972071"/>
                  <a:pt x="1929713" y="742100"/>
                </a:cubicBezTo>
                <a:cubicBezTo>
                  <a:pt x="1929713" y="603221"/>
                  <a:pt x="1886508" y="479438"/>
                  <a:pt x="1796759" y="389635"/>
                </a:cubicBezTo>
                <a:cubicBezTo>
                  <a:pt x="1707011" y="299877"/>
                  <a:pt x="1583229" y="256736"/>
                  <a:pt x="1444295" y="256681"/>
                </a:cubicBezTo>
                <a:cubicBezTo>
                  <a:pt x="1337118" y="256681"/>
                  <a:pt x="1221017" y="282504"/>
                  <a:pt x="1105235" y="332467"/>
                </a:cubicBezTo>
                <a:cubicBezTo>
                  <a:pt x="1062240" y="351687"/>
                  <a:pt x="1019501" y="373862"/>
                  <a:pt x="977384" y="398962"/>
                </a:cubicBezTo>
                <a:lnTo>
                  <a:pt x="977329" y="398916"/>
                </a:lnTo>
                <a:moveTo>
                  <a:pt x="733385" y="633268"/>
                </a:moveTo>
                <a:cubicBezTo>
                  <a:pt x="738588" y="634969"/>
                  <a:pt x="744002" y="636313"/>
                  <a:pt x="749525" y="637236"/>
                </a:cubicBezTo>
                <a:lnTo>
                  <a:pt x="784116" y="642960"/>
                </a:lnTo>
                <a:lnTo>
                  <a:pt x="807315" y="642960"/>
                </a:lnTo>
                <a:cubicBezTo>
                  <a:pt x="957587" y="499080"/>
                  <a:pt x="1140239" y="422371"/>
                  <a:pt x="1301136" y="422316"/>
                </a:cubicBezTo>
                <a:cubicBezTo>
                  <a:pt x="1408158" y="422316"/>
                  <a:pt x="1505697" y="456395"/>
                  <a:pt x="1576938" y="527636"/>
                </a:cubicBezTo>
                <a:cubicBezTo>
                  <a:pt x="1648188" y="598831"/>
                  <a:pt x="1682313" y="696425"/>
                  <a:pt x="1682258" y="803447"/>
                </a:cubicBezTo>
                <a:cubicBezTo>
                  <a:pt x="1682258" y="969447"/>
                  <a:pt x="1600547" y="1158591"/>
                  <a:pt x="1447696" y="1311496"/>
                </a:cubicBezTo>
                <a:cubicBezTo>
                  <a:pt x="1294790" y="1464348"/>
                  <a:pt x="1105647" y="1546013"/>
                  <a:pt x="939647" y="1546058"/>
                </a:cubicBezTo>
                <a:cubicBezTo>
                  <a:pt x="832625" y="1546058"/>
                  <a:pt x="735086" y="1511988"/>
                  <a:pt x="663845" y="1440738"/>
                </a:cubicBezTo>
                <a:cubicBezTo>
                  <a:pt x="592595" y="1369497"/>
                  <a:pt x="558470" y="1271958"/>
                  <a:pt x="558516" y="1164936"/>
                </a:cubicBezTo>
                <a:cubicBezTo>
                  <a:pt x="558516" y="1066209"/>
                  <a:pt x="587438" y="959343"/>
                  <a:pt x="642960" y="856802"/>
                </a:cubicBezTo>
                <a:lnTo>
                  <a:pt x="642960" y="784162"/>
                </a:lnTo>
                <a:lnTo>
                  <a:pt x="637236" y="749570"/>
                </a:lnTo>
                <a:cubicBezTo>
                  <a:pt x="637035" y="748235"/>
                  <a:pt x="636669" y="746946"/>
                  <a:pt x="636413" y="745657"/>
                </a:cubicBezTo>
                <a:cubicBezTo>
                  <a:pt x="510528" y="912068"/>
                  <a:pt x="443767" y="1095954"/>
                  <a:pt x="443813" y="1256486"/>
                </a:cubicBezTo>
                <a:cubicBezTo>
                  <a:pt x="443813" y="1376913"/>
                  <a:pt x="481194" y="1484044"/>
                  <a:pt x="558781" y="1561685"/>
                </a:cubicBezTo>
                <a:cubicBezTo>
                  <a:pt x="636413" y="1639263"/>
                  <a:pt x="743489" y="1676644"/>
                  <a:pt x="863971" y="1676644"/>
                </a:cubicBezTo>
                <a:cubicBezTo>
                  <a:pt x="1064819" y="1676690"/>
                  <a:pt x="1302160" y="1572302"/>
                  <a:pt x="1496050" y="1378357"/>
                </a:cubicBezTo>
                <a:cubicBezTo>
                  <a:pt x="1690049" y="1184422"/>
                  <a:pt x="1794391" y="947072"/>
                  <a:pt x="1794336" y="746278"/>
                </a:cubicBezTo>
                <a:cubicBezTo>
                  <a:pt x="1794336" y="625852"/>
                  <a:pt x="1756965" y="518721"/>
                  <a:pt x="1679378" y="441079"/>
                </a:cubicBezTo>
                <a:cubicBezTo>
                  <a:pt x="1601736" y="363492"/>
                  <a:pt x="1494660" y="326121"/>
                  <a:pt x="1374188" y="326121"/>
                </a:cubicBezTo>
                <a:cubicBezTo>
                  <a:pt x="1173331" y="326066"/>
                  <a:pt x="935989" y="430463"/>
                  <a:pt x="742100" y="624407"/>
                </a:cubicBezTo>
                <a:cubicBezTo>
                  <a:pt x="739155" y="627342"/>
                  <a:pt x="736275" y="630332"/>
                  <a:pt x="733385" y="633268"/>
                </a:cubicBezTo>
                <a:lnTo>
                  <a:pt x="733385" y="633268"/>
                </a:lnTo>
                <a:moveTo>
                  <a:pt x="648840" y="1297680"/>
                </a:moveTo>
                <a:cubicBezTo>
                  <a:pt x="645594" y="1297680"/>
                  <a:pt x="642915" y="1295056"/>
                  <a:pt x="642915" y="1291755"/>
                </a:cubicBezTo>
                <a:lnTo>
                  <a:pt x="642915" y="882423"/>
                </a:lnTo>
                <a:cubicBezTo>
                  <a:pt x="595073" y="977283"/>
                  <a:pt x="570275" y="1074923"/>
                  <a:pt x="570320" y="1164936"/>
                </a:cubicBezTo>
                <a:cubicBezTo>
                  <a:pt x="570320" y="1269480"/>
                  <a:pt x="603522" y="1363672"/>
                  <a:pt x="672194" y="1432389"/>
                </a:cubicBezTo>
                <a:cubicBezTo>
                  <a:pt x="740865" y="1501052"/>
                  <a:pt x="835048" y="1534199"/>
                  <a:pt x="939647" y="1534253"/>
                </a:cubicBezTo>
                <a:cubicBezTo>
                  <a:pt x="1101779" y="1534253"/>
                  <a:pt x="1288454" y="1454088"/>
                  <a:pt x="1439348" y="1303148"/>
                </a:cubicBezTo>
                <a:cubicBezTo>
                  <a:pt x="1590288" y="1152254"/>
                  <a:pt x="1670508" y="965579"/>
                  <a:pt x="1670453" y="803447"/>
                </a:cubicBezTo>
                <a:cubicBezTo>
                  <a:pt x="1670453" y="698894"/>
                  <a:pt x="1637261" y="604711"/>
                  <a:pt x="1568589" y="535994"/>
                </a:cubicBezTo>
                <a:cubicBezTo>
                  <a:pt x="1499918" y="467322"/>
                  <a:pt x="1405735" y="434175"/>
                  <a:pt x="1301136" y="434121"/>
                </a:cubicBezTo>
                <a:cubicBezTo>
                  <a:pt x="1147197" y="434121"/>
                  <a:pt x="971193" y="506450"/>
                  <a:pt x="824633" y="642915"/>
                </a:cubicBezTo>
                <a:lnTo>
                  <a:pt x="999503" y="642915"/>
                </a:lnTo>
                <a:cubicBezTo>
                  <a:pt x="1097088" y="580223"/>
                  <a:pt x="1201640" y="547278"/>
                  <a:pt x="1296391" y="547232"/>
                </a:cubicBezTo>
                <a:cubicBezTo>
                  <a:pt x="1382170" y="547232"/>
                  <a:pt x="1460178" y="574344"/>
                  <a:pt x="1516980" y="631210"/>
                </a:cubicBezTo>
                <a:cubicBezTo>
                  <a:pt x="1573792" y="688022"/>
                  <a:pt x="1600968" y="766020"/>
                  <a:pt x="1600913" y="851800"/>
                </a:cubicBezTo>
                <a:cubicBezTo>
                  <a:pt x="1600913" y="988265"/>
                  <a:pt x="1532653" y="1144929"/>
                  <a:pt x="1405579" y="1272058"/>
                </a:cubicBezTo>
                <a:cubicBezTo>
                  <a:pt x="1403156" y="1274482"/>
                  <a:pt x="1400678" y="1276850"/>
                  <a:pt x="1398255" y="1279227"/>
                </a:cubicBezTo>
                <a:cubicBezTo>
                  <a:pt x="1395886" y="1281696"/>
                  <a:pt x="1393518" y="1284174"/>
                  <a:pt x="1391040" y="1286597"/>
                </a:cubicBezTo>
                <a:cubicBezTo>
                  <a:pt x="1385837" y="1291800"/>
                  <a:pt x="1380579" y="1296857"/>
                  <a:pt x="1375267" y="1301804"/>
                </a:cubicBezTo>
                <a:cubicBezTo>
                  <a:pt x="1327480" y="1346865"/>
                  <a:pt x="1276850" y="1382847"/>
                  <a:pt x="1227518" y="1408213"/>
                </a:cubicBezTo>
                <a:cubicBezTo>
                  <a:pt x="1191015" y="1426976"/>
                  <a:pt x="1155290" y="1439970"/>
                  <a:pt x="1121987" y="1446563"/>
                </a:cubicBezTo>
                <a:cubicBezTo>
                  <a:pt x="1120798" y="1446819"/>
                  <a:pt x="1119674" y="1447129"/>
                  <a:pt x="1118485" y="1447385"/>
                </a:cubicBezTo>
                <a:cubicBezTo>
                  <a:pt x="1073112" y="1460589"/>
                  <a:pt x="1028215" y="1467338"/>
                  <a:pt x="985321" y="1467393"/>
                </a:cubicBezTo>
                <a:cubicBezTo>
                  <a:pt x="899541" y="1467393"/>
                  <a:pt x="821543" y="1440271"/>
                  <a:pt x="764731" y="1383460"/>
                </a:cubicBezTo>
                <a:cubicBezTo>
                  <a:pt x="707919" y="1326657"/>
                  <a:pt x="680753" y="1248650"/>
                  <a:pt x="680798" y="1162870"/>
                </a:cubicBezTo>
                <a:cubicBezTo>
                  <a:pt x="680798" y="1026414"/>
                  <a:pt x="749058" y="869741"/>
                  <a:pt x="876132" y="742612"/>
                </a:cubicBezTo>
                <a:cubicBezTo>
                  <a:pt x="909545" y="709209"/>
                  <a:pt x="945060" y="679875"/>
                  <a:pt x="981663" y="654765"/>
                </a:cubicBezTo>
                <a:lnTo>
                  <a:pt x="812106" y="654765"/>
                </a:lnTo>
                <a:cubicBezTo>
                  <a:pt x="808549" y="658222"/>
                  <a:pt x="804937" y="661678"/>
                  <a:pt x="801380" y="665235"/>
                </a:cubicBezTo>
                <a:cubicBezTo>
                  <a:pt x="740911" y="725650"/>
                  <a:pt x="691890" y="791843"/>
                  <a:pt x="654720" y="859847"/>
                </a:cubicBezTo>
                <a:lnTo>
                  <a:pt x="654720" y="1291755"/>
                </a:lnTo>
                <a:cubicBezTo>
                  <a:pt x="654720" y="1295001"/>
                  <a:pt x="652086" y="1297680"/>
                  <a:pt x="648785" y="1297680"/>
                </a:cubicBezTo>
                <a:lnTo>
                  <a:pt x="648840" y="1297680"/>
                </a:lnTo>
                <a:moveTo>
                  <a:pt x="1291755" y="654765"/>
                </a:moveTo>
                <a:lnTo>
                  <a:pt x="1003005" y="654765"/>
                </a:lnTo>
                <a:cubicBezTo>
                  <a:pt x="961812" y="681475"/>
                  <a:pt x="921862" y="713589"/>
                  <a:pt x="884536" y="750969"/>
                </a:cubicBezTo>
                <a:cubicBezTo>
                  <a:pt x="759373" y="876087"/>
                  <a:pt x="692612" y="1030328"/>
                  <a:pt x="692658" y="1162815"/>
                </a:cubicBezTo>
                <a:cubicBezTo>
                  <a:pt x="692658" y="1246181"/>
                  <a:pt x="718901" y="1320778"/>
                  <a:pt x="773134" y="1375056"/>
                </a:cubicBezTo>
                <a:cubicBezTo>
                  <a:pt x="827413" y="1429289"/>
                  <a:pt x="902010" y="1455533"/>
                  <a:pt x="985376" y="1455533"/>
                </a:cubicBezTo>
                <a:cubicBezTo>
                  <a:pt x="993057" y="1455533"/>
                  <a:pt x="1000793" y="1455277"/>
                  <a:pt x="1008574" y="1454865"/>
                </a:cubicBezTo>
                <a:cubicBezTo>
                  <a:pt x="945627" y="1450787"/>
                  <a:pt x="888916" y="1428467"/>
                  <a:pt x="846542" y="1386038"/>
                </a:cubicBezTo>
                <a:cubicBezTo>
                  <a:pt x="799423" y="1338919"/>
                  <a:pt x="777002" y="1274125"/>
                  <a:pt x="777002" y="1202719"/>
                </a:cubicBezTo>
                <a:cubicBezTo>
                  <a:pt x="777048" y="1086106"/>
                  <a:pt x="836283" y="951296"/>
                  <a:pt x="946038" y="841495"/>
                </a:cubicBezTo>
                <a:cubicBezTo>
                  <a:pt x="1055849" y="731739"/>
                  <a:pt x="1190659" y="672505"/>
                  <a:pt x="1307272" y="672450"/>
                </a:cubicBezTo>
                <a:cubicBezTo>
                  <a:pt x="1378723" y="672450"/>
                  <a:pt x="1443527" y="694880"/>
                  <a:pt x="1490591" y="741999"/>
                </a:cubicBezTo>
                <a:cubicBezTo>
                  <a:pt x="1537710" y="789118"/>
                  <a:pt x="1560131" y="853912"/>
                  <a:pt x="1560131" y="925318"/>
                </a:cubicBezTo>
                <a:cubicBezTo>
                  <a:pt x="1560131" y="925830"/>
                  <a:pt x="1560131" y="926397"/>
                  <a:pt x="1560131" y="926964"/>
                </a:cubicBezTo>
                <a:cubicBezTo>
                  <a:pt x="1560387" y="931710"/>
                  <a:pt x="1560542" y="936501"/>
                  <a:pt x="1560542" y="941347"/>
                </a:cubicBezTo>
                <a:cubicBezTo>
                  <a:pt x="1560542" y="965634"/>
                  <a:pt x="1557296" y="991200"/>
                  <a:pt x="1551115" y="1017444"/>
                </a:cubicBezTo>
                <a:cubicBezTo>
                  <a:pt x="1548015" y="1033162"/>
                  <a:pt x="1543434" y="1049402"/>
                  <a:pt x="1537554" y="1065998"/>
                </a:cubicBezTo>
                <a:cubicBezTo>
                  <a:pt x="1571579" y="993468"/>
                  <a:pt x="1589154" y="919749"/>
                  <a:pt x="1589108" y="851754"/>
                </a:cubicBezTo>
                <a:cubicBezTo>
                  <a:pt x="1589108" y="768389"/>
                  <a:pt x="1562865" y="693792"/>
                  <a:pt x="1508632" y="639513"/>
                </a:cubicBezTo>
                <a:cubicBezTo>
                  <a:pt x="1454344" y="585271"/>
                  <a:pt x="1379747" y="559037"/>
                  <a:pt x="1296391" y="559037"/>
                </a:cubicBezTo>
                <a:cubicBezTo>
                  <a:pt x="1209422" y="559037"/>
                  <a:pt x="1113117" y="587749"/>
                  <a:pt x="1021824" y="642860"/>
                </a:cubicBezTo>
                <a:lnTo>
                  <a:pt x="1291755" y="642860"/>
                </a:lnTo>
                <a:cubicBezTo>
                  <a:pt x="1295001" y="642860"/>
                  <a:pt x="1297680" y="645493"/>
                  <a:pt x="1297680" y="648785"/>
                </a:cubicBezTo>
                <a:cubicBezTo>
                  <a:pt x="1297680" y="652086"/>
                  <a:pt x="1295046" y="654720"/>
                  <a:pt x="1291755" y="654720"/>
                </a:cubicBezTo>
                <a:lnTo>
                  <a:pt x="1291755" y="654765"/>
                </a:lnTo>
                <a:moveTo>
                  <a:pt x="788853" y="1202719"/>
                </a:moveTo>
                <a:cubicBezTo>
                  <a:pt x="788853" y="1271748"/>
                  <a:pt x="810405" y="1333149"/>
                  <a:pt x="854946" y="1377690"/>
                </a:cubicBezTo>
                <a:cubicBezTo>
                  <a:pt x="878921" y="1401665"/>
                  <a:pt x="907789" y="1418884"/>
                  <a:pt x="940058" y="1429756"/>
                </a:cubicBezTo>
                <a:cubicBezTo>
                  <a:pt x="928153" y="1422797"/>
                  <a:pt x="917116" y="1414394"/>
                  <a:pt x="907222" y="1404500"/>
                </a:cubicBezTo>
                <a:cubicBezTo>
                  <a:pt x="872219" y="1369497"/>
                  <a:pt x="855723" y="1320723"/>
                  <a:pt x="855723" y="1265822"/>
                </a:cubicBezTo>
                <a:cubicBezTo>
                  <a:pt x="855723" y="1212778"/>
                  <a:pt x="870929" y="1153698"/>
                  <a:pt x="899696" y="1094253"/>
                </a:cubicBezTo>
                <a:cubicBezTo>
                  <a:pt x="928463" y="1034817"/>
                  <a:pt x="970736" y="975016"/>
                  <a:pt x="1025170" y="920627"/>
                </a:cubicBezTo>
                <a:cubicBezTo>
                  <a:pt x="1079614" y="866184"/>
                  <a:pt x="1139416" y="823911"/>
                  <a:pt x="1198806" y="795144"/>
                </a:cubicBezTo>
                <a:cubicBezTo>
                  <a:pt x="1258242" y="766432"/>
                  <a:pt x="1317266" y="751170"/>
                  <a:pt x="1370366" y="751170"/>
                </a:cubicBezTo>
                <a:cubicBezTo>
                  <a:pt x="1425321" y="751170"/>
                  <a:pt x="1474040" y="767621"/>
                  <a:pt x="1509043" y="802669"/>
                </a:cubicBezTo>
                <a:cubicBezTo>
                  <a:pt x="1518946" y="812572"/>
                  <a:pt x="1527295" y="823600"/>
                  <a:pt x="1534308" y="835515"/>
                </a:cubicBezTo>
                <a:cubicBezTo>
                  <a:pt x="1523427" y="803236"/>
                  <a:pt x="1506209" y="774369"/>
                  <a:pt x="1482233" y="750402"/>
                </a:cubicBezTo>
                <a:cubicBezTo>
                  <a:pt x="1437693" y="705853"/>
                  <a:pt x="1376300" y="684355"/>
                  <a:pt x="1307272" y="684310"/>
                </a:cubicBezTo>
                <a:cubicBezTo>
                  <a:pt x="1194682" y="684310"/>
                  <a:pt x="1062295" y="741999"/>
                  <a:pt x="954442" y="849898"/>
                </a:cubicBezTo>
                <a:cubicBezTo>
                  <a:pt x="846542" y="957743"/>
                  <a:pt x="788807" y="1090184"/>
                  <a:pt x="788853" y="1202719"/>
                </a:cubicBezTo>
                <a:lnTo>
                  <a:pt x="788853" y="1202719"/>
                </a:lnTo>
                <a:moveTo>
                  <a:pt x="910367" y="1099465"/>
                </a:moveTo>
                <a:cubicBezTo>
                  <a:pt x="882222" y="1157612"/>
                  <a:pt x="867574" y="1215046"/>
                  <a:pt x="867574" y="1265877"/>
                </a:cubicBezTo>
                <a:cubicBezTo>
                  <a:pt x="867574" y="1318556"/>
                  <a:pt x="883201" y="1363818"/>
                  <a:pt x="915570" y="1396197"/>
                </a:cubicBezTo>
                <a:cubicBezTo>
                  <a:pt x="942326" y="1422953"/>
                  <a:pt x="977896" y="1438214"/>
                  <a:pt x="1019145" y="1442749"/>
                </a:cubicBezTo>
                <a:cubicBezTo>
                  <a:pt x="1003161" y="1436980"/>
                  <a:pt x="988933" y="1428265"/>
                  <a:pt x="977128" y="1416460"/>
                </a:cubicBezTo>
                <a:cubicBezTo>
                  <a:pt x="953052" y="1392384"/>
                  <a:pt x="941859" y="1358515"/>
                  <a:pt x="941914" y="1319644"/>
                </a:cubicBezTo>
                <a:cubicBezTo>
                  <a:pt x="941914" y="1273860"/>
                  <a:pt x="957176" y="1220815"/>
                  <a:pt x="985321" y="1166015"/>
                </a:cubicBezTo>
                <a:cubicBezTo>
                  <a:pt x="1013521" y="1111215"/>
                  <a:pt x="1054660" y="1054760"/>
                  <a:pt x="1106991" y="1002438"/>
                </a:cubicBezTo>
                <a:cubicBezTo>
                  <a:pt x="1159258" y="950162"/>
                  <a:pt x="1215759" y="908978"/>
                  <a:pt x="1270559" y="880778"/>
                </a:cubicBezTo>
                <a:cubicBezTo>
                  <a:pt x="1325359" y="852623"/>
                  <a:pt x="1378412" y="837371"/>
                  <a:pt x="1424187" y="837371"/>
                </a:cubicBezTo>
                <a:cubicBezTo>
                  <a:pt x="1463058" y="837371"/>
                  <a:pt x="1496928" y="848499"/>
                  <a:pt x="1521004" y="872575"/>
                </a:cubicBezTo>
                <a:cubicBezTo>
                  <a:pt x="1532864" y="884380"/>
                  <a:pt x="1541523" y="898608"/>
                  <a:pt x="1547293" y="914592"/>
                </a:cubicBezTo>
                <a:cubicBezTo>
                  <a:pt x="1542757" y="873353"/>
                  <a:pt x="1527496" y="837782"/>
                  <a:pt x="1500741" y="811027"/>
                </a:cubicBezTo>
                <a:cubicBezTo>
                  <a:pt x="1468371" y="778648"/>
                  <a:pt x="1423108" y="763030"/>
                  <a:pt x="1370420" y="763030"/>
                </a:cubicBezTo>
                <a:cubicBezTo>
                  <a:pt x="1319644" y="763030"/>
                  <a:pt x="1262155" y="777670"/>
                  <a:pt x="1204009" y="805815"/>
                </a:cubicBezTo>
                <a:cubicBezTo>
                  <a:pt x="1145862" y="833915"/>
                  <a:pt x="1087084" y="875465"/>
                  <a:pt x="1033574" y="929030"/>
                </a:cubicBezTo>
                <a:cubicBezTo>
                  <a:pt x="980063" y="982541"/>
                  <a:pt x="938513" y="1041310"/>
                  <a:pt x="910367" y="1099456"/>
                </a:cubicBezTo>
                <a:lnTo>
                  <a:pt x="910367" y="1099465"/>
                </a:lnTo>
                <a:moveTo>
                  <a:pt x="1163437" y="1419551"/>
                </a:moveTo>
                <a:cubicBezTo>
                  <a:pt x="1240969" y="1389138"/>
                  <a:pt x="1318455" y="1339898"/>
                  <a:pt x="1387693" y="1273037"/>
                </a:cubicBezTo>
                <a:cubicBezTo>
                  <a:pt x="1391973" y="1268712"/>
                  <a:pt x="1396197" y="1264323"/>
                  <a:pt x="1400266" y="1259943"/>
                </a:cubicBezTo>
                <a:cubicBezTo>
                  <a:pt x="1401967" y="1258141"/>
                  <a:pt x="1403622" y="1256285"/>
                  <a:pt x="1405268" y="1254475"/>
                </a:cubicBezTo>
                <a:cubicBezTo>
                  <a:pt x="1408414" y="1251073"/>
                  <a:pt x="1411404" y="1247571"/>
                  <a:pt x="1414449" y="1244114"/>
                </a:cubicBezTo>
                <a:cubicBezTo>
                  <a:pt x="1486412" y="1161069"/>
                  <a:pt x="1530642" y="1067141"/>
                  <a:pt x="1544001" y="980219"/>
                </a:cubicBezTo>
                <a:cubicBezTo>
                  <a:pt x="1544202" y="976561"/>
                  <a:pt x="1544303" y="972949"/>
                  <a:pt x="1544303" y="969392"/>
                </a:cubicBezTo>
                <a:cubicBezTo>
                  <a:pt x="1544303" y="932688"/>
                  <a:pt x="1533897" y="902321"/>
                  <a:pt x="1512555" y="880979"/>
                </a:cubicBezTo>
                <a:cubicBezTo>
                  <a:pt x="1491213" y="859637"/>
                  <a:pt x="1460845" y="849276"/>
                  <a:pt x="1424141" y="849222"/>
                </a:cubicBezTo>
                <a:cubicBezTo>
                  <a:pt x="1380991" y="849222"/>
                  <a:pt x="1329492" y="863761"/>
                  <a:pt x="1275926" y="891339"/>
                </a:cubicBezTo>
                <a:cubicBezTo>
                  <a:pt x="1222361" y="918871"/>
                  <a:pt x="1166784" y="959343"/>
                  <a:pt x="1115339" y="1010842"/>
                </a:cubicBezTo>
                <a:cubicBezTo>
                  <a:pt x="1063886" y="1062295"/>
                  <a:pt x="1023369" y="1117863"/>
                  <a:pt x="995836" y="1171429"/>
                </a:cubicBezTo>
                <a:cubicBezTo>
                  <a:pt x="968258" y="1224994"/>
                  <a:pt x="953719" y="1276548"/>
                  <a:pt x="953719" y="1319644"/>
                </a:cubicBezTo>
                <a:cubicBezTo>
                  <a:pt x="953719" y="1356348"/>
                  <a:pt x="964134" y="1386715"/>
                  <a:pt x="985476" y="1408057"/>
                </a:cubicBezTo>
                <a:cubicBezTo>
                  <a:pt x="1006818" y="1429399"/>
                  <a:pt x="1037186" y="1439759"/>
                  <a:pt x="1073890" y="1439814"/>
                </a:cubicBezTo>
                <a:cubicBezTo>
                  <a:pt x="1077447" y="1439814"/>
                  <a:pt x="1081059" y="1439659"/>
                  <a:pt x="1084716" y="1439503"/>
                </a:cubicBezTo>
                <a:cubicBezTo>
                  <a:pt x="1110493" y="1435535"/>
                  <a:pt x="1136892" y="1428878"/>
                  <a:pt x="1163437" y="1419551"/>
                </a:cubicBezTo>
                <a:lnTo>
                  <a:pt x="1163437" y="1419551"/>
                </a:lnTo>
                <a:moveTo>
                  <a:pt x="793087" y="656887"/>
                </a:moveTo>
                <a:cubicBezTo>
                  <a:pt x="793809" y="656164"/>
                  <a:pt x="794531" y="655488"/>
                  <a:pt x="795245" y="654765"/>
                </a:cubicBezTo>
                <a:lnTo>
                  <a:pt x="784162" y="654765"/>
                </a:lnTo>
                <a:lnTo>
                  <a:pt x="749570" y="660489"/>
                </a:lnTo>
                <a:cubicBezTo>
                  <a:pt x="703896" y="668015"/>
                  <a:pt x="668070" y="703850"/>
                  <a:pt x="660489" y="749570"/>
                </a:cubicBezTo>
                <a:lnTo>
                  <a:pt x="654765" y="784162"/>
                </a:lnTo>
                <a:lnTo>
                  <a:pt x="654765" y="835826"/>
                </a:lnTo>
                <a:cubicBezTo>
                  <a:pt x="691058" y="773290"/>
                  <a:pt x="737308" y="712665"/>
                  <a:pt x="793087" y="656887"/>
                </a:cubicBezTo>
                <a:lnTo>
                  <a:pt x="793087" y="656887"/>
                </a:lnTo>
                <a:moveTo>
                  <a:pt x="1504819" y="241109"/>
                </a:moveTo>
                <a:cubicBezTo>
                  <a:pt x="1478832" y="241164"/>
                  <a:pt x="1452488" y="242554"/>
                  <a:pt x="1425888" y="245077"/>
                </a:cubicBezTo>
                <a:cubicBezTo>
                  <a:pt x="1432024" y="244922"/>
                  <a:pt x="1438214" y="244767"/>
                  <a:pt x="1444295" y="244767"/>
                </a:cubicBezTo>
                <a:cubicBezTo>
                  <a:pt x="1585597" y="244767"/>
                  <a:pt x="1712781" y="288850"/>
                  <a:pt x="1805108" y="381177"/>
                </a:cubicBezTo>
                <a:cubicBezTo>
                  <a:pt x="1897444" y="473513"/>
                  <a:pt x="1941518" y="600688"/>
                  <a:pt x="1941518" y="741999"/>
                </a:cubicBezTo>
                <a:cubicBezTo>
                  <a:pt x="1941472" y="976040"/>
                  <a:pt x="1821037" y="1249272"/>
                  <a:pt x="1598024" y="1472339"/>
                </a:cubicBezTo>
                <a:cubicBezTo>
                  <a:pt x="1374956" y="1695352"/>
                  <a:pt x="1101678" y="1815779"/>
                  <a:pt x="867683" y="1815834"/>
                </a:cubicBezTo>
                <a:cubicBezTo>
                  <a:pt x="726372" y="1815834"/>
                  <a:pt x="599197" y="1771760"/>
                  <a:pt x="506861" y="1679424"/>
                </a:cubicBezTo>
                <a:cubicBezTo>
                  <a:pt x="414534" y="1587097"/>
                  <a:pt x="370460" y="1459913"/>
                  <a:pt x="370460" y="1318611"/>
                </a:cubicBezTo>
                <a:cubicBezTo>
                  <a:pt x="370460" y="1242103"/>
                  <a:pt x="383444" y="1161425"/>
                  <a:pt x="408554" y="1079714"/>
                </a:cubicBezTo>
                <a:cubicBezTo>
                  <a:pt x="394792" y="1118586"/>
                  <a:pt x="383344" y="1157457"/>
                  <a:pt x="374474" y="1196117"/>
                </a:cubicBezTo>
                <a:cubicBezTo>
                  <a:pt x="374218" y="1197361"/>
                  <a:pt x="373907" y="1198596"/>
                  <a:pt x="373651" y="1199830"/>
                </a:cubicBezTo>
                <a:cubicBezTo>
                  <a:pt x="372572" y="1204521"/>
                  <a:pt x="371594" y="1209267"/>
                  <a:pt x="370615" y="1213957"/>
                </a:cubicBezTo>
                <a:cubicBezTo>
                  <a:pt x="359167" y="1270358"/>
                  <a:pt x="353288" y="1325779"/>
                  <a:pt x="353288" y="1379336"/>
                </a:cubicBezTo>
                <a:cubicBezTo>
                  <a:pt x="353288" y="1534665"/>
                  <a:pt x="402062" y="1673965"/>
                  <a:pt x="503304" y="1775262"/>
                </a:cubicBezTo>
                <a:cubicBezTo>
                  <a:pt x="604610" y="1876513"/>
                  <a:pt x="743855" y="1925278"/>
                  <a:pt x="899230" y="1925278"/>
                </a:cubicBezTo>
                <a:cubicBezTo>
                  <a:pt x="1148797" y="1925278"/>
                  <a:pt x="1439293" y="1799027"/>
                  <a:pt x="1675355" y="1562920"/>
                </a:cubicBezTo>
                <a:cubicBezTo>
                  <a:pt x="1911462" y="1326858"/>
                  <a:pt x="2037768" y="1036363"/>
                  <a:pt x="2037713" y="786795"/>
                </a:cubicBezTo>
                <a:cubicBezTo>
                  <a:pt x="2037713" y="631466"/>
                  <a:pt x="1988948" y="492176"/>
                  <a:pt x="1887697" y="390869"/>
                </a:cubicBezTo>
                <a:cubicBezTo>
                  <a:pt x="1789289" y="292462"/>
                  <a:pt x="1654890" y="243788"/>
                  <a:pt x="1504764" y="241109"/>
                </a:cubicBezTo>
                <a:lnTo>
                  <a:pt x="1504819" y="241109"/>
                </a:lnTo>
                <a:moveTo>
                  <a:pt x="1896100" y="382576"/>
                </a:moveTo>
                <a:cubicBezTo>
                  <a:pt x="1999930" y="486397"/>
                  <a:pt x="2049628" y="629098"/>
                  <a:pt x="2049628" y="786850"/>
                </a:cubicBezTo>
                <a:cubicBezTo>
                  <a:pt x="2049628" y="1040377"/>
                  <a:pt x="1921776" y="1333305"/>
                  <a:pt x="1683758" y="1571323"/>
                </a:cubicBezTo>
                <a:cubicBezTo>
                  <a:pt x="1445740" y="1809287"/>
                  <a:pt x="1152766" y="1937138"/>
                  <a:pt x="899285" y="1937193"/>
                </a:cubicBezTo>
                <a:cubicBezTo>
                  <a:pt x="741533" y="1937193"/>
                  <a:pt x="598831" y="1887541"/>
                  <a:pt x="495010" y="1783665"/>
                </a:cubicBezTo>
                <a:cubicBezTo>
                  <a:pt x="444792" y="1733456"/>
                  <a:pt x="407365" y="1674120"/>
                  <a:pt x="381954" y="1608384"/>
                </a:cubicBezTo>
                <a:cubicBezTo>
                  <a:pt x="409432" y="1695974"/>
                  <a:pt x="455362" y="1774750"/>
                  <a:pt x="520476" y="1839910"/>
                </a:cubicBezTo>
                <a:cubicBezTo>
                  <a:pt x="634813" y="1954256"/>
                  <a:pt x="791230" y="2009467"/>
                  <a:pt x="963467" y="2009522"/>
                </a:cubicBezTo>
                <a:cubicBezTo>
                  <a:pt x="1223028" y="2009522"/>
                  <a:pt x="1518169" y="1883728"/>
                  <a:pt x="1755831" y="1646075"/>
                </a:cubicBezTo>
                <a:cubicBezTo>
                  <a:pt x="1993538" y="1408414"/>
                  <a:pt x="2119378" y="1113273"/>
                  <a:pt x="2119323" y="853711"/>
                </a:cubicBezTo>
                <a:cubicBezTo>
                  <a:pt x="2119323" y="681475"/>
                  <a:pt x="2064057" y="525067"/>
                  <a:pt x="1949711" y="410721"/>
                </a:cubicBezTo>
                <a:cubicBezTo>
                  <a:pt x="1896776" y="357777"/>
                  <a:pt x="1834753" y="317516"/>
                  <a:pt x="1766346" y="289517"/>
                </a:cubicBezTo>
                <a:cubicBezTo>
                  <a:pt x="1814078" y="313337"/>
                  <a:pt x="1857750" y="344217"/>
                  <a:pt x="1896100" y="382576"/>
                </a:cubicBezTo>
                <a:lnTo>
                  <a:pt x="1896100" y="382576"/>
                </a:lnTo>
                <a:moveTo>
                  <a:pt x="524445" y="1891363"/>
                </a:moveTo>
                <a:cubicBezTo>
                  <a:pt x="646883" y="2013792"/>
                  <a:pt x="813907" y="2072981"/>
                  <a:pt x="996815" y="2073027"/>
                </a:cubicBezTo>
                <a:cubicBezTo>
                  <a:pt x="1265200" y="2073027"/>
                  <a:pt x="1567455" y="1945231"/>
                  <a:pt x="1809908" y="1702777"/>
                </a:cubicBezTo>
                <a:cubicBezTo>
                  <a:pt x="2052407" y="1460324"/>
                  <a:pt x="2180204" y="1158078"/>
                  <a:pt x="2180158" y="889693"/>
                </a:cubicBezTo>
                <a:cubicBezTo>
                  <a:pt x="2180158" y="706785"/>
                  <a:pt x="2120923" y="539752"/>
                  <a:pt x="1998485" y="417314"/>
                </a:cubicBezTo>
                <a:cubicBezTo>
                  <a:pt x="1918942" y="337825"/>
                  <a:pt x="1820625" y="284982"/>
                  <a:pt x="1711336" y="257714"/>
                </a:cubicBezTo>
                <a:cubicBezTo>
                  <a:pt x="1804751" y="285293"/>
                  <a:pt x="1888940" y="333180"/>
                  <a:pt x="1958069" y="402363"/>
                </a:cubicBezTo>
                <a:cubicBezTo>
                  <a:pt x="2074993" y="519233"/>
                  <a:pt x="2131128" y="678997"/>
                  <a:pt x="2131128" y="853711"/>
                </a:cubicBezTo>
                <a:cubicBezTo>
                  <a:pt x="2131128" y="1117095"/>
                  <a:pt x="2003798" y="1414760"/>
                  <a:pt x="1764179" y="1654424"/>
                </a:cubicBezTo>
                <a:cubicBezTo>
                  <a:pt x="1524515" y="1894042"/>
                  <a:pt x="1226850" y="2021327"/>
                  <a:pt x="963467" y="2021373"/>
                </a:cubicBezTo>
                <a:cubicBezTo>
                  <a:pt x="788752" y="2021373"/>
                  <a:pt x="628988" y="1965238"/>
                  <a:pt x="512119" y="1848313"/>
                </a:cubicBezTo>
                <a:cubicBezTo>
                  <a:pt x="424839" y="1761034"/>
                  <a:pt x="371384" y="1649788"/>
                  <a:pt x="349941" y="1526316"/>
                </a:cubicBezTo>
                <a:cubicBezTo>
                  <a:pt x="368960" y="1666741"/>
                  <a:pt x="426440" y="1793358"/>
                  <a:pt x="524445" y="1891409"/>
                </a:cubicBezTo>
                <a:lnTo>
                  <a:pt x="524445" y="1891363"/>
                </a:lnTo>
              </a:path>
            </a:pathLst>
          </a:custGeom>
          <a:solidFill>
            <a:srgbClr val="FF8F43"/>
          </a:solidFill>
          <a:ln/>
        </p:spPr>
      </p:sp>
      <p:sp>
        <p:nvSpPr>
          <p:cNvPr id="4" name="Shape 2"/>
          <p:cNvSpPr/>
          <p:nvPr/>
        </p:nvSpPr>
        <p:spPr>
          <a:xfrm>
            <a:off x="10896941" y="6472260"/>
            <a:ext cx="218478" cy="218478"/>
          </a:xfrm>
          <a:custGeom>
            <a:avLst/>
            <a:gdLst/>
            <a:ahLst/>
            <a:cxnLst/>
            <a:rect l="l" t="t" r="r" b="b"/>
            <a:pathLst>
              <a:path w="218478" h="218478">
                <a:moveTo>
                  <a:pt x="44952" y="116659"/>
                </a:moveTo>
                <a:lnTo>
                  <a:pt x="0" y="109243"/>
                </a:lnTo>
                <a:lnTo>
                  <a:pt x="44952" y="101818"/>
                </a:lnTo>
                <a:cubicBezTo>
                  <a:pt x="74130" y="97018"/>
                  <a:pt x="97018" y="74130"/>
                  <a:pt x="101818" y="44952"/>
                </a:cubicBezTo>
                <a:lnTo>
                  <a:pt x="109243" y="0"/>
                </a:lnTo>
                <a:lnTo>
                  <a:pt x="116659" y="44952"/>
                </a:lnTo>
                <a:cubicBezTo>
                  <a:pt x="121460" y="74130"/>
                  <a:pt x="144347" y="97018"/>
                  <a:pt x="173526" y="101818"/>
                </a:cubicBezTo>
                <a:lnTo>
                  <a:pt x="218478" y="109243"/>
                </a:lnTo>
                <a:lnTo>
                  <a:pt x="173526" y="116659"/>
                </a:lnTo>
                <a:cubicBezTo>
                  <a:pt x="144347" y="121460"/>
                  <a:pt x="121460" y="144347"/>
                  <a:pt x="116659" y="173526"/>
                </a:cubicBezTo>
                <a:lnTo>
                  <a:pt x="109243" y="218478"/>
                </a:lnTo>
                <a:lnTo>
                  <a:pt x="101818" y="173526"/>
                </a:lnTo>
                <a:cubicBezTo>
                  <a:pt x="97018" y="144347"/>
                  <a:pt x="74130" y="121460"/>
                  <a:pt x="44952" y="116659"/>
                </a:cubicBezTo>
              </a:path>
            </a:pathLst>
          </a:custGeom>
          <a:solidFill>
            <a:srgbClr val="FF8F43"/>
          </a:solidFill>
          <a:ln/>
        </p:spPr>
      </p:sp>
      <p:sp>
        <p:nvSpPr>
          <p:cNvPr id="5" name="Shape 3"/>
          <p:cNvSpPr/>
          <p:nvPr/>
        </p:nvSpPr>
        <p:spPr>
          <a:xfrm>
            <a:off x="12019139" y="5695414"/>
            <a:ext cx="188686" cy="188686"/>
          </a:xfrm>
          <a:custGeom>
            <a:avLst/>
            <a:gdLst/>
            <a:ahLst/>
            <a:cxnLst/>
            <a:rect l="l" t="t" r="r" b="b"/>
            <a:pathLst>
              <a:path w="188686" h="188686">
                <a:moveTo>
                  <a:pt x="87947" y="38816"/>
                </a:moveTo>
                <a:lnTo>
                  <a:pt x="94339" y="0"/>
                </a:lnTo>
                <a:lnTo>
                  <a:pt x="100730" y="38816"/>
                </a:lnTo>
                <a:cubicBezTo>
                  <a:pt x="104909" y="64026"/>
                  <a:pt x="124651" y="83768"/>
                  <a:pt x="149861" y="87947"/>
                </a:cubicBezTo>
                <a:lnTo>
                  <a:pt x="188686" y="94339"/>
                </a:lnTo>
                <a:lnTo>
                  <a:pt x="149861" y="100730"/>
                </a:lnTo>
                <a:cubicBezTo>
                  <a:pt x="124651" y="104909"/>
                  <a:pt x="104909" y="124651"/>
                  <a:pt x="100730" y="149861"/>
                </a:cubicBezTo>
                <a:lnTo>
                  <a:pt x="94339" y="188686"/>
                </a:lnTo>
                <a:lnTo>
                  <a:pt x="87947" y="149861"/>
                </a:lnTo>
                <a:cubicBezTo>
                  <a:pt x="83768" y="124651"/>
                  <a:pt x="64026" y="104909"/>
                  <a:pt x="38816" y="100730"/>
                </a:cubicBezTo>
                <a:lnTo>
                  <a:pt x="0" y="94339"/>
                </a:lnTo>
                <a:lnTo>
                  <a:pt x="38816" y="87947"/>
                </a:lnTo>
                <a:cubicBezTo>
                  <a:pt x="64026" y="83768"/>
                  <a:pt x="83768" y="64026"/>
                  <a:pt x="87947" y="38816"/>
                </a:cubicBezTo>
                <a:lnTo>
                  <a:pt x="87947" y="38816"/>
                </a:lnTo>
              </a:path>
            </a:pathLst>
          </a:custGeom>
          <a:solidFill>
            <a:srgbClr val="FF8F43"/>
          </a:solidFill>
          <a:ln/>
        </p:spPr>
      </p:sp>
      <p:sp>
        <p:nvSpPr>
          <p:cNvPr id="6" name="Shape 4"/>
          <p:cNvSpPr/>
          <p:nvPr/>
        </p:nvSpPr>
        <p:spPr>
          <a:xfrm>
            <a:off x="11079593" y="6036951"/>
            <a:ext cx="130220" cy="130220"/>
          </a:xfrm>
          <a:custGeom>
            <a:avLst/>
            <a:gdLst/>
            <a:ahLst/>
            <a:cxnLst/>
            <a:rect l="l" t="t" r="r" b="b"/>
            <a:pathLst>
              <a:path w="130220" h="130220">
                <a:moveTo>
                  <a:pt x="60680" y="26810"/>
                </a:moveTo>
                <a:lnTo>
                  <a:pt x="65114" y="0"/>
                </a:lnTo>
                <a:lnTo>
                  <a:pt x="69540" y="26810"/>
                </a:lnTo>
                <a:cubicBezTo>
                  <a:pt x="72430" y="44184"/>
                  <a:pt x="86045" y="57845"/>
                  <a:pt x="103409" y="60680"/>
                </a:cubicBezTo>
                <a:lnTo>
                  <a:pt x="130220" y="65114"/>
                </a:lnTo>
                <a:lnTo>
                  <a:pt x="103409" y="69540"/>
                </a:lnTo>
                <a:cubicBezTo>
                  <a:pt x="86045" y="72430"/>
                  <a:pt x="72384" y="86045"/>
                  <a:pt x="69540" y="103419"/>
                </a:cubicBezTo>
                <a:lnTo>
                  <a:pt x="65114" y="130220"/>
                </a:lnTo>
                <a:lnTo>
                  <a:pt x="60680" y="103419"/>
                </a:lnTo>
                <a:cubicBezTo>
                  <a:pt x="57790" y="86045"/>
                  <a:pt x="44184" y="72384"/>
                  <a:pt x="26810" y="69540"/>
                </a:cubicBezTo>
                <a:lnTo>
                  <a:pt x="0" y="65114"/>
                </a:lnTo>
                <a:lnTo>
                  <a:pt x="26810" y="60680"/>
                </a:lnTo>
                <a:cubicBezTo>
                  <a:pt x="44184" y="57790"/>
                  <a:pt x="57845" y="44184"/>
                  <a:pt x="60680" y="26810"/>
                </a:cubicBezTo>
              </a:path>
            </a:pathLst>
          </a:custGeom>
          <a:solidFill>
            <a:srgbClr val="FF8F43"/>
          </a:solidFill>
          <a:ln/>
        </p:spPr>
      </p:sp>
      <p:sp>
        <p:nvSpPr>
          <p:cNvPr id="7" name="Shape 5"/>
          <p:cNvSpPr/>
          <p:nvPr/>
        </p:nvSpPr>
        <p:spPr>
          <a:xfrm>
            <a:off x="1013100" y="5689479"/>
            <a:ext cx="831647" cy="123087"/>
          </a:xfrm>
          <a:custGeom>
            <a:avLst/>
            <a:gdLst/>
            <a:ahLst/>
            <a:cxnLst/>
            <a:rect l="l" t="t" r="r" b="b"/>
            <a:pathLst>
              <a:path w="831647" h="123087">
                <a:moveTo>
                  <a:pt x="829608" y="45656"/>
                </a:moveTo>
                <a:cubicBezTo>
                  <a:pt x="827578" y="41843"/>
                  <a:pt x="822832" y="40407"/>
                  <a:pt x="819019" y="42437"/>
                </a:cubicBezTo>
                <a:cubicBezTo>
                  <a:pt x="811457" y="46479"/>
                  <a:pt x="803986" y="50667"/>
                  <a:pt x="796762" y="54718"/>
                </a:cubicBezTo>
                <a:cubicBezTo>
                  <a:pt x="748345" y="81821"/>
                  <a:pt x="702607" y="107433"/>
                  <a:pt x="608725" y="107433"/>
                </a:cubicBezTo>
                <a:cubicBezTo>
                  <a:pt x="514835" y="107433"/>
                  <a:pt x="469087" y="81821"/>
                  <a:pt x="420670" y="54718"/>
                </a:cubicBezTo>
                <a:cubicBezTo>
                  <a:pt x="372636" y="27816"/>
                  <a:pt x="322957" y="0"/>
                  <a:pt x="224979" y="0"/>
                </a:cubicBezTo>
                <a:cubicBezTo>
                  <a:pt x="127001" y="0"/>
                  <a:pt x="77331" y="27816"/>
                  <a:pt x="29288" y="54718"/>
                </a:cubicBezTo>
                <a:cubicBezTo>
                  <a:pt x="21479" y="59089"/>
                  <a:pt x="13396" y="63606"/>
                  <a:pt x="5276" y="67912"/>
                </a:cubicBezTo>
                <a:cubicBezTo>
                  <a:pt x="1454" y="69933"/>
                  <a:pt x="0" y="74670"/>
                  <a:pt x="2021" y="78492"/>
                </a:cubicBezTo>
                <a:cubicBezTo>
                  <a:pt x="4051" y="82314"/>
                  <a:pt x="8787" y="83777"/>
                  <a:pt x="12610" y="81747"/>
                </a:cubicBezTo>
                <a:cubicBezTo>
                  <a:pt x="20894" y="77358"/>
                  <a:pt x="29050" y="72795"/>
                  <a:pt x="36933" y="68379"/>
                </a:cubicBezTo>
                <a:cubicBezTo>
                  <a:pt x="85359" y="41258"/>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76" y="64374"/>
                  <a:pt x="818973" y="60213"/>
                  <a:pt x="826398" y="56254"/>
                </a:cubicBezTo>
                <a:cubicBezTo>
                  <a:pt x="830211" y="54215"/>
                  <a:pt x="831647" y="49478"/>
                  <a:pt x="829608" y="45656"/>
                </a:cubicBezTo>
              </a:path>
            </a:pathLst>
          </a:custGeom>
          <a:solidFill>
            <a:srgbClr val="2B0000"/>
          </a:solidFill>
          <a:ln/>
        </p:spPr>
      </p:sp>
      <p:sp>
        <p:nvSpPr>
          <p:cNvPr id="8" name="Shape 6"/>
          <p:cNvSpPr/>
          <p:nvPr/>
        </p:nvSpPr>
        <p:spPr>
          <a:xfrm>
            <a:off x="1013100" y="5849874"/>
            <a:ext cx="831647" cy="123087"/>
          </a:xfrm>
          <a:custGeom>
            <a:avLst/>
            <a:gdLst/>
            <a:ahLst/>
            <a:cxnLst/>
            <a:rect l="l" t="t" r="r" b="b"/>
            <a:pathLst>
              <a:path w="831647" h="123087">
                <a:moveTo>
                  <a:pt x="829608" y="45656"/>
                </a:moveTo>
                <a:cubicBezTo>
                  <a:pt x="827578" y="41843"/>
                  <a:pt x="822832" y="40398"/>
                  <a:pt x="819019" y="42437"/>
                </a:cubicBezTo>
                <a:cubicBezTo>
                  <a:pt x="811457" y="46479"/>
                  <a:pt x="803986" y="50658"/>
                  <a:pt x="796762" y="54709"/>
                </a:cubicBezTo>
                <a:cubicBezTo>
                  <a:pt x="748345" y="81821"/>
                  <a:pt x="702607" y="107424"/>
                  <a:pt x="608725" y="107424"/>
                </a:cubicBezTo>
                <a:cubicBezTo>
                  <a:pt x="514835" y="107424"/>
                  <a:pt x="469087" y="81821"/>
                  <a:pt x="420670" y="54709"/>
                </a:cubicBezTo>
                <a:cubicBezTo>
                  <a:pt x="372636" y="27807"/>
                  <a:pt x="322957" y="0"/>
                  <a:pt x="224979" y="0"/>
                </a:cubicBezTo>
                <a:cubicBezTo>
                  <a:pt x="127001" y="0"/>
                  <a:pt x="77322" y="27807"/>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67"/>
                  <a:pt x="413025" y="68379"/>
                </a:cubicBezTo>
                <a:cubicBezTo>
                  <a:pt x="461068" y="95271"/>
                  <a:pt x="510738" y="123087"/>
                  <a:pt x="608725" y="123087"/>
                </a:cubicBezTo>
                <a:cubicBezTo>
                  <a:pt x="706694" y="123087"/>
                  <a:pt x="756364" y="95271"/>
                  <a:pt x="804407" y="68379"/>
                </a:cubicBezTo>
                <a:cubicBezTo>
                  <a:pt x="811576" y="64365"/>
                  <a:pt x="818973" y="60213"/>
                  <a:pt x="826398" y="56254"/>
                </a:cubicBezTo>
                <a:cubicBezTo>
                  <a:pt x="830211" y="54206"/>
                  <a:pt x="831647" y="49469"/>
                  <a:pt x="829608" y="45656"/>
                </a:cubicBezTo>
              </a:path>
            </a:pathLst>
          </a:custGeom>
          <a:solidFill>
            <a:srgbClr val="2B0000"/>
          </a:solidFill>
          <a:ln/>
        </p:spPr>
      </p:sp>
      <p:sp>
        <p:nvSpPr>
          <p:cNvPr id="9" name="Shape 7"/>
          <p:cNvSpPr/>
          <p:nvPr/>
        </p:nvSpPr>
        <p:spPr>
          <a:xfrm>
            <a:off x="1013100" y="6010260"/>
            <a:ext cx="831647" cy="123087"/>
          </a:xfrm>
          <a:custGeom>
            <a:avLst/>
            <a:gdLst/>
            <a:ahLst/>
            <a:cxnLst/>
            <a:rect l="l" t="t" r="r" b="b"/>
            <a:pathLst>
              <a:path w="831647" h="123087">
                <a:moveTo>
                  <a:pt x="829608" y="45656"/>
                </a:moveTo>
                <a:cubicBezTo>
                  <a:pt x="827578" y="41843"/>
                  <a:pt x="822832" y="40407"/>
                  <a:pt x="819019" y="42446"/>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18"/>
                </a:cubicBezTo>
                <a:cubicBezTo>
                  <a:pt x="21470" y="59089"/>
                  <a:pt x="13396" y="63606"/>
                  <a:pt x="5276" y="67912"/>
                </a:cubicBezTo>
                <a:cubicBezTo>
                  <a:pt x="1454" y="69933"/>
                  <a:pt x="0" y="74670"/>
                  <a:pt x="2021" y="78501"/>
                </a:cubicBezTo>
                <a:cubicBezTo>
                  <a:pt x="4051" y="82314"/>
                  <a:pt x="8787" y="83777"/>
                  <a:pt x="12610" y="81747"/>
                </a:cubicBezTo>
                <a:cubicBezTo>
                  <a:pt x="20894" y="77358"/>
                  <a:pt x="29041" y="72795"/>
                  <a:pt x="36933" y="68379"/>
                </a:cubicBezTo>
                <a:cubicBezTo>
                  <a:pt x="85350" y="41267"/>
                  <a:pt x="131088" y="15664"/>
                  <a:pt x="224979" y="15664"/>
                </a:cubicBezTo>
                <a:cubicBezTo>
                  <a:pt x="318870" y="15664"/>
                  <a:pt x="364608" y="41267"/>
                  <a:pt x="413025" y="68370"/>
                </a:cubicBezTo>
                <a:cubicBezTo>
                  <a:pt x="461068" y="95271"/>
                  <a:pt x="510738" y="123087"/>
                  <a:pt x="608725" y="123087"/>
                </a:cubicBezTo>
                <a:cubicBezTo>
                  <a:pt x="706694" y="123087"/>
                  <a:pt x="756364" y="95271"/>
                  <a:pt x="804407" y="68370"/>
                </a:cubicBezTo>
                <a:cubicBezTo>
                  <a:pt x="811567" y="64365"/>
                  <a:pt x="818973" y="60222"/>
                  <a:pt x="826398" y="56254"/>
                </a:cubicBezTo>
                <a:cubicBezTo>
                  <a:pt x="830211" y="54215"/>
                  <a:pt x="831647" y="49469"/>
                  <a:pt x="829608" y="45656"/>
                </a:cubicBezTo>
              </a:path>
            </a:pathLst>
          </a:custGeom>
          <a:solidFill>
            <a:srgbClr val="2B0000"/>
          </a:solidFill>
          <a:ln/>
        </p:spPr>
      </p:sp>
      <p:sp>
        <p:nvSpPr>
          <p:cNvPr id="10" name="Shape 8"/>
          <p:cNvSpPr/>
          <p:nvPr/>
        </p:nvSpPr>
        <p:spPr>
          <a:xfrm>
            <a:off x="1013100" y="6170655"/>
            <a:ext cx="831647" cy="123087"/>
          </a:xfrm>
          <a:custGeom>
            <a:avLst/>
            <a:gdLst/>
            <a:ahLst/>
            <a:cxnLst/>
            <a:rect l="l" t="t" r="r" b="b"/>
            <a:pathLst>
              <a:path w="831647" h="123087">
                <a:moveTo>
                  <a:pt x="826398" y="56254"/>
                </a:moveTo>
                <a:cubicBezTo>
                  <a:pt x="830211" y="54215"/>
                  <a:pt x="831647" y="49469"/>
                  <a:pt x="829608" y="45656"/>
                </a:cubicBezTo>
                <a:cubicBezTo>
                  <a:pt x="827578" y="41843"/>
                  <a:pt x="822832" y="40398"/>
                  <a:pt x="819019" y="42437"/>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67" y="64365"/>
                  <a:pt x="818973" y="60213"/>
                  <a:pt x="826398" y="56254"/>
                </a:cubicBezTo>
              </a:path>
            </a:pathLst>
          </a:custGeom>
          <a:solidFill>
            <a:srgbClr val="2B0000"/>
          </a:solidFill>
          <a:ln/>
        </p:spPr>
      </p:sp>
      <p:sp>
        <p:nvSpPr>
          <p:cNvPr id="11" name="Shape 9"/>
          <p:cNvSpPr/>
          <p:nvPr/>
        </p:nvSpPr>
        <p:spPr>
          <a:xfrm>
            <a:off x="925611" y="2878211"/>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pic>
        <p:nvPicPr>
          <p:cNvPr id="12" name="Image 0" descr="D:\Projects\20. fintechthon\deck\out\template_assets\p3_x37.png">    </p:cNvPr>
          <p:cNvPicPr>
            <a:picLocks noChangeAspect="1"/>
          </p:cNvPicPr>
          <p:nvPr/>
        </p:nvPicPr>
        <p:blipFill>
          <a:blip r:embed="rId1"/>
          <a:stretch>
            <a:fillRect/>
          </a:stretch>
        </p:blipFill>
        <p:spPr>
          <a:xfrm>
            <a:off x="544734" y="278171"/>
            <a:ext cx="901700" cy="901700"/>
          </a:xfrm>
          <a:prstGeom prst="rect">
            <a:avLst/>
          </a:prstGeom>
        </p:spPr>
      </p:pic>
      <p:sp>
        <p:nvSpPr>
          <p:cNvPr id="13" name="Text 10"/>
          <p:cNvSpPr txBox="1"/>
          <p:nvPr/>
        </p:nvSpPr>
        <p:spPr>
          <a:xfrm>
            <a:off x="4230472" y="383499"/>
            <a:ext cx="3730935" cy="634959"/>
          </a:xfrm>
          <a:prstGeom prst="rect">
            <a:avLst/>
          </a:prstGeom>
          <a:noFill/>
          <a:ln/>
        </p:spPr>
        <p:txBody>
          <a:bodyPr wrap="none" lIns="0" tIns="0" rIns="0" bIns="0" rtlCol="0" anchor="t"/>
          <a:lstStyle/>
          <a:p>
            <a:pPr algn="ctr" indent="0" marL="0">
              <a:buNone/>
            </a:pPr>
            <a:r>
              <a:rPr lang="en-US" sz="5400" b="1" spc="-100" kern="0" dirty="0">
                <a:solidFill>
                  <a:srgbClr val="24110C"/>
                </a:solidFill>
                <a:latin typeface="League Spartan" pitchFamily="34" charset="0"/>
                <a:ea typeface="League Spartan" pitchFamily="34" charset="-122"/>
                <a:cs typeface="League Spartan" pitchFamily="34" charset="-120"/>
              </a:rPr>
              <a:t>Team name</a:t>
            </a:r>
            <a:endParaRPr lang="en-US" sz="5400" dirty="0"/>
          </a:p>
        </p:txBody>
      </p:sp>
      <p:sp>
        <p:nvSpPr>
          <p:cNvPr id="14" name="Shape 11"/>
          <p:cNvSpPr/>
          <p:nvPr/>
        </p:nvSpPr>
        <p:spPr>
          <a:xfrm>
            <a:off x="4327398" y="520659"/>
            <a:ext cx="3537174" cy="660380"/>
          </a:xfrm>
          <a:prstGeom prst="rect">
            <a:avLst/>
          </a:prstGeom>
          <a:ln/>
        </p:spPr>
      </p:sp>
      <p:sp>
        <p:nvSpPr>
          <p:cNvPr id="15" name="Shape 12"/>
          <p:cNvSpPr/>
          <p:nvPr/>
        </p:nvSpPr>
        <p:spPr>
          <a:xfrm>
            <a:off x="4327398" y="1168420"/>
            <a:ext cx="3537174" cy="0"/>
          </a:xfrm>
          <a:prstGeom prst="line">
            <a:avLst/>
          </a:prstGeom>
          <a:noFill/>
          <a:ln w="25400">
            <a:solidFill>
              <a:srgbClr val="F28C3A"/>
            </a:solidFill>
            <a:prstDash val="dash"/>
          </a:ln>
        </p:spPr>
      </p:sp>
      <p:sp>
        <p:nvSpPr>
          <p:cNvPr id="16" name="Text 13"/>
          <p:cNvSpPr txBox="1"/>
          <p:nvPr/>
        </p:nvSpPr>
        <p:spPr>
          <a:xfrm>
            <a:off x="4957602" y="1295430"/>
            <a:ext cx="2276673" cy="311170"/>
          </a:xfrm>
          <a:prstGeom prst="rect">
            <a:avLst/>
          </a:prstGeom>
          <a:noFill/>
          <a:ln/>
        </p:spPr>
        <p:txBody>
          <a:bodyPr wrap="none" lIns="0" tIns="0" rIns="0" bIns="0" rtlCol="0" anchor="t"/>
          <a:lstStyle/>
          <a:p>
            <a:pPr algn="ctr" indent="0" marL="0">
              <a:buNone/>
            </a:pPr>
            <a:r>
              <a:rPr lang="en-US" sz="2000" spc="100" kern="0" dirty="0">
                <a:solidFill>
                  <a:srgbClr val="24110C"/>
                </a:solidFill>
                <a:latin typeface="Inter" pitchFamily="34" charset="0"/>
                <a:ea typeface="Inter" pitchFamily="34" charset="-122"/>
                <a:cs typeface="Inter" pitchFamily="34" charset="-120"/>
              </a:rPr>
              <a:t>Team members</a:t>
            </a:r>
            <a:endParaRPr lang="en-US" sz="2000" dirty="0"/>
          </a:p>
        </p:txBody>
      </p:sp>
      <p:pic>
        <p:nvPicPr>
          <p:cNvPr id="17" name="Image 1" descr="D:\Projects\20. fintechthon\deck\out\assets\s3_img020.png">    </p:cNvPr>
          <p:cNvPicPr>
            <a:picLocks noChangeAspect="1"/>
          </p:cNvPicPr>
          <p:nvPr/>
        </p:nvPicPr>
        <p:blipFill>
          <a:blip r:embed="rId2"/>
          <a:stretch>
            <a:fillRect/>
          </a:stretch>
        </p:blipFill>
        <p:spPr>
          <a:xfrm>
            <a:off x="4715195" y="2244761"/>
            <a:ext cx="558790" cy="558790"/>
          </a:xfrm>
          <a:prstGeom prst="rect">
            <a:avLst/>
          </a:prstGeom>
        </p:spPr>
      </p:pic>
      <p:sp>
        <p:nvSpPr>
          <p:cNvPr id="18" name="Text 14"/>
          <p:cNvSpPr txBox="1"/>
          <p:nvPr/>
        </p:nvSpPr>
        <p:spPr>
          <a:xfrm>
            <a:off x="5407304" y="2153961"/>
            <a:ext cx="2236897" cy="374630"/>
          </a:xfrm>
          <a:prstGeom prst="rect">
            <a:avLst/>
          </a:prstGeom>
          <a:noFill/>
          <a:ln/>
        </p:spPr>
        <p:txBody>
          <a:bodyPr wrap="none" lIns="0" tIns="0" rIns="0" bIns="0" rtlCol="0" anchor="t"/>
          <a:lstStyle/>
          <a:p>
            <a:pPr algn="l" indent="0" marL="0">
              <a:buNone/>
            </a:pPr>
            <a:r>
              <a:rPr lang="en-US" sz="3200" spc="-75" kern="0" dirty="0">
                <a:solidFill>
                  <a:srgbClr val="24110C"/>
                </a:solidFill>
                <a:latin typeface="League Spartan ExtraBold" pitchFamily="34" charset="0"/>
                <a:ea typeface="League Spartan ExtraBold" pitchFamily="34" charset="-122"/>
                <a:cs typeface="League Spartan ExtraBold" pitchFamily="34" charset="-120"/>
              </a:rPr>
              <a:t>LedgerLens</a:t>
            </a:r>
            <a:endParaRPr lang="en-US" sz="3200" dirty="0"/>
          </a:p>
        </p:txBody>
      </p:sp>
      <p:sp>
        <p:nvSpPr>
          <p:cNvPr id="19" name="Text 15"/>
          <p:cNvSpPr txBox="1"/>
          <p:nvPr/>
        </p:nvSpPr>
        <p:spPr>
          <a:xfrm>
            <a:off x="5407304" y="2667030"/>
            <a:ext cx="2336109" cy="158740"/>
          </a:xfrm>
          <a:prstGeom prst="rect">
            <a:avLst/>
          </a:prstGeom>
          <a:noFill/>
          <a:ln/>
        </p:spPr>
        <p:txBody>
          <a:bodyPr wrap="none" lIns="0" tIns="0" rIns="0" bIns="0" rtlCol="0" anchor="t"/>
          <a:lstStyle/>
          <a:p>
            <a:pPr algn="l" indent="0" marL="0">
              <a:buNone/>
            </a:pPr>
            <a:r>
              <a:rPr lang="en-US" sz="1050" dirty="0">
                <a:solidFill>
                  <a:srgbClr val="5B4339"/>
                </a:solidFill>
                <a:latin typeface="Inter" pitchFamily="34" charset="0"/>
                <a:ea typeface="Inter" pitchFamily="34" charset="-122"/>
                <a:cs typeface="Inter" pitchFamily="34" charset="-120"/>
              </a:rPr>
              <a:t>Your AI assistant for GST checks</a:t>
            </a:r>
            <a:endParaRPr lang="en-US" sz="1050" dirty="0"/>
          </a:p>
        </p:txBody>
      </p:sp>
      <p:sp>
        <p:nvSpPr>
          <p:cNvPr id="20" name="Shape 16"/>
          <p:cNvSpPr/>
          <p:nvPr/>
        </p:nvSpPr>
        <p:spPr>
          <a:xfrm>
            <a:off x="2095530" y="3301990"/>
            <a:ext cx="1895460" cy="1524030"/>
          </a:xfrm>
          <a:prstGeom prst="roundRect">
            <a:avLst>
              <a:gd name="adj" fmla="val 7500"/>
            </a:avLst>
          </a:prstGeom>
          <a:solidFill>
            <a:srgbClr val="FFF7EC"/>
          </a:solidFill>
          <a:ln w="6350">
            <a:solidFill>
              <a:srgbClr val="24110C">
                <a:alpha val="13000"/>
              </a:srgbClr>
            </a:solidFill>
            <a:prstDash val="solid"/>
          </a:ln>
        </p:spPr>
      </p:sp>
      <p:sp>
        <p:nvSpPr>
          <p:cNvPr id="21" name="Shape 17"/>
          <p:cNvSpPr/>
          <p:nvPr/>
        </p:nvSpPr>
        <p:spPr>
          <a:xfrm>
            <a:off x="2738445" y="3473440"/>
            <a:ext cx="609630" cy="609630"/>
          </a:xfrm>
          <a:prstGeom prst="ellipse">
            <a:avLst/>
          </a:prstGeom>
          <a:solidFill>
            <a:srgbClr val="FDDDBF"/>
          </a:solidFill>
          <a:ln/>
        </p:spPr>
      </p:sp>
      <p:sp>
        <p:nvSpPr>
          <p:cNvPr id="22" name="Text 18"/>
          <p:cNvSpPr txBox="1"/>
          <p:nvPr/>
        </p:nvSpPr>
        <p:spPr>
          <a:xfrm>
            <a:off x="2886669" y="3636660"/>
            <a:ext cx="313182" cy="196870"/>
          </a:xfrm>
          <a:prstGeom prst="rect">
            <a:avLst/>
          </a:prstGeom>
          <a:noFill/>
          <a:ln/>
        </p:spPr>
        <p:txBody>
          <a:bodyPr wrap="none" lIns="0" tIns="0" rIns="0" bIns="0" rtlCol="0" anchor="t"/>
          <a:lstStyle/>
          <a:p>
            <a:pPr algn="ctr" indent="0" marL="0">
              <a:buNone/>
            </a:pPr>
            <a:r>
              <a:rPr lang="en-US" sz="1700" dirty="0">
                <a:solidFill>
                  <a:srgbClr val="D2601A"/>
                </a:solidFill>
                <a:latin typeface="League Spartan ExtraBold" pitchFamily="34" charset="0"/>
                <a:ea typeface="League Spartan ExtraBold" pitchFamily="34" charset="-122"/>
                <a:cs typeface="League Spartan ExtraBold" pitchFamily="34" charset="-120"/>
              </a:rPr>
              <a:t>M1</a:t>
            </a:r>
            <a:endParaRPr lang="en-US" sz="1700" dirty="0"/>
          </a:p>
        </p:txBody>
      </p:sp>
      <p:sp>
        <p:nvSpPr>
          <p:cNvPr id="23" name="Text 19"/>
          <p:cNvSpPr txBox="1"/>
          <p:nvPr/>
        </p:nvSpPr>
        <p:spPr>
          <a:xfrm>
            <a:off x="2506188" y="4184660"/>
            <a:ext cx="1074054" cy="158740"/>
          </a:xfrm>
          <a:prstGeom prst="rect">
            <a:avLst/>
          </a:prstGeom>
          <a:noFill/>
          <a:ln/>
        </p:spPr>
        <p:txBody>
          <a:bodyPr wrap="none" lIns="0" tIns="0" rIns="0" bIns="0" rtlCol="0" anchor="t"/>
          <a:lstStyle/>
          <a:p>
            <a:pPr algn="ctr" indent="0" marL="0">
              <a:buNone/>
            </a:pPr>
            <a:r>
              <a:rPr lang="en-US" sz="1050" b="1" dirty="0">
                <a:solidFill>
                  <a:srgbClr val="24110C"/>
                </a:solidFill>
                <a:latin typeface="Inter" pitchFamily="34" charset="0"/>
                <a:ea typeface="Inter" pitchFamily="34" charset="-122"/>
                <a:cs typeface="Inter" pitchFamily="34" charset="-120"/>
              </a:rPr>
              <a:t>Member name</a:t>
            </a:r>
            <a:endParaRPr lang="en-US" sz="1050" dirty="0"/>
          </a:p>
        </p:txBody>
      </p:sp>
      <p:sp>
        <p:nvSpPr>
          <p:cNvPr id="24" name="Text 20"/>
          <p:cNvSpPr txBox="1"/>
          <p:nvPr/>
        </p:nvSpPr>
        <p:spPr>
          <a:xfrm>
            <a:off x="2675717" y="4381530"/>
            <a:ext cx="735086" cy="127010"/>
          </a:xfrm>
          <a:prstGeom prst="rect">
            <a:avLst/>
          </a:prstGeom>
          <a:noFill/>
          <a:ln/>
        </p:spPr>
        <p:txBody>
          <a:bodyPr wrap="none" lIns="0" tIns="0" rIns="0" bIns="0" rtlCol="0" anchor="t"/>
          <a:lstStyle/>
          <a:p>
            <a:pPr algn="ctr" indent="0" marL="0">
              <a:buNone/>
            </a:pPr>
            <a:r>
              <a:rPr lang="en-US" sz="800" dirty="0">
                <a:solidFill>
                  <a:srgbClr val="5B4339"/>
                </a:solidFill>
                <a:latin typeface="Inter" pitchFamily="34" charset="0"/>
                <a:ea typeface="Inter" pitchFamily="34" charset="-122"/>
                <a:cs typeface="Inter" pitchFamily="34" charset="-120"/>
              </a:rPr>
              <a:t>College, year</a:t>
            </a:r>
            <a:endParaRPr lang="en-US" sz="800" dirty="0"/>
          </a:p>
        </p:txBody>
      </p:sp>
      <p:sp>
        <p:nvSpPr>
          <p:cNvPr id="25" name="Text 21"/>
          <p:cNvSpPr txBox="1"/>
          <p:nvPr/>
        </p:nvSpPr>
        <p:spPr>
          <a:xfrm>
            <a:off x="2920959" y="4533870"/>
            <a:ext cx="244511" cy="120609"/>
          </a:xfrm>
          <a:prstGeom prst="rect">
            <a:avLst/>
          </a:prstGeom>
          <a:noFill/>
          <a:ln/>
        </p:spPr>
        <p:txBody>
          <a:bodyPr wrap="none" lIns="0" tIns="0" rIns="0" bIns="0" rtlCol="0" anchor="t"/>
          <a:lstStyle/>
          <a:p>
            <a:pPr algn="ctr" indent="0" marL="0">
              <a:buNone/>
            </a:pPr>
            <a:r>
              <a:rPr lang="en-US" sz="750" dirty="0">
                <a:solidFill>
                  <a:srgbClr val="8C7368"/>
                </a:solidFill>
                <a:latin typeface="Inter" pitchFamily="34" charset="0"/>
                <a:ea typeface="Inter" pitchFamily="34" charset="-122"/>
                <a:cs typeface="Inter" pitchFamily="34" charset="-120"/>
              </a:rPr>
              <a:t>Role</a:t>
            </a:r>
            <a:endParaRPr lang="en-US" sz="750" dirty="0"/>
          </a:p>
        </p:txBody>
      </p:sp>
      <p:sp>
        <p:nvSpPr>
          <p:cNvPr id="26" name="Shape 22"/>
          <p:cNvSpPr/>
          <p:nvPr/>
        </p:nvSpPr>
        <p:spPr>
          <a:xfrm>
            <a:off x="4130711" y="3301990"/>
            <a:ext cx="1895460" cy="1524030"/>
          </a:xfrm>
          <a:prstGeom prst="roundRect">
            <a:avLst>
              <a:gd name="adj" fmla="val 7500"/>
            </a:avLst>
          </a:prstGeom>
          <a:solidFill>
            <a:srgbClr val="FFF7EC"/>
          </a:solidFill>
          <a:ln w="6350">
            <a:solidFill>
              <a:srgbClr val="24110C">
                <a:alpha val="13000"/>
              </a:srgbClr>
            </a:solidFill>
            <a:prstDash val="solid"/>
          </a:ln>
        </p:spPr>
      </p:sp>
      <p:sp>
        <p:nvSpPr>
          <p:cNvPr id="27" name="Shape 23"/>
          <p:cNvSpPr/>
          <p:nvPr/>
        </p:nvSpPr>
        <p:spPr>
          <a:xfrm>
            <a:off x="4773625" y="3473440"/>
            <a:ext cx="609630" cy="609630"/>
          </a:xfrm>
          <a:prstGeom prst="ellipse">
            <a:avLst/>
          </a:prstGeom>
          <a:solidFill>
            <a:srgbClr val="FDDDBF"/>
          </a:solidFill>
          <a:ln/>
        </p:spPr>
      </p:sp>
      <p:sp>
        <p:nvSpPr>
          <p:cNvPr id="28" name="Text 24"/>
          <p:cNvSpPr txBox="1"/>
          <p:nvPr/>
        </p:nvSpPr>
        <p:spPr>
          <a:xfrm>
            <a:off x="4892406" y="3636660"/>
            <a:ext cx="371978" cy="196870"/>
          </a:xfrm>
          <a:prstGeom prst="rect">
            <a:avLst/>
          </a:prstGeom>
          <a:noFill/>
          <a:ln/>
        </p:spPr>
        <p:txBody>
          <a:bodyPr wrap="none" lIns="0" tIns="0" rIns="0" bIns="0" rtlCol="0" anchor="t"/>
          <a:lstStyle/>
          <a:p>
            <a:pPr algn="ctr" indent="0" marL="0">
              <a:buNone/>
            </a:pPr>
            <a:r>
              <a:rPr lang="en-US" sz="1700" dirty="0">
                <a:solidFill>
                  <a:srgbClr val="D2601A"/>
                </a:solidFill>
                <a:latin typeface="League Spartan ExtraBold" pitchFamily="34" charset="0"/>
                <a:ea typeface="League Spartan ExtraBold" pitchFamily="34" charset="-122"/>
                <a:cs typeface="League Spartan ExtraBold" pitchFamily="34" charset="-120"/>
              </a:rPr>
              <a:t>M2</a:t>
            </a:r>
            <a:endParaRPr lang="en-US" sz="1700" dirty="0"/>
          </a:p>
        </p:txBody>
      </p:sp>
      <p:sp>
        <p:nvSpPr>
          <p:cNvPr id="29" name="Text 25"/>
          <p:cNvSpPr txBox="1"/>
          <p:nvPr/>
        </p:nvSpPr>
        <p:spPr>
          <a:xfrm>
            <a:off x="4541276" y="4184660"/>
            <a:ext cx="1074054" cy="158740"/>
          </a:xfrm>
          <a:prstGeom prst="rect">
            <a:avLst/>
          </a:prstGeom>
          <a:noFill/>
          <a:ln/>
        </p:spPr>
        <p:txBody>
          <a:bodyPr wrap="none" lIns="0" tIns="0" rIns="0" bIns="0" rtlCol="0" anchor="t"/>
          <a:lstStyle/>
          <a:p>
            <a:pPr algn="ctr" indent="0" marL="0">
              <a:buNone/>
            </a:pPr>
            <a:r>
              <a:rPr lang="en-US" sz="1050" b="1" dirty="0">
                <a:solidFill>
                  <a:srgbClr val="24110C"/>
                </a:solidFill>
                <a:latin typeface="Inter" pitchFamily="34" charset="0"/>
                <a:ea typeface="Inter" pitchFamily="34" charset="-122"/>
                <a:cs typeface="Inter" pitchFamily="34" charset="-120"/>
              </a:rPr>
              <a:t>Member name</a:t>
            </a:r>
            <a:endParaRPr lang="en-US" sz="1050" dirty="0"/>
          </a:p>
        </p:txBody>
      </p:sp>
      <p:sp>
        <p:nvSpPr>
          <p:cNvPr id="30" name="Text 26"/>
          <p:cNvSpPr txBox="1"/>
          <p:nvPr/>
        </p:nvSpPr>
        <p:spPr>
          <a:xfrm>
            <a:off x="4710897" y="4381530"/>
            <a:ext cx="735086" cy="127010"/>
          </a:xfrm>
          <a:prstGeom prst="rect">
            <a:avLst/>
          </a:prstGeom>
          <a:noFill/>
          <a:ln/>
        </p:spPr>
        <p:txBody>
          <a:bodyPr wrap="none" lIns="0" tIns="0" rIns="0" bIns="0" rtlCol="0" anchor="t"/>
          <a:lstStyle/>
          <a:p>
            <a:pPr algn="ctr" indent="0" marL="0">
              <a:buNone/>
            </a:pPr>
            <a:r>
              <a:rPr lang="en-US" sz="800" dirty="0">
                <a:solidFill>
                  <a:srgbClr val="5B4339"/>
                </a:solidFill>
                <a:latin typeface="Inter" pitchFamily="34" charset="0"/>
                <a:ea typeface="Inter" pitchFamily="34" charset="-122"/>
                <a:cs typeface="Inter" pitchFamily="34" charset="-120"/>
              </a:rPr>
              <a:t>College, year</a:t>
            </a:r>
            <a:endParaRPr lang="en-US" sz="800" dirty="0"/>
          </a:p>
        </p:txBody>
      </p:sp>
      <p:sp>
        <p:nvSpPr>
          <p:cNvPr id="31" name="Text 27"/>
          <p:cNvSpPr txBox="1"/>
          <p:nvPr/>
        </p:nvSpPr>
        <p:spPr>
          <a:xfrm>
            <a:off x="4956139" y="4533870"/>
            <a:ext cx="244511" cy="120609"/>
          </a:xfrm>
          <a:prstGeom prst="rect">
            <a:avLst/>
          </a:prstGeom>
          <a:noFill/>
          <a:ln/>
        </p:spPr>
        <p:txBody>
          <a:bodyPr wrap="none" lIns="0" tIns="0" rIns="0" bIns="0" rtlCol="0" anchor="t"/>
          <a:lstStyle/>
          <a:p>
            <a:pPr algn="ctr" indent="0" marL="0">
              <a:buNone/>
            </a:pPr>
            <a:r>
              <a:rPr lang="en-US" sz="750" dirty="0">
                <a:solidFill>
                  <a:srgbClr val="8C7368"/>
                </a:solidFill>
                <a:latin typeface="Inter" pitchFamily="34" charset="0"/>
                <a:ea typeface="Inter" pitchFamily="34" charset="-122"/>
                <a:cs typeface="Inter" pitchFamily="34" charset="-120"/>
              </a:rPr>
              <a:t>Role</a:t>
            </a:r>
            <a:endParaRPr lang="en-US" sz="750" dirty="0"/>
          </a:p>
        </p:txBody>
      </p:sp>
      <p:sp>
        <p:nvSpPr>
          <p:cNvPr id="32" name="Shape 28"/>
          <p:cNvSpPr/>
          <p:nvPr/>
        </p:nvSpPr>
        <p:spPr>
          <a:xfrm>
            <a:off x="6165891" y="3301990"/>
            <a:ext cx="1895460" cy="1524030"/>
          </a:xfrm>
          <a:prstGeom prst="roundRect">
            <a:avLst>
              <a:gd name="adj" fmla="val 7500"/>
            </a:avLst>
          </a:prstGeom>
          <a:solidFill>
            <a:srgbClr val="FFF7EC"/>
          </a:solidFill>
          <a:ln w="6350">
            <a:solidFill>
              <a:srgbClr val="24110C">
                <a:alpha val="13000"/>
              </a:srgbClr>
            </a:solidFill>
            <a:prstDash val="solid"/>
          </a:ln>
        </p:spPr>
      </p:sp>
      <p:sp>
        <p:nvSpPr>
          <p:cNvPr id="33" name="Shape 29"/>
          <p:cNvSpPr/>
          <p:nvPr/>
        </p:nvSpPr>
        <p:spPr>
          <a:xfrm>
            <a:off x="6808805" y="3473440"/>
            <a:ext cx="609630" cy="609630"/>
          </a:xfrm>
          <a:prstGeom prst="ellipse">
            <a:avLst/>
          </a:prstGeom>
          <a:solidFill>
            <a:srgbClr val="FDDDBF"/>
          </a:solidFill>
          <a:ln/>
        </p:spPr>
      </p:sp>
      <p:sp>
        <p:nvSpPr>
          <p:cNvPr id="34" name="Text 30"/>
          <p:cNvSpPr txBox="1"/>
          <p:nvPr/>
        </p:nvSpPr>
        <p:spPr>
          <a:xfrm>
            <a:off x="6931609" y="3636660"/>
            <a:ext cx="363931" cy="196870"/>
          </a:xfrm>
          <a:prstGeom prst="rect">
            <a:avLst/>
          </a:prstGeom>
          <a:noFill/>
          <a:ln/>
        </p:spPr>
        <p:txBody>
          <a:bodyPr wrap="none" lIns="0" tIns="0" rIns="0" bIns="0" rtlCol="0" anchor="t"/>
          <a:lstStyle/>
          <a:p>
            <a:pPr algn="ctr" indent="0" marL="0">
              <a:buNone/>
            </a:pPr>
            <a:r>
              <a:rPr lang="en-US" sz="1700" dirty="0">
                <a:solidFill>
                  <a:srgbClr val="D2601A"/>
                </a:solidFill>
                <a:latin typeface="League Spartan ExtraBold" pitchFamily="34" charset="0"/>
                <a:ea typeface="League Spartan ExtraBold" pitchFamily="34" charset="-122"/>
                <a:cs typeface="League Spartan ExtraBold" pitchFamily="34" charset="-120"/>
              </a:rPr>
              <a:t>M3</a:t>
            </a:r>
            <a:endParaRPr lang="en-US" sz="1700" dirty="0"/>
          </a:p>
        </p:txBody>
      </p:sp>
      <p:sp>
        <p:nvSpPr>
          <p:cNvPr id="35" name="Text 31"/>
          <p:cNvSpPr txBox="1"/>
          <p:nvPr/>
        </p:nvSpPr>
        <p:spPr>
          <a:xfrm>
            <a:off x="6576456" y="4184660"/>
            <a:ext cx="1074054" cy="158740"/>
          </a:xfrm>
          <a:prstGeom prst="rect">
            <a:avLst/>
          </a:prstGeom>
          <a:noFill/>
          <a:ln/>
        </p:spPr>
        <p:txBody>
          <a:bodyPr wrap="none" lIns="0" tIns="0" rIns="0" bIns="0" rtlCol="0" anchor="t"/>
          <a:lstStyle/>
          <a:p>
            <a:pPr algn="ctr" indent="0" marL="0">
              <a:buNone/>
            </a:pPr>
            <a:r>
              <a:rPr lang="en-US" sz="1050" b="1" dirty="0">
                <a:solidFill>
                  <a:srgbClr val="24110C"/>
                </a:solidFill>
                <a:latin typeface="Inter" pitchFamily="34" charset="0"/>
                <a:ea typeface="Inter" pitchFamily="34" charset="-122"/>
                <a:cs typeface="Inter" pitchFamily="34" charset="-120"/>
              </a:rPr>
              <a:t>Member name</a:t>
            </a:r>
            <a:endParaRPr lang="en-US" sz="1050" dirty="0"/>
          </a:p>
        </p:txBody>
      </p:sp>
      <p:sp>
        <p:nvSpPr>
          <p:cNvPr id="36" name="Text 32"/>
          <p:cNvSpPr txBox="1"/>
          <p:nvPr/>
        </p:nvSpPr>
        <p:spPr>
          <a:xfrm>
            <a:off x="6746077" y="4381530"/>
            <a:ext cx="735086" cy="127010"/>
          </a:xfrm>
          <a:prstGeom prst="rect">
            <a:avLst/>
          </a:prstGeom>
          <a:noFill/>
          <a:ln/>
        </p:spPr>
        <p:txBody>
          <a:bodyPr wrap="none" lIns="0" tIns="0" rIns="0" bIns="0" rtlCol="0" anchor="t"/>
          <a:lstStyle/>
          <a:p>
            <a:pPr algn="ctr" indent="0" marL="0">
              <a:buNone/>
            </a:pPr>
            <a:r>
              <a:rPr lang="en-US" sz="800" dirty="0">
                <a:solidFill>
                  <a:srgbClr val="5B4339"/>
                </a:solidFill>
                <a:latin typeface="Inter" pitchFamily="34" charset="0"/>
                <a:ea typeface="Inter" pitchFamily="34" charset="-122"/>
                <a:cs typeface="Inter" pitchFamily="34" charset="-120"/>
              </a:rPr>
              <a:t>College, year</a:t>
            </a:r>
            <a:endParaRPr lang="en-US" sz="800" dirty="0"/>
          </a:p>
        </p:txBody>
      </p:sp>
      <p:sp>
        <p:nvSpPr>
          <p:cNvPr id="37" name="Text 33"/>
          <p:cNvSpPr txBox="1"/>
          <p:nvPr/>
        </p:nvSpPr>
        <p:spPr>
          <a:xfrm>
            <a:off x="6991320" y="4533870"/>
            <a:ext cx="244511" cy="120609"/>
          </a:xfrm>
          <a:prstGeom prst="rect">
            <a:avLst/>
          </a:prstGeom>
          <a:noFill/>
          <a:ln/>
        </p:spPr>
        <p:txBody>
          <a:bodyPr wrap="none" lIns="0" tIns="0" rIns="0" bIns="0" rtlCol="0" anchor="t"/>
          <a:lstStyle/>
          <a:p>
            <a:pPr algn="ctr" indent="0" marL="0">
              <a:buNone/>
            </a:pPr>
            <a:r>
              <a:rPr lang="en-US" sz="750" dirty="0">
                <a:solidFill>
                  <a:srgbClr val="8C7368"/>
                </a:solidFill>
                <a:latin typeface="Inter" pitchFamily="34" charset="0"/>
                <a:ea typeface="Inter" pitchFamily="34" charset="-122"/>
                <a:cs typeface="Inter" pitchFamily="34" charset="-120"/>
              </a:rPr>
              <a:t>Role</a:t>
            </a:r>
            <a:endParaRPr lang="en-US" sz="750" dirty="0"/>
          </a:p>
        </p:txBody>
      </p:sp>
      <p:sp>
        <p:nvSpPr>
          <p:cNvPr id="38" name="Shape 34"/>
          <p:cNvSpPr/>
          <p:nvPr/>
        </p:nvSpPr>
        <p:spPr>
          <a:xfrm>
            <a:off x="8201071" y="3301990"/>
            <a:ext cx="1895460" cy="1524030"/>
          </a:xfrm>
          <a:prstGeom prst="roundRect">
            <a:avLst>
              <a:gd name="adj" fmla="val 7500"/>
            </a:avLst>
          </a:prstGeom>
          <a:solidFill>
            <a:srgbClr val="FFF7EC"/>
          </a:solidFill>
          <a:ln w="6350">
            <a:solidFill>
              <a:srgbClr val="24110C">
                <a:alpha val="13000"/>
              </a:srgbClr>
            </a:solidFill>
            <a:prstDash val="solid"/>
          </a:ln>
        </p:spPr>
      </p:sp>
      <p:sp>
        <p:nvSpPr>
          <p:cNvPr id="39" name="Shape 35"/>
          <p:cNvSpPr/>
          <p:nvPr/>
        </p:nvSpPr>
        <p:spPr>
          <a:xfrm>
            <a:off x="8843985" y="3473440"/>
            <a:ext cx="609630" cy="609630"/>
          </a:xfrm>
          <a:prstGeom prst="ellipse">
            <a:avLst/>
          </a:prstGeom>
          <a:solidFill>
            <a:srgbClr val="FDDDBF"/>
          </a:solidFill>
          <a:ln/>
        </p:spPr>
      </p:sp>
      <p:sp>
        <p:nvSpPr>
          <p:cNvPr id="40" name="Text 36"/>
          <p:cNvSpPr txBox="1"/>
          <p:nvPr/>
        </p:nvSpPr>
        <p:spPr>
          <a:xfrm>
            <a:off x="8967612" y="3636660"/>
            <a:ext cx="362285" cy="196870"/>
          </a:xfrm>
          <a:prstGeom prst="rect">
            <a:avLst/>
          </a:prstGeom>
          <a:noFill/>
          <a:ln/>
        </p:spPr>
        <p:txBody>
          <a:bodyPr wrap="none" lIns="0" tIns="0" rIns="0" bIns="0" rtlCol="0" anchor="t"/>
          <a:lstStyle/>
          <a:p>
            <a:pPr algn="ctr" indent="0" marL="0">
              <a:buNone/>
            </a:pPr>
            <a:r>
              <a:rPr lang="en-US" sz="1700" dirty="0">
                <a:solidFill>
                  <a:srgbClr val="D2601A"/>
                </a:solidFill>
                <a:latin typeface="League Spartan ExtraBold" pitchFamily="34" charset="0"/>
                <a:ea typeface="League Spartan ExtraBold" pitchFamily="34" charset="-122"/>
                <a:cs typeface="League Spartan ExtraBold" pitchFamily="34" charset="-120"/>
              </a:rPr>
              <a:t>M4</a:t>
            </a:r>
            <a:endParaRPr lang="en-US" sz="1700" dirty="0"/>
          </a:p>
        </p:txBody>
      </p:sp>
      <p:sp>
        <p:nvSpPr>
          <p:cNvPr id="41" name="Text 37"/>
          <p:cNvSpPr txBox="1"/>
          <p:nvPr/>
        </p:nvSpPr>
        <p:spPr>
          <a:xfrm>
            <a:off x="8611636" y="4184660"/>
            <a:ext cx="1074054" cy="158740"/>
          </a:xfrm>
          <a:prstGeom prst="rect">
            <a:avLst/>
          </a:prstGeom>
          <a:noFill/>
          <a:ln/>
        </p:spPr>
        <p:txBody>
          <a:bodyPr wrap="none" lIns="0" tIns="0" rIns="0" bIns="0" rtlCol="0" anchor="t"/>
          <a:lstStyle/>
          <a:p>
            <a:pPr algn="ctr" indent="0" marL="0">
              <a:buNone/>
            </a:pPr>
            <a:r>
              <a:rPr lang="en-US" sz="1050" b="1" dirty="0">
                <a:solidFill>
                  <a:srgbClr val="24110C"/>
                </a:solidFill>
                <a:latin typeface="Inter" pitchFamily="34" charset="0"/>
                <a:ea typeface="Inter" pitchFamily="34" charset="-122"/>
                <a:cs typeface="Inter" pitchFamily="34" charset="-120"/>
              </a:rPr>
              <a:t>Member name</a:t>
            </a:r>
            <a:endParaRPr lang="en-US" sz="1050" dirty="0"/>
          </a:p>
        </p:txBody>
      </p:sp>
      <p:sp>
        <p:nvSpPr>
          <p:cNvPr id="42" name="Text 38"/>
          <p:cNvSpPr txBox="1"/>
          <p:nvPr/>
        </p:nvSpPr>
        <p:spPr>
          <a:xfrm>
            <a:off x="8781258" y="4381530"/>
            <a:ext cx="735086" cy="127010"/>
          </a:xfrm>
          <a:prstGeom prst="rect">
            <a:avLst/>
          </a:prstGeom>
          <a:noFill/>
          <a:ln/>
        </p:spPr>
        <p:txBody>
          <a:bodyPr wrap="none" lIns="0" tIns="0" rIns="0" bIns="0" rtlCol="0" anchor="t"/>
          <a:lstStyle/>
          <a:p>
            <a:pPr algn="ctr" indent="0" marL="0">
              <a:buNone/>
            </a:pPr>
            <a:r>
              <a:rPr lang="en-US" sz="800" dirty="0">
                <a:solidFill>
                  <a:srgbClr val="5B4339"/>
                </a:solidFill>
                <a:latin typeface="Inter" pitchFamily="34" charset="0"/>
                <a:ea typeface="Inter" pitchFamily="34" charset="-122"/>
                <a:cs typeface="Inter" pitchFamily="34" charset="-120"/>
              </a:rPr>
              <a:t>College, year</a:t>
            </a:r>
            <a:endParaRPr lang="en-US" sz="800" dirty="0"/>
          </a:p>
        </p:txBody>
      </p:sp>
      <p:sp>
        <p:nvSpPr>
          <p:cNvPr id="43" name="Text 39"/>
          <p:cNvSpPr txBox="1"/>
          <p:nvPr/>
        </p:nvSpPr>
        <p:spPr>
          <a:xfrm>
            <a:off x="9026500" y="4533870"/>
            <a:ext cx="244511" cy="120609"/>
          </a:xfrm>
          <a:prstGeom prst="rect">
            <a:avLst/>
          </a:prstGeom>
          <a:noFill/>
          <a:ln/>
        </p:spPr>
        <p:txBody>
          <a:bodyPr wrap="none" lIns="0" tIns="0" rIns="0" bIns="0" rtlCol="0" anchor="t"/>
          <a:lstStyle/>
          <a:p>
            <a:pPr algn="ctr" indent="0" marL="0">
              <a:buNone/>
            </a:pPr>
            <a:r>
              <a:rPr lang="en-US" sz="750" dirty="0">
                <a:solidFill>
                  <a:srgbClr val="8C7368"/>
                </a:solidFill>
                <a:latin typeface="Inter" pitchFamily="34" charset="0"/>
                <a:ea typeface="Inter" pitchFamily="34" charset="-122"/>
                <a:cs typeface="Inter" pitchFamily="34" charset="-120"/>
              </a:rPr>
              <a:t>Role</a:t>
            </a:r>
            <a:endParaRPr lang="en-US" sz="750" dirty="0"/>
          </a:p>
        </p:txBody>
      </p:sp>
      <p:sp>
        <p:nvSpPr>
          <p:cNvPr id="44" name="Text 40"/>
          <p:cNvSpPr txBox="1"/>
          <p:nvPr/>
        </p:nvSpPr>
        <p:spPr>
          <a:xfrm>
            <a:off x="4676059" y="6422106"/>
            <a:ext cx="2839852" cy="127010"/>
          </a:xfrm>
          <a:prstGeom prst="rect">
            <a:avLst/>
          </a:prstGeom>
          <a:noFill/>
          <a:ln/>
        </p:spPr>
        <p:txBody>
          <a:bodyPr wrap="none" lIns="0" tIns="0" rIns="0" bIns="0" rtlCol="0" anchor="t"/>
          <a:lstStyle/>
          <a:p>
            <a:pPr algn="ctr" indent="0" marL="0">
              <a:buNone/>
            </a:pPr>
            <a:r>
              <a:rPr lang="en-US" sz="850" dirty="0">
                <a:solidFill>
                  <a:srgbClr val="5B4339"/>
                </a:solidFill>
                <a:latin typeface="Inter" pitchFamily="34" charset="0"/>
                <a:ea typeface="Inter" pitchFamily="34" charset="-122"/>
                <a:cs typeface="Inter" pitchFamily="34" charset="-120"/>
              </a:rPr>
              <a:t>Problem statement 2: Intelligent tax reconciliation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2222696" y="1365300"/>
            <a:ext cx="7746614" cy="15874"/>
          </a:xfrm>
          <a:custGeom>
            <a:avLst/>
            <a:gdLst/>
            <a:ahLst/>
            <a:cxnLst/>
            <a:rect l="l" t="t" r="r" b="b"/>
            <a:pathLst>
              <a:path w="7746614" h="15874">
                <a:moveTo>
                  <a:pt x="0" y="15874"/>
                </a:moveTo>
                <a:lnTo>
                  <a:pt x="7746614" y="0"/>
                </a:lnTo>
              </a:path>
            </a:pathLst>
          </a:custGeom>
          <a:ln w="6350">
            <a:solidFill>
              <a:srgbClr val="2B0000"/>
            </a:solidFill>
            <a:prstDash val="solid"/>
          </a:ln>
        </p:spPr>
      </p:sp>
      <p:sp>
        <p:nvSpPr>
          <p:cNvPr id="3" name="Shape 1"/>
          <p:cNvSpPr/>
          <p:nvPr/>
        </p:nvSpPr>
        <p:spPr>
          <a:xfrm>
            <a:off x="10673873" y="5689433"/>
            <a:ext cx="2192009" cy="2084832"/>
          </a:xfrm>
          <a:custGeom>
            <a:avLst/>
            <a:gdLst/>
            <a:ahLst/>
            <a:cxnLst/>
            <a:rect l="l" t="t" r="r" b="b"/>
            <a:pathLst>
              <a:path w="2192009" h="2084832">
                <a:moveTo>
                  <a:pt x="5925" y="642960"/>
                </a:moveTo>
                <a:lnTo>
                  <a:pt x="513564" y="642960"/>
                </a:lnTo>
                <a:lnTo>
                  <a:pt x="548155" y="637236"/>
                </a:lnTo>
                <a:cubicBezTo>
                  <a:pt x="593830" y="629711"/>
                  <a:pt x="629665" y="593885"/>
                  <a:pt x="637236" y="548155"/>
                </a:cubicBezTo>
                <a:lnTo>
                  <a:pt x="642960" y="513564"/>
                </a:lnTo>
                <a:lnTo>
                  <a:pt x="642960" y="5925"/>
                </a:lnTo>
                <a:cubicBezTo>
                  <a:pt x="642960" y="2679"/>
                  <a:pt x="645594" y="0"/>
                  <a:pt x="648895" y="0"/>
                </a:cubicBezTo>
                <a:cubicBezTo>
                  <a:pt x="652187" y="0"/>
                  <a:pt x="654820" y="2633"/>
                  <a:pt x="654820" y="5925"/>
                </a:cubicBezTo>
                <a:lnTo>
                  <a:pt x="654820" y="513564"/>
                </a:lnTo>
                <a:lnTo>
                  <a:pt x="660544" y="548155"/>
                </a:lnTo>
                <a:cubicBezTo>
                  <a:pt x="664513" y="572186"/>
                  <a:pt x="676318" y="593418"/>
                  <a:pt x="693225" y="609301"/>
                </a:cubicBezTo>
                <a:cubicBezTo>
                  <a:pt x="697038" y="605379"/>
                  <a:pt x="700860" y="601410"/>
                  <a:pt x="704719" y="597496"/>
                </a:cubicBezTo>
                <a:cubicBezTo>
                  <a:pt x="704929" y="597286"/>
                  <a:pt x="705185" y="597085"/>
                  <a:pt x="705396" y="596820"/>
                </a:cubicBezTo>
                <a:cubicBezTo>
                  <a:pt x="705597" y="596619"/>
                  <a:pt x="705807" y="596363"/>
                  <a:pt x="706063" y="596152"/>
                </a:cubicBezTo>
                <a:cubicBezTo>
                  <a:pt x="706273" y="595951"/>
                  <a:pt x="706529" y="595741"/>
                  <a:pt x="706731" y="595485"/>
                </a:cubicBezTo>
                <a:cubicBezTo>
                  <a:pt x="706941" y="595274"/>
                  <a:pt x="707142" y="595018"/>
                  <a:pt x="707407" y="594817"/>
                </a:cubicBezTo>
                <a:cubicBezTo>
                  <a:pt x="708486" y="593729"/>
                  <a:pt x="709620" y="592650"/>
                  <a:pt x="710699" y="591562"/>
                </a:cubicBezTo>
                <a:cubicBezTo>
                  <a:pt x="711787" y="590428"/>
                  <a:pt x="712866" y="589349"/>
                  <a:pt x="714000" y="588215"/>
                </a:cubicBezTo>
                <a:cubicBezTo>
                  <a:pt x="793242" y="509028"/>
                  <a:pt x="878766" y="442835"/>
                  <a:pt x="966658" y="390302"/>
                </a:cubicBezTo>
                <a:cubicBezTo>
                  <a:pt x="1079202" y="321942"/>
                  <a:pt x="1195861" y="274622"/>
                  <a:pt x="1309384" y="249668"/>
                </a:cubicBezTo>
                <a:cubicBezTo>
                  <a:pt x="1382792" y="232504"/>
                  <a:pt x="1455588" y="223735"/>
                  <a:pt x="1526216" y="223690"/>
                </a:cubicBezTo>
                <a:cubicBezTo>
                  <a:pt x="1711647" y="223690"/>
                  <a:pt x="1882027" y="283848"/>
                  <a:pt x="2006989" y="408810"/>
                </a:cubicBezTo>
                <a:cubicBezTo>
                  <a:pt x="2131850" y="533882"/>
                  <a:pt x="2192009" y="704262"/>
                  <a:pt x="2192009" y="889693"/>
                </a:cubicBezTo>
                <a:cubicBezTo>
                  <a:pt x="2192009" y="1161837"/>
                  <a:pt x="2062722" y="1466670"/>
                  <a:pt x="1818312" y="1711135"/>
                </a:cubicBezTo>
                <a:cubicBezTo>
                  <a:pt x="1573847" y="1955545"/>
                  <a:pt x="1269013" y="2084832"/>
                  <a:pt x="996870" y="2084832"/>
                </a:cubicBezTo>
                <a:cubicBezTo>
                  <a:pt x="811439" y="2084832"/>
                  <a:pt x="641058" y="2024674"/>
                  <a:pt x="516087" y="1899712"/>
                </a:cubicBezTo>
                <a:cubicBezTo>
                  <a:pt x="391125" y="1774750"/>
                  <a:pt x="330967" y="1604370"/>
                  <a:pt x="330967" y="1418929"/>
                </a:cubicBezTo>
                <a:cubicBezTo>
                  <a:pt x="330967" y="1182923"/>
                  <a:pt x="428250" y="922374"/>
                  <a:pt x="613526" y="697870"/>
                </a:cubicBezTo>
                <a:cubicBezTo>
                  <a:pt x="597286" y="678430"/>
                  <a:pt x="574344" y="664769"/>
                  <a:pt x="548155" y="660444"/>
                </a:cubicBezTo>
                <a:lnTo>
                  <a:pt x="513564" y="654720"/>
                </a:lnTo>
                <a:lnTo>
                  <a:pt x="5925" y="654720"/>
                </a:lnTo>
                <a:cubicBezTo>
                  <a:pt x="2679" y="654720"/>
                  <a:pt x="0" y="652086"/>
                  <a:pt x="0" y="648785"/>
                </a:cubicBezTo>
                <a:cubicBezTo>
                  <a:pt x="0" y="645493"/>
                  <a:pt x="2633" y="642860"/>
                  <a:pt x="5925" y="642860"/>
                </a:cubicBezTo>
                <a:lnTo>
                  <a:pt x="5925" y="642960"/>
                </a:lnTo>
                <a:moveTo>
                  <a:pt x="977329" y="398916"/>
                </a:moveTo>
                <a:cubicBezTo>
                  <a:pt x="972693" y="401696"/>
                  <a:pt x="968103" y="404531"/>
                  <a:pt x="963512" y="407365"/>
                </a:cubicBezTo>
                <a:cubicBezTo>
                  <a:pt x="960367" y="409276"/>
                  <a:pt x="957276" y="411178"/>
                  <a:pt x="954131" y="413144"/>
                </a:cubicBezTo>
                <a:cubicBezTo>
                  <a:pt x="871551" y="464954"/>
                  <a:pt x="791797" y="527901"/>
                  <a:pt x="717612" y="601465"/>
                </a:cubicBezTo>
                <a:cubicBezTo>
                  <a:pt x="712455" y="606668"/>
                  <a:pt x="707352" y="611825"/>
                  <a:pt x="702351" y="617083"/>
                </a:cubicBezTo>
                <a:cubicBezTo>
                  <a:pt x="708276" y="621518"/>
                  <a:pt x="714722" y="625331"/>
                  <a:pt x="721526" y="628531"/>
                </a:cubicBezTo>
                <a:cubicBezTo>
                  <a:pt x="725604" y="624352"/>
                  <a:pt x="729627" y="620174"/>
                  <a:pt x="733742" y="616050"/>
                </a:cubicBezTo>
                <a:cubicBezTo>
                  <a:pt x="929597" y="420258"/>
                  <a:pt x="1169316" y="314371"/>
                  <a:pt x="1374233" y="314261"/>
                </a:cubicBezTo>
                <a:cubicBezTo>
                  <a:pt x="1497083" y="314261"/>
                  <a:pt x="1607616" y="352519"/>
                  <a:pt x="1687781" y="432676"/>
                </a:cubicBezTo>
                <a:cubicBezTo>
                  <a:pt x="1767992" y="512896"/>
                  <a:pt x="1806242" y="623374"/>
                  <a:pt x="1806196" y="746224"/>
                </a:cubicBezTo>
                <a:cubicBezTo>
                  <a:pt x="1806141" y="951141"/>
                  <a:pt x="1700254" y="1190814"/>
                  <a:pt x="1504407" y="1386715"/>
                </a:cubicBezTo>
                <a:cubicBezTo>
                  <a:pt x="1308561" y="1582506"/>
                  <a:pt x="1068842" y="1688394"/>
                  <a:pt x="863916" y="1688449"/>
                </a:cubicBezTo>
                <a:cubicBezTo>
                  <a:pt x="741066" y="1688449"/>
                  <a:pt x="630589" y="1650199"/>
                  <a:pt x="550377" y="1570034"/>
                </a:cubicBezTo>
                <a:cubicBezTo>
                  <a:pt x="470157" y="1489814"/>
                  <a:pt x="431908" y="1379290"/>
                  <a:pt x="431963" y="1256486"/>
                </a:cubicBezTo>
                <a:cubicBezTo>
                  <a:pt x="431963" y="1090340"/>
                  <a:pt x="501658" y="901242"/>
                  <a:pt x="632445" y="731218"/>
                </a:cubicBezTo>
                <a:cubicBezTo>
                  <a:pt x="629711" y="723437"/>
                  <a:pt x="626108" y="716067"/>
                  <a:pt x="621774" y="709209"/>
                </a:cubicBezTo>
                <a:cubicBezTo>
                  <a:pt x="465366" y="905622"/>
                  <a:pt x="382265" y="1126422"/>
                  <a:pt x="382311" y="1318665"/>
                </a:cubicBezTo>
                <a:cubicBezTo>
                  <a:pt x="382311" y="1457544"/>
                  <a:pt x="425516" y="1581318"/>
                  <a:pt x="515264" y="1671130"/>
                </a:cubicBezTo>
                <a:cubicBezTo>
                  <a:pt x="605022" y="1760878"/>
                  <a:pt x="728795" y="1804029"/>
                  <a:pt x="867729" y="1804084"/>
                </a:cubicBezTo>
                <a:cubicBezTo>
                  <a:pt x="1097710" y="1804129"/>
                  <a:pt x="1368619" y="1685248"/>
                  <a:pt x="1589721" y="1464092"/>
                </a:cubicBezTo>
                <a:cubicBezTo>
                  <a:pt x="1810887" y="1242980"/>
                  <a:pt x="1929768" y="972071"/>
                  <a:pt x="1929713" y="742100"/>
                </a:cubicBezTo>
                <a:cubicBezTo>
                  <a:pt x="1929713" y="603221"/>
                  <a:pt x="1886508" y="479438"/>
                  <a:pt x="1796759" y="389635"/>
                </a:cubicBezTo>
                <a:cubicBezTo>
                  <a:pt x="1707011" y="299877"/>
                  <a:pt x="1583229" y="256736"/>
                  <a:pt x="1444295" y="256681"/>
                </a:cubicBezTo>
                <a:cubicBezTo>
                  <a:pt x="1337118" y="256681"/>
                  <a:pt x="1221017" y="282504"/>
                  <a:pt x="1105235" y="332467"/>
                </a:cubicBezTo>
                <a:cubicBezTo>
                  <a:pt x="1062240" y="351687"/>
                  <a:pt x="1019501" y="373862"/>
                  <a:pt x="977384" y="398962"/>
                </a:cubicBezTo>
                <a:lnTo>
                  <a:pt x="977329" y="398916"/>
                </a:lnTo>
                <a:moveTo>
                  <a:pt x="733385" y="633268"/>
                </a:moveTo>
                <a:cubicBezTo>
                  <a:pt x="738588" y="634969"/>
                  <a:pt x="744002" y="636313"/>
                  <a:pt x="749525" y="637236"/>
                </a:cubicBezTo>
                <a:lnTo>
                  <a:pt x="784116" y="642960"/>
                </a:lnTo>
                <a:lnTo>
                  <a:pt x="807315" y="642960"/>
                </a:lnTo>
                <a:cubicBezTo>
                  <a:pt x="957587" y="499080"/>
                  <a:pt x="1140239" y="422371"/>
                  <a:pt x="1301136" y="422316"/>
                </a:cubicBezTo>
                <a:cubicBezTo>
                  <a:pt x="1408158" y="422316"/>
                  <a:pt x="1505697" y="456395"/>
                  <a:pt x="1576938" y="527636"/>
                </a:cubicBezTo>
                <a:cubicBezTo>
                  <a:pt x="1648188" y="598831"/>
                  <a:pt x="1682313" y="696425"/>
                  <a:pt x="1682258" y="803447"/>
                </a:cubicBezTo>
                <a:cubicBezTo>
                  <a:pt x="1682258" y="969447"/>
                  <a:pt x="1600547" y="1158591"/>
                  <a:pt x="1447696" y="1311496"/>
                </a:cubicBezTo>
                <a:cubicBezTo>
                  <a:pt x="1294790" y="1464348"/>
                  <a:pt x="1105647" y="1546013"/>
                  <a:pt x="939647" y="1546058"/>
                </a:cubicBezTo>
                <a:cubicBezTo>
                  <a:pt x="832625" y="1546058"/>
                  <a:pt x="735086" y="1511988"/>
                  <a:pt x="663845" y="1440738"/>
                </a:cubicBezTo>
                <a:cubicBezTo>
                  <a:pt x="592595" y="1369497"/>
                  <a:pt x="558470" y="1271958"/>
                  <a:pt x="558516" y="1164936"/>
                </a:cubicBezTo>
                <a:cubicBezTo>
                  <a:pt x="558516" y="1066209"/>
                  <a:pt x="587438" y="959343"/>
                  <a:pt x="642960" y="856802"/>
                </a:cubicBezTo>
                <a:lnTo>
                  <a:pt x="642960" y="784162"/>
                </a:lnTo>
                <a:lnTo>
                  <a:pt x="637236" y="749570"/>
                </a:lnTo>
                <a:cubicBezTo>
                  <a:pt x="637035" y="748235"/>
                  <a:pt x="636669" y="746946"/>
                  <a:pt x="636413" y="745657"/>
                </a:cubicBezTo>
                <a:cubicBezTo>
                  <a:pt x="510528" y="912068"/>
                  <a:pt x="443767" y="1095954"/>
                  <a:pt x="443813" y="1256486"/>
                </a:cubicBezTo>
                <a:cubicBezTo>
                  <a:pt x="443813" y="1376913"/>
                  <a:pt x="481194" y="1484044"/>
                  <a:pt x="558781" y="1561685"/>
                </a:cubicBezTo>
                <a:cubicBezTo>
                  <a:pt x="636413" y="1639263"/>
                  <a:pt x="743489" y="1676644"/>
                  <a:pt x="863971" y="1676644"/>
                </a:cubicBezTo>
                <a:cubicBezTo>
                  <a:pt x="1064819" y="1676690"/>
                  <a:pt x="1302160" y="1572302"/>
                  <a:pt x="1496050" y="1378357"/>
                </a:cubicBezTo>
                <a:cubicBezTo>
                  <a:pt x="1690049" y="1184422"/>
                  <a:pt x="1794391" y="947072"/>
                  <a:pt x="1794336" y="746278"/>
                </a:cubicBezTo>
                <a:cubicBezTo>
                  <a:pt x="1794336" y="625852"/>
                  <a:pt x="1756965" y="518721"/>
                  <a:pt x="1679378" y="441079"/>
                </a:cubicBezTo>
                <a:cubicBezTo>
                  <a:pt x="1601736" y="363492"/>
                  <a:pt x="1494660" y="326121"/>
                  <a:pt x="1374188" y="326121"/>
                </a:cubicBezTo>
                <a:cubicBezTo>
                  <a:pt x="1173331" y="326066"/>
                  <a:pt x="935989" y="430463"/>
                  <a:pt x="742100" y="624407"/>
                </a:cubicBezTo>
                <a:cubicBezTo>
                  <a:pt x="739155" y="627342"/>
                  <a:pt x="736275" y="630332"/>
                  <a:pt x="733385" y="633268"/>
                </a:cubicBezTo>
                <a:lnTo>
                  <a:pt x="733385" y="633268"/>
                </a:lnTo>
                <a:moveTo>
                  <a:pt x="648840" y="1297680"/>
                </a:moveTo>
                <a:cubicBezTo>
                  <a:pt x="645594" y="1297680"/>
                  <a:pt x="642915" y="1295056"/>
                  <a:pt x="642915" y="1291755"/>
                </a:cubicBezTo>
                <a:lnTo>
                  <a:pt x="642915" y="882423"/>
                </a:lnTo>
                <a:cubicBezTo>
                  <a:pt x="595073" y="977283"/>
                  <a:pt x="570275" y="1074923"/>
                  <a:pt x="570320" y="1164936"/>
                </a:cubicBezTo>
                <a:cubicBezTo>
                  <a:pt x="570320" y="1269480"/>
                  <a:pt x="603522" y="1363672"/>
                  <a:pt x="672194" y="1432389"/>
                </a:cubicBezTo>
                <a:cubicBezTo>
                  <a:pt x="740865" y="1501052"/>
                  <a:pt x="835048" y="1534199"/>
                  <a:pt x="939647" y="1534253"/>
                </a:cubicBezTo>
                <a:cubicBezTo>
                  <a:pt x="1101779" y="1534253"/>
                  <a:pt x="1288454" y="1454088"/>
                  <a:pt x="1439348" y="1303148"/>
                </a:cubicBezTo>
                <a:cubicBezTo>
                  <a:pt x="1590288" y="1152254"/>
                  <a:pt x="1670508" y="965579"/>
                  <a:pt x="1670453" y="803447"/>
                </a:cubicBezTo>
                <a:cubicBezTo>
                  <a:pt x="1670453" y="698894"/>
                  <a:pt x="1637261" y="604711"/>
                  <a:pt x="1568589" y="535994"/>
                </a:cubicBezTo>
                <a:cubicBezTo>
                  <a:pt x="1499918" y="467322"/>
                  <a:pt x="1405735" y="434175"/>
                  <a:pt x="1301136" y="434121"/>
                </a:cubicBezTo>
                <a:cubicBezTo>
                  <a:pt x="1147197" y="434121"/>
                  <a:pt x="971193" y="506450"/>
                  <a:pt x="824633" y="642915"/>
                </a:cubicBezTo>
                <a:lnTo>
                  <a:pt x="999503" y="642915"/>
                </a:lnTo>
                <a:cubicBezTo>
                  <a:pt x="1097088" y="580223"/>
                  <a:pt x="1201640" y="547278"/>
                  <a:pt x="1296391" y="547232"/>
                </a:cubicBezTo>
                <a:cubicBezTo>
                  <a:pt x="1382170" y="547232"/>
                  <a:pt x="1460178" y="574344"/>
                  <a:pt x="1516980" y="631210"/>
                </a:cubicBezTo>
                <a:cubicBezTo>
                  <a:pt x="1573792" y="688022"/>
                  <a:pt x="1600968" y="766020"/>
                  <a:pt x="1600913" y="851800"/>
                </a:cubicBezTo>
                <a:cubicBezTo>
                  <a:pt x="1600913" y="988265"/>
                  <a:pt x="1532653" y="1144929"/>
                  <a:pt x="1405579" y="1272058"/>
                </a:cubicBezTo>
                <a:cubicBezTo>
                  <a:pt x="1403156" y="1274482"/>
                  <a:pt x="1400678" y="1276850"/>
                  <a:pt x="1398255" y="1279227"/>
                </a:cubicBezTo>
                <a:cubicBezTo>
                  <a:pt x="1395886" y="1281696"/>
                  <a:pt x="1393518" y="1284174"/>
                  <a:pt x="1391040" y="1286597"/>
                </a:cubicBezTo>
                <a:cubicBezTo>
                  <a:pt x="1385837" y="1291800"/>
                  <a:pt x="1380579" y="1296857"/>
                  <a:pt x="1375267" y="1301804"/>
                </a:cubicBezTo>
                <a:cubicBezTo>
                  <a:pt x="1327480" y="1346865"/>
                  <a:pt x="1276850" y="1382847"/>
                  <a:pt x="1227518" y="1408213"/>
                </a:cubicBezTo>
                <a:cubicBezTo>
                  <a:pt x="1191015" y="1426976"/>
                  <a:pt x="1155290" y="1439970"/>
                  <a:pt x="1121987" y="1446563"/>
                </a:cubicBezTo>
                <a:cubicBezTo>
                  <a:pt x="1120798" y="1446819"/>
                  <a:pt x="1119674" y="1447129"/>
                  <a:pt x="1118485" y="1447385"/>
                </a:cubicBezTo>
                <a:cubicBezTo>
                  <a:pt x="1073112" y="1460589"/>
                  <a:pt x="1028215" y="1467338"/>
                  <a:pt x="985321" y="1467393"/>
                </a:cubicBezTo>
                <a:cubicBezTo>
                  <a:pt x="899541" y="1467393"/>
                  <a:pt x="821543" y="1440271"/>
                  <a:pt x="764731" y="1383460"/>
                </a:cubicBezTo>
                <a:cubicBezTo>
                  <a:pt x="707919" y="1326657"/>
                  <a:pt x="680753" y="1248650"/>
                  <a:pt x="680798" y="1162870"/>
                </a:cubicBezTo>
                <a:cubicBezTo>
                  <a:pt x="680798" y="1026414"/>
                  <a:pt x="749058" y="869741"/>
                  <a:pt x="876132" y="742612"/>
                </a:cubicBezTo>
                <a:cubicBezTo>
                  <a:pt x="909545" y="709209"/>
                  <a:pt x="945060" y="679875"/>
                  <a:pt x="981663" y="654765"/>
                </a:cubicBezTo>
                <a:lnTo>
                  <a:pt x="812106" y="654765"/>
                </a:lnTo>
                <a:cubicBezTo>
                  <a:pt x="808549" y="658222"/>
                  <a:pt x="804937" y="661678"/>
                  <a:pt x="801380" y="665235"/>
                </a:cubicBezTo>
                <a:cubicBezTo>
                  <a:pt x="740911" y="725650"/>
                  <a:pt x="691890" y="791843"/>
                  <a:pt x="654720" y="859847"/>
                </a:cubicBezTo>
                <a:lnTo>
                  <a:pt x="654720" y="1291755"/>
                </a:lnTo>
                <a:cubicBezTo>
                  <a:pt x="654720" y="1295001"/>
                  <a:pt x="652086" y="1297680"/>
                  <a:pt x="648785" y="1297680"/>
                </a:cubicBezTo>
                <a:lnTo>
                  <a:pt x="648840" y="1297680"/>
                </a:lnTo>
                <a:moveTo>
                  <a:pt x="1291755" y="654765"/>
                </a:moveTo>
                <a:lnTo>
                  <a:pt x="1003005" y="654765"/>
                </a:lnTo>
                <a:cubicBezTo>
                  <a:pt x="961812" y="681475"/>
                  <a:pt x="921862" y="713589"/>
                  <a:pt x="884536" y="750969"/>
                </a:cubicBezTo>
                <a:cubicBezTo>
                  <a:pt x="759373" y="876087"/>
                  <a:pt x="692612" y="1030328"/>
                  <a:pt x="692658" y="1162815"/>
                </a:cubicBezTo>
                <a:cubicBezTo>
                  <a:pt x="692658" y="1246181"/>
                  <a:pt x="718901" y="1320778"/>
                  <a:pt x="773134" y="1375056"/>
                </a:cubicBezTo>
                <a:cubicBezTo>
                  <a:pt x="827413" y="1429289"/>
                  <a:pt x="902010" y="1455533"/>
                  <a:pt x="985376" y="1455533"/>
                </a:cubicBezTo>
                <a:cubicBezTo>
                  <a:pt x="993057" y="1455533"/>
                  <a:pt x="1000793" y="1455277"/>
                  <a:pt x="1008574" y="1454865"/>
                </a:cubicBezTo>
                <a:cubicBezTo>
                  <a:pt x="945627" y="1450787"/>
                  <a:pt x="888916" y="1428467"/>
                  <a:pt x="846542" y="1386038"/>
                </a:cubicBezTo>
                <a:cubicBezTo>
                  <a:pt x="799423" y="1338919"/>
                  <a:pt x="777002" y="1274125"/>
                  <a:pt x="777002" y="1202719"/>
                </a:cubicBezTo>
                <a:cubicBezTo>
                  <a:pt x="777048" y="1086106"/>
                  <a:pt x="836283" y="951296"/>
                  <a:pt x="946038" y="841495"/>
                </a:cubicBezTo>
                <a:cubicBezTo>
                  <a:pt x="1055849" y="731739"/>
                  <a:pt x="1190659" y="672505"/>
                  <a:pt x="1307272" y="672450"/>
                </a:cubicBezTo>
                <a:cubicBezTo>
                  <a:pt x="1378723" y="672450"/>
                  <a:pt x="1443527" y="694880"/>
                  <a:pt x="1490591" y="741999"/>
                </a:cubicBezTo>
                <a:cubicBezTo>
                  <a:pt x="1537710" y="789118"/>
                  <a:pt x="1560131" y="853912"/>
                  <a:pt x="1560131" y="925318"/>
                </a:cubicBezTo>
                <a:cubicBezTo>
                  <a:pt x="1560131" y="925830"/>
                  <a:pt x="1560131" y="926397"/>
                  <a:pt x="1560131" y="926964"/>
                </a:cubicBezTo>
                <a:cubicBezTo>
                  <a:pt x="1560387" y="931710"/>
                  <a:pt x="1560542" y="936501"/>
                  <a:pt x="1560542" y="941347"/>
                </a:cubicBezTo>
                <a:cubicBezTo>
                  <a:pt x="1560542" y="965634"/>
                  <a:pt x="1557296" y="991200"/>
                  <a:pt x="1551115" y="1017444"/>
                </a:cubicBezTo>
                <a:cubicBezTo>
                  <a:pt x="1548015" y="1033162"/>
                  <a:pt x="1543434" y="1049402"/>
                  <a:pt x="1537554" y="1065998"/>
                </a:cubicBezTo>
                <a:cubicBezTo>
                  <a:pt x="1571579" y="993468"/>
                  <a:pt x="1589154" y="919749"/>
                  <a:pt x="1589108" y="851754"/>
                </a:cubicBezTo>
                <a:cubicBezTo>
                  <a:pt x="1589108" y="768389"/>
                  <a:pt x="1562865" y="693792"/>
                  <a:pt x="1508632" y="639513"/>
                </a:cubicBezTo>
                <a:cubicBezTo>
                  <a:pt x="1454344" y="585271"/>
                  <a:pt x="1379747" y="559037"/>
                  <a:pt x="1296391" y="559037"/>
                </a:cubicBezTo>
                <a:cubicBezTo>
                  <a:pt x="1209422" y="559037"/>
                  <a:pt x="1113117" y="587749"/>
                  <a:pt x="1021824" y="642860"/>
                </a:cubicBezTo>
                <a:lnTo>
                  <a:pt x="1291755" y="642860"/>
                </a:lnTo>
                <a:cubicBezTo>
                  <a:pt x="1295001" y="642860"/>
                  <a:pt x="1297680" y="645493"/>
                  <a:pt x="1297680" y="648785"/>
                </a:cubicBezTo>
                <a:cubicBezTo>
                  <a:pt x="1297680" y="652086"/>
                  <a:pt x="1295046" y="654720"/>
                  <a:pt x="1291755" y="654720"/>
                </a:cubicBezTo>
                <a:lnTo>
                  <a:pt x="1291755" y="654765"/>
                </a:lnTo>
                <a:moveTo>
                  <a:pt x="788853" y="1202719"/>
                </a:moveTo>
                <a:cubicBezTo>
                  <a:pt x="788853" y="1271748"/>
                  <a:pt x="810405" y="1333149"/>
                  <a:pt x="854946" y="1377690"/>
                </a:cubicBezTo>
                <a:cubicBezTo>
                  <a:pt x="878921" y="1401665"/>
                  <a:pt x="907789" y="1418884"/>
                  <a:pt x="940058" y="1429756"/>
                </a:cubicBezTo>
                <a:cubicBezTo>
                  <a:pt x="928153" y="1422797"/>
                  <a:pt x="917116" y="1414394"/>
                  <a:pt x="907222" y="1404500"/>
                </a:cubicBezTo>
                <a:cubicBezTo>
                  <a:pt x="872219" y="1369497"/>
                  <a:pt x="855723" y="1320723"/>
                  <a:pt x="855723" y="1265822"/>
                </a:cubicBezTo>
                <a:cubicBezTo>
                  <a:pt x="855723" y="1212778"/>
                  <a:pt x="870929" y="1153698"/>
                  <a:pt x="899696" y="1094253"/>
                </a:cubicBezTo>
                <a:cubicBezTo>
                  <a:pt x="928463" y="1034817"/>
                  <a:pt x="970736" y="975016"/>
                  <a:pt x="1025170" y="920627"/>
                </a:cubicBezTo>
                <a:cubicBezTo>
                  <a:pt x="1079614" y="866184"/>
                  <a:pt x="1139416" y="823911"/>
                  <a:pt x="1198806" y="795144"/>
                </a:cubicBezTo>
                <a:cubicBezTo>
                  <a:pt x="1258242" y="766432"/>
                  <a:pt x="1317266" y="751170"/>
                  <a:pt x="1370366" y="751170"/>
                </a:cubicBezTo>
                <a:cubicBezTo>
                  <a:pt x="1425321" y="751170"/>
                  <a:pt x="1474040" y="767621"/>
                  <a:pt x="1509043" y="802669"/>
                </a:cubicBezTo>
                <a:cubicBezTo>
                  <a:pt x="1518946" y="812572"/>
                  <a:pt x="1527295" y="823600"/>
                  <a:pt x="1534308" y="835515"/>
                </a:cubicBezTo>
                <a:cubicBezTo>
                  <a:pt x="1523427" y="803236"/>
                  <a:pt x="1506209" y="774369"/>
                  <a:pt x="1482233" y="750402"/>
                </a:cubicBezTo>
                <a:cubicBezTo>
                  <a:pt x="1437693" y="705853"/>
                  <a:pt x="1376300" y="684355"/>
                  <a:pt x="1307272" y="684310"/>
                </a:cubicBezTo>
                <a:cubicBezTo>
                  <a:pt x="1194682" y="684310"/>
                  <a:pt x="1062295" y="741999"/>
                  <a:pt x="954442" y="849898"/>
                </a:cubicBezTo>
                <a:cubicBezTo>
                  <a:pt x="846542" y="957743"/>
                  <a:pt x="788807" y="1090184"/>
                  <a:pt x="788853" y="1202719"/>
                </a:cubicBezTo>
                <a:lnTo>
                  <a:pt x="788853" y="1202719"/>
                </a:lnTo>
                <a:moveTo>
                  <a:pt x="910367" y="1099465"/>
                </a:moveTo>
                <a:cubicBezTo>
                  <a:pt x="882222" y="1157612"/>
                  <a:pt x="867574" y="1215046"/>
                  <a:pt x="867574" y="1265877"/>
                </a:cubicBezTo>
                <a:cubicBezTo>
                  <a:pt x="867574" y="1318556"/>
                  <a:pt x="883201" y="1363818"/>
                  <a:pt x="915570" y="1396197"/>
                </a:cubicBezTo>
                <a:cubicBezTo>
                  <a:pt x="942326" y="1422953"/>
                  <a:pt x="977896" y="1438214"/>
                  <a:pt x="1019145" y="1442749"/>
                </a:cubicBezTo>
                <a:cubicBezTo>
                  <a:pt x="1003161" y="1436980"/>
                  <a:pt x="988933" y="1428265"/>
                  <a:pt x="977128" y="1416460"/>
                </a:cubicBezTo>
                <a:cubicBezTo>
                  <a:pt x="953052" y="1392384"/>
                  <a:pt x="941859" y="1358515"/>
                  <a:pt x="941914" y="1319644"/>
                </a:cubicBezTo>
                <a:cubicBezTo>
                  <a:pt x="941914" y="1273860"/>
                  <a:pt x="957176" y="1220815"/>
                  <a:pt x="985321" y="1166015"/>
                </a:cubicBezTo>
                <a:cubicBezTo>
                  <a:pt x="1013521" y="1111215"/>
                  <a:pt x="1054660" y="1054760"/>
                  <a:pt x="1106991" y="1002438"/>
                </a:cubicBezTo>
                <a:cubicBezTo>
                  <a:pt x="1159258" y="950162"/>
                  <a:pt x="1215759" y="908978"/>
                  <a:pt x="1270559" y="880778"/>
                </a:cubicBezTo>
                <a:cubicBezTo>
                  <a:pt x="1325359" y="852623"/>
                  <a:pt x="1378412" y="837371"/>
                  <a:pt x="1424187" y="837371"/>
                </a:cubicBezTo>
                <a:cubicBezTo>
                  <a:pt x="1463058" y="837371"/>
                  <a:pt x="1496928" y="848499"/>
                  <a:pt x="1521004" y="872575"/>
                </a:cubicBezTo>
                <a:cubicBezTo>
                  <a:pt x="1532864" y="884380"/>
                  <a:pt x="1541523" y="898608"/>
                  <a:pt x="1547293" y="914592"/>
                </a:cubicBezTo>
                <a:cubicBezTo>
                  <a:pt x="1542757" y="873353"/>
                  <a:pt x="1527496" y="837782"/>
                  <a:pt x="1500741" y="811027"/>
                </a:cubicBezTo>
                <a:cubicBezTo>
                  <a:pt x="1468371" y="778648"/>
                  <a:pt x="1423108" y="763030"/>
                  <a:pt x="1370420" y="763030"/>
                </a:cubicBezTo>
                <a:cubicBezTo>
                  <a:pt x="1319644" y="763030"/>
                  <a:pt x="1262155" y="777670"/>
                  <a:pt x="1204009" y="805815"/>
                </a:cubicBezTo>
                <a:cubicBezTo>
                  <a:pt x="1145862" y="833915"/>
                  <a:pt x="1087084" y="875465"/>
                  <a:pt x="1033574" y="929030"/>
                </a:cubicBezTo>
                <a:cubicBezTo>
                  <a:pt x="980063" y="982541"/>
                  <a:pt x="938513" y="1041310"/>
                  <a:pt x="910367" y="1099456"/>
                </a:cubicBezTo>
                <a:lnTo>
                  <a:pt x="910367" y="1099465"/>
                </a:lnTo>
                <a:moveTo>
                  <a:pt x="1163437" y="1419551"/>
                </a:moveTo>
                <a:cubicBezTo>
                  <a:pt x="1240969" y="1389138"/>
                  <a:pt x="1318455" y="1339898"/>
                  <a:pt x="1387693" y="1273037"/>
                </a:cubicBezTo>
                <a:cubicBezTo>
                  <a:pt x="1391973" y="1268712"/>
                  <a:pt x="1396197" y="1264323"/>
                  <a:pt x="1400266" y="1259943"/>
                </a:cubicBezTo>
                <a:cubicBezTo>
                  <a:pt x="1401967" y="1258141"/>
                  <a:pt x="1403622" y="1256285"/>
                  <a:pt x="1405268" y="1254475"/>
                </a:cubicBezTo>
                <a:cubicBezTo>
                  <a:pt x="1408414" y="1251073"/>
                  <a:pt x="1411404" y="1247571"/>
                  <a:pt x="1414449" y="1244114"/>
                </a:cubicBezTo>
                <a:cubicBezTo>
                  <a:pt x="1486412" y="1161069"/>
                  <a:pt x="1530642" y="1067141"/>
                  <a:pt x="1544001" y="980219"/>
                </a:cubicBezTo>
                <a:cubicBezTo>
                  <a:pt x="1544202" y="976561"/>
                  <a:pt x="1544303" y="972949"/>
                  <a:pt x="1544303" y="969392"/>
                </a:cubicBezTo>
                <a:cubicBezTo>
                  <a:pt x="1544303" y="932688"/>
                  <a:pt x="1533897" y="902321"/>
                  <a:pt x="1512555" y="880979"/>
                </a:cubicBezTo>
                <a:cubicBezTo>
                  <a:pt x="1491213" y="859637"/>
                  <a:pt x="1460845" y="849276"/>
                  <a:pt x="1424141" y="849222"/>
                </a:cubicBezTo>
                <a:cubicBezTo>
                  <a:pt x="1380991" y="849222"/>
                  <a:pt x="1329492" y="863761"/>
                  <a:pt x="1275926" y="891339"/>
                </a:cubicBezTo>
                <a:cubicBezTo>
                  <a:pt x="1222361" y="918871"/>
                  <a:pt x="1166784" y="959343"/>
                  <a:pt x="1115339" y="1010842"/>
                </a:cubicBezTo>
                <a:cubicBezTo>
                  <a:pt x="1063886" y="1062295"/>
                  <a:pt x="1023369" y="1117863"/>
                  <a:pt x="995836" y="1171429"/>
                </a:cubicBezTo>
                <a:cubicBezTo>
                  <a:pt x="968258" y="1224994"/>
                  <a:pt x="953719" y="1276548"/>
                  <a:pt x="953719" y="1319644"/>
                </a:cubicBezTo>
                <a:cubicBezTo>
                  <a:pt x="953719" y="1356348"/>
                  <a:pt x="964134" y="1386715"/>
                  <a:pt x="985476" y="1408057"/>
                </a:cubicBezTo>
                <a:cubicBezTo>
                  <a:pt x="1006818" y="1429399"/>
                  <a:pt x="1037186" y="1439759"/>
                  <a:pt x="1073890" y="1439814"/>
                </a:cubicBezTo>
                <a:cubicBezTo>
                  <a:pt x="1077447" y="1439814"/>
                  <a:pt x="1081059" y="1439659"/>
                  <a:pt x="1084716" y="1439503"/>
                </a:cubicBezTo>
                <a:cubicBezTo>
                  <a:pt x="1110493" y="1435535"/>
                  <a:pt x="1136892" y="1428878"/>
                  <a:pt x="1163437" y="1419551"/>
                </a:cubicBezTo>
                <a:lnTo>
                  <a:pt x="1163437" y="1419551"/>
                </a:lnTo>
                <a:moveTo>
                  <a:pt x="793087" y="656887"/>
                </a:moveTo>
                <a:cubicBezTo>
                  <a:pt x="793809" y="656164"/>
                  <a:pt x="794531" y="655488"/>
                  <a:pt x="795245" y="654765"/>
                </a:cubicBezTo>
                <a:lnTo>
                  <a:pt x="784162" y="654765"/>
                </a:lnTo>
                <a:lnTo>
                  <a:pt x="749570" y="660489"/>
                </a:lnTo>
                <a:cubicBezTo>
                  <a:pt x="703896" y="668015"/>
                  <a:pt x="668070" y="703850"/>
                  <a:pt x="660489" y="749570"/>
                </a:cubicBezTo>
                <a:lnTo>
                  <a:pt x="654765" y="784162"/>
                </a:lnTo>
                <a:lnTo>
                  <a:pt x="654765" y="835826"/>
                </a:lnTo>
                <a:cubicBezTo>
                  <a:pt x="691058" y="773290"/>
                  <a:pt x="737308" y="712665"/>
                  <a:pt x="793087" y="656887"/>
                </a:cubicBezTo>
                <a:lnTo>
                  <a:pt x="793087" y="656887"/>
                </a:lnTo>
                <a:moveTo>
                  <a:pt x="1504819" y="241109"/>
                </a:moveTo>
                <a:cubicBezTo>
                  <a:pt x="1478832" y="241164"/>
                  <a:pt x="1452488" y="242554"/>
                  <a:pt x="1425888" y="245077"/>
                </a:cubicBezTo>
                <a:cubicBezTo>
                  <a:pt x="1432024" y="244922"/>
                  <a:pt x="1438214" y="244767"/>
                  <a:pt x="1444295" y="244767"/>
                </a:cubicBezTo>
                <a:cubicBezTo>
                  <a:pt x="1585597" y="244767"/>
                  <a:pt x="1712781" y="288850"/>
                  <a:pt x="1805108" y="381177"/>
                </a:cubicBezTo>
                <a:cubicBezTo>
                  <a:pt x="1897444" y="473513"/>
                  <a:pt x="1941518" y="600688"/>
                  <a:pt x="1941518" y="741999"/>
                </a:cubicBezTo>
                <a:cubicBezTo>
                  <a:pt x="1941472" y="976040"/>
                  <a:pt x="1821037" y="1249272"/>
                  <a:pt x="1598024" y="1472339"/>
                </a:cubicBezTo>
                <a:cubicBezTo>
                  <a:pt x="1374956" y="1695352"/>
                  <a:pt x="1101678" y="1815779"/>
                  <a:pt x="867683" y="1815834"/>
                </a:cubicBezTo>
                <a:cubicBezTo>
                  <a:pt x="726372" y="1815834"/>
                  <a:pt x="599197" y="1771760"/>
                  <a:pt x="506861" y="1679424"/>
                </a:cubicBezTo>
                <a:cubicBezTo>
                  <a:pt x="414534" y="1587097"/>
                  <a:pt x="370460" y="1459913"/>
                  <a:pt x="370460" y="1318611"/>
                </a:cubicBezTo>
                <a:cubicBezTo>
                  <a:pt x="370460" y="1242103"/>
                  <a:pt x="383444" y="1161425"/>
                  <a:pt x="408554" y="1079714"/>
                </a:cubicBezTo>
                <a:cubicBezTo>
                  <a:pt x="394792" y="1118586"/>
                  <a:pt x="383344" y="1157457"/>
                  <a:pt x="374474" y="1196117"/>
                </a:cubicBezTo>
                <a:cubicBezTo>
                  <a:pt x="374218" y="1197361"/>
                  <a:pt x="373907" y="1198596"/>
                  <a:pt x="373651" y="1199830"/>
                </a:cubicBezTo>
                <a:cubicBezTo>
                  <a:pt x="372572" y="1204521"/>
                  <a:pt x="371594" y="1209267"/>
                  <a:pt x="370615" y="1213957"/>
                </a:cubicBezTo>
                <a:cubicBezTo>
                  <a:pt x="359167" y="1270358"/>
                  <a:pt x="353288" y="1325779"/>
                  <a:pt x="353288" y="1379336"/>
                </a:cubicBezTo>
                <a:cubicBezTo>
                  <a:pt x="353288" y="1534665"/>
                  <a:pt x="402062" y="1673965"/>
                  <a:pt x="503304" y="1775262"/>
                </a:cubicBezTo>
                <a:cubicBezTo>
                  <a:pt x="604610" y="1876513"/>
                  <a:pt x="743855" y="1925278"/>
                  <a:pt x="899230" y="1925278"/>
                </a:cubicBezTo>
                <a:cubicBezTo>
                  <a:pt x="1148797" y="1925278"/>
                  <a:pt x="1439293" y="1799027"/>
                  <a:pt x="1675355" y="1562920"/>
                </a:cubicBezTo>
                <a:cubicBezTo>
                  <a:pt x="1911462" y="1326858"/>
                  <a:pt x="2037768" y="1036363"/>
                  <a:pt x="2037713" y="786795"/>
                </a:cubicBezTo>
                <a:cubicBezTo>
                  <a:pt x="2037713" y="631466"/>
                  <a:pt x="1988948" y="492176"/>
                  <a:pt x="1887697" y="390869"/>
                </a:cubicBezTo>
                <a:cubicBezTo>
                  <a:pt x="1789289" y="292462"/>
                  <a:pt x="1654890" y="243788"/>
                  <a:pt x="1504764" y="241109"/>
                </a:cubicBezTo>
                <a:lnTo>
                  <a:pt x="1504819" y="241109"/>
                </a:lnTo>
                <a:moveTo>
                  <a:pt x="1896100" y="382576"/>
                </a:moveTo>
                <a:cubicBezTo>
                  <a:pt x="1999930" y="486397"/>
                  <a:pt x="2049628" y="629098"/>
                  <a:pt x="2049628" y="786850"/>
                </a:cubicBezTo>
                <a:cubicBezTo>
                  <a:pt x="2049628" y="1040377"/>
                  <a:pt x="1921776" y="1333305"/>
                  <a:pt x="1683758" y="1571323"/>
                </a:cubicBezTo>
                <a:cubicBezTo>
                  <a:pt x="1445740" y="1809287"/>
                  <a:pt x="1152766" y="1937138"/>
                  <a:pt x="899285" y="1937193"/>
                </a:cubicBezTo>
                <a:cubicBezTo>
                  <a:pt x="741533" y="1937193"/>
                  <a:pt x="598831" y="1887541"/>
                  <a:pt x="495010" y="1783665"/>
                </a:cubicBezTo>
                <a:cubicBezTo>
                  <a:pt x="444792" y="1733456"/>
                  <a:pt x="407365" y="1674120"/>
                  <a:pt x="381954" y="1608384"/>
                </a:cubicBezTo>
                <a:cubicBezTo>
                  <a:pt x="409432" y="1695974"/>
                  <a:pt x="455362" y="1774750"/>
                  <a:pt x="520476" y="1839910"/>
                </a:cubicBezTo>
                <a:cubicBezTo>
                  <a:pt x="634813" y="1954256"/>
                  <a:pt x="791230" y="2009467"/>
                  <a:pt x="963467" y="2009522"/>
                </a:cubicBezTo>
                <a:cubicBezTo>
                  <a:pt x="1223028" y="2009522"/>
                  <a:pt x="1518169" y="1883728"/>
                  <a:pt x="1755831" y="1646075"/>
                </a:cubicBezTo>
                <a:cubicBezTo>
                  <a:pt x="1993538" y="1408414"/>
                  <a:pt x="2119378" y="1113273"/>
                  <a:pt x="2119323" y="853711"/>
                </a:cubicBezTo>
                <a:cubicBezTo>
                  <a:pt x="2119323" y="681475"/>
                  <a:pt x="2064057" y="525067"/>
                  <a:pt x="1949711" y="410721"/>
                </a:cubicBezTo>
                <a:cubicBezTo>
                  <a:pt x="1896776" y="357777"/>
                  <a:pt x="1834753" y="317516"/>
                  <a:pt x="1766346" y="289517"/>
                </a:cubicBezTo>
                <a:cubicBezTo>
                  <a:pt x="1814078" y="313337"/>
                  <a:pt x="1857750" y="344217"/>
                  <a:pt x="1896100" y="382576"/>
                </a:cubicBezTo>
                <a:lnTo>
                  <a:pt x="1896100" y="382576"/>
                </a:lnTo>
                <a:moveTo>
                  <a:pt x="524445" y="1891363"/>
                </a:moveTo>
                <a:cubicBezTo>
                  <a:pt x="646883" y="2013792"/>
                  <a:pt x="813907" y="2072981"/>
                  <a:pt x="996815" y="2073027"/>
                </a:cubicBezTo>
                <a:cubicBezTo>
                  <a:pt x="1265200" y="2073027"/>
                  <a:pt x="1567455" y="1945231"/>
                  <a:pt x="1809908" y="1702777"/>
                </a:cubicBezTo>
                <a:cubicBezTo>
                  <a:pt x="2052407" y="1460324"/>
                  <a:pt x="2180204" y="1158078"/>
                  <a:pt x="2180158" y="889693"/>
                </a:cubicBezTo>
                <a:cubicBezTo>
                  <a:pt x="2180158" y="706785"/>
                  <a:pt x="2120923" y="539752"/>
                  <a:pt x="1998485" y="417314"/>
                </a:cubicBezTo>
                <a:cubicBezTo>
                  <a:pt x="1918942" y="337825"/>
                  <a:pt x="1820625" y="284982"/>
                  <a:pt x="1711336" y="257714"/>
                </a:cubicBezTo>
                <a:cubicBezTo>
                  <a:pt x="1804751" y="285293"/>
                  <a:pt x="1888940" y="333180"/>
                  <a:pt x="1958069" y="402363"/>
                </a:cubicBezTo>
                <a:cubicBezTo>
                  <a:pt x="2074993" y="519233"/>
                  <a:pt x="2131128" y="678997"/>
                  <a:pt x="2131128" y="853711"/>
                </a:cubicBezTo>
                <a:cubicBezTo>
                  <a:pt x="2131128" y="1117095"/>
                  <a:pt x="2003798" y="1414760"/>
                  <a:pt x="1764179" y="1654424"/>
                </a:cubicBezTo>
                <a:cubicBezTo>
                  <a:pt x="1524515" y="1894042"/>
                  <a:pt x="1226850" y="2021327"/>
                  <a:pt x="963467" y="2021373"/>
                </a:cubicBezTo>
                <a:cubicBezTo>
                  <a:pt x="788752" y="2021373"/>
                  <a:pt x="628988" y="1965238"/>
                  <a:pt x="512119" y="1848313"/>
                </a:cubicBezTo>
                <a:cubicBezTo>
                  <a:pt x="424839" y="1761034"/>
                  <a:pt x="371384" y="1649788"/>
                  <a:pt x="349941" y="1526316"/>
                </a:cubicBezTo>
                <a:cubicBezTo>
                  <a:pt x="368960" y="1666741"/>
                  <a:pt x="426440" y="1793358"/>
                  <a:pt x="524445" y="1891409"/>
                </a:cubicBezTo>
                <a:lnTo>
                  <a:pt x="524445" y="1891363"/>
                </a:lnTo>
              </a:path>
            </a:pathLst>
          </a:custGeom>
          <a:solidFill>
            <a:srgbClr val="FF8F43"/>
          </a:solidFill>
          <a:ln/>
        </p:spPr>
      </p:sp>
      <p:sp>
        <p:nvSpPr>
          <p:cNvPr id="4" name="Shape 2"/>
          <p:cNvSpPr/>
          <p:nvPr/>
        </p:nvSpPr>
        <p:spPr>
          <a:xfrm>
            <a:off x="10896941" y="6472260"/>
            <a:ext cx="218478" cy="218478"/>
          </a:xfrm>
          <a:custGeom>
            <a:avLst/>
            <a:gdLst/>
            <a:ahLst/>
            <a:cxnLst/>
            <a:rect l="l" t="t" r="r" b="b"/>
            <a:pathLst>
              <a:path w="218478" h="218478">
                <a:moveTo>
                  <a:pt x="44952" y="116659"/>
                </a:moveTo>
                <a:lnTo>
                  <a:pt x="0" y="109243"/>
                </a:lnTo>
                <a:lnTo>
                  <a:pt x="44952" y="101818"/>
                </a:lnTo>
                <a:cubicBezTo>
                  <a:pt x="74130" y="97018"/>
                  <a:pt x="97018" y="74130"/>
                  <a:pt x="101818" y="44952"/>
                </a:cubicBezTo>
                <a:lnTo>
                  <a:pt x="109243" y="0"/>
                </a:lnTo>
                <a:lnTo>
                  <a:pt x="116659" y="44952"/>
                </a:lnTo>
                <a:cubicBezTo>
                  <a:pt x="121460" y="74130"/>
                  <a:pt x="144347" y="97018"/>
                  <a:pt x="173526" y="101818"/>
                </a:cubicBezTo>
                <a:lnTo>
                  <a:pt x="218478" y="109243"/>
                </a:lnTo>
                <a:lnTo>
                  <a:pt x="173526" y="116659"/>
                </a:lnTo>
                <a:cubicBezTo>
                  <a:pt x="144347" y="121460"/>
                  <a:pt x="121460" y="144347"/>
                  <a:pt x="116659" y="173526"/>
                </a:cubicBezTo>
                <a:lnTo>
                  <a:pt x="109243" y="218478"/>
                </a:lnTo>
                <a:lnTo>
                  <a:pt x="101818" y="173526"/>
                </a:lnTo>
                <a:cubicBezTo>
                  <a:pt x="97018" y="144347"/>
                  <a:pt x="74130" y="121460"/>
                  <a:pt x="44952" y="116659"/>
                </a:cubicBezTo>
              </a:path>
            </a:pathLst>
          </a:custGeom>
          <a:solidFill>
            <a:srgbClr val="FF8F43"/>
          </a:solidFill>
          <a:ln/>
        </p:spPr>
      </p:sp>
      <p:sp>
        <p:nvSpPr>
          <p:cNvPr id="5" name="Shape 3"/>
          <p:cNvSpPr/>
          <p:nvPr/>
        </p:nvSpPr>
        <p:spPr>
          <a:xfrm>
            <a:off x="12019139" y="5695414"/>
            <a:ext cx="188686" cy="188686"/>
          </a:xfrm>
          <a:custGeom>
            <a:avLst/>
            <a:gdLst/>
            <a:ahLst/>
            <a:cxnLst/>
            <a:rect l="l" t="t" r="r" b="b"/>
            <a:pathLst>
              <a:path w="188686" h="188686">
                <a:moveTo>
                  <a:pt x="87947" y="38816"/>
                </a:moveTo>
                <a:lnTo>
                  <a:pt x="94339" y="0"/>
                </a:lnTo>
                <a:lnTo>
                  <a:pt x="100730" y="38816"/>
                </a:lnTo>
                <a:cubicBezTo>
                  <a:pt x="104909" y="64026"/>
                  <a:pt x="124651" y="83768"/>
                  <a:pt x="149861" y="87947"/>
                </a:cubicBezTo>
                <a:lnTo>
                  <a:pt x="188686" y="94339"/>
                </a:lnTo>
                <a:lnTo>
                  <a:pt x="149861" y="100730"/>
                </a:lnTo>
                <a:cubicBezTo>
                  <a:pt x="124651" y="104909"/>
                  <a:pt x="104909" y="124651"/>
                  <a:pt x="100730" y="149861"/>
                </a:cubicBezTo>
                <a:lnTo>
                  <a:pt x="94339" y="188686"/>
                </a:lnTo>
                <a:lnTo>
                  <a:pt x="87947" y="149861"/>
                </a:lnTo>
                <a:cubicBezTo>
                  <a:pt x="83768" y="124651"/>
                  <a:pt x="64026" y="104909"/>
                  <a:pt x="38816" y="100730"/>
                </a:cubicBezTo>
                <a:lnTo>
                  <a:pt x="0" y="94339"/>
                </a:lnTo>
                <a:lnTo>
                  <a:pt x="38816" y="87947"/>
                </a:lnTo>
                <a:cubicBezTo>
                  <a:pt x="64026" y="83768"/>
                  <a:pt x="83768" y="64026"/>
                  <a:pt x="87947" y="38816"/>
                </a:cubicBezTo>
                <a:lnTo>
                  <a:pt x="87947" y="38816"/>
                </a:lnTo>
              </a:path>
            </a:pathLst>
          </a:custGeom>
          <a:solidFill>
            <a:srgbClr val="FF8F43"/>
          </a:solidFill>
          <a:ln/>
        </p:spPr>
      </p:sp>
      <p:sp>
        <p:nvSpPr>
          <p:cNvPr id="6" name="Shape 4"/>
          <p:cNvSpPr/>
          <p:nvPr/>
        </p:nvSpPr>
        <p:spPr>
          <a:xfrm>
            <a:off x="11079593" y="6036951"/>
            <a:ext cx="130220" cy="130220"/>
          </a:xfrm>
          <a:custGeom>
            <a:avLst/>
            <a:gdLst/>
            <a:ahLst/>
            <a:cxnLst/>
            <a:rect l="l" t="t" r="r" b="b"/>
            <a:pathLst>
              <a:path w="130220" h="130220">
                <a:moveTo>
                  <a:pt x="60680" y="26810"/>
                </a:moveTo>
                <a:lnTo>
                  <a:pt x="65114" y="0"/>
                </a:lnTo>
                <a:lnTo>
                  <a:pt x="69540" y="26810"/>
                </a:lnTo>
                <a:cubicBezTo>
                  <a:pt x="72430" y="44184"/>
                  <a:pt x="86045" y="57845"/>
                  <a:pt x="103409" y="60680"/>
                </a:cubicBezTo>
                <a:lnTo>
                  <a:pt x="130220" y="65114"/>
                </a:lnTo>
                <a:lnTo>
                  <a:pt x="103409" y="69540"/>
                </a:lnTo>
                <a:cubicBezTo>
                  <a:pt x="86045" y="72430"/>
                  <a:pt x="72384" y="86045"/>
                  <a:pt x="69540" y="103419"/>
                </a:cubicBezTo>
                <a:lnTo>
                  <a:pt x="65114" y="130220"/>
                </a:lnTo>
                <a:lnTo>
                  <a:pt x="60680" y="103419"/>
                </a:lnTo>
                <a:cubicBezTo>
                  <a:pt x="57790" y="86045"/>
                  <a:pt x="44184" y="72384"/>
                  <a:pt x="26810" y="69540"/>
                </a:cubicBezTo>
                <a:lnTo>
                  <a:pt x="0" y="65114"/>
                </a:lnTo>
                <a:lnTo>
                  <a:pt x="26810" y="60680"/>
                </a:lnTo>
                <a:cubicBezTo>
                  <a:pt x="44184" y="57790"/>
                  <a:pt x="57845" y="44184"/>
                  <a:pt x="60680" y="26810"/>
                </a:cubicBezTo>
              </a:path>
            </a:pathLst>
          </a:custGeom>
          <a:solidFill>
            <a:srgbClr val="FF8F43"/>
          </a:solidFill>
          <a:ln/>
        </p:spPr>
      </p:sp>
      <p:sp>
        <p:nvSpPr>
          <p:cNvPr id="7" name="Shape 5"/>
          <p:cNvSpPr/>
          <p:nvPr/>
        </p:nvSpPr>
        <p:spPr>
          <a:xfrm>
            <a:off x="1013100" y="5689479"/>
            <a:ext cx="831647" cy="123087"/>
          </a:xfrm>
          <a:custGeom>
            <a:avLst/>
            <a:gdLst/>
            <a:ahLst/>
            <a:cxnLst/>
            <a:rect l="l" t="t" r="r" b="b"/>
            <a:pathLst>
              <a:path w="831647" h="123087">
                <a:moveTo>
                  <a:pt x="829608" y="45656"/>
                </a:moveTo>
                <a:cubicBezTo>
                  <a:pt x="827578" y="41843"/>
                  <a:pt x="822832" y="40407"/>
                  <a:pt x="819019" y="42437"/>
                </a:cubicBezTo>
                <a:cubicBezTo>
                  <a:pt x="811457" y="46479"/>
                  <a:pt x="803986" y="50667"/>
                  <a:pt x="796762" y="54718"/>
                </a:cubicBezTo>
                <a:cubicBezTo>
                  <a:pt x="748345" y="81821"/>
                  <a:pt x="702607" y="107433"/>
                  <a:pt x="608725" y="107433"/>
                </a:cubicBezTo>
                <a:cubicBezTo>
                  <a:pt x="514835" y="107433"/>
                  <a:pt x="469087" y="81821"/>
                  <a:pt x="420670" y="54718"/>
                </a:cubicBezTo>
                <a:cubicBezTo>
                  <a:pt x="372636" y="27816"/>
                  <a:pt x="322957" y="0"/>
                  <a:pt x="224979" y="0"/>
                </a:cubicBezTo>
                <a:cubicBezTo>
                  <a:pt x="127001" y="0"/>
                  <a:pt x="77331" y="27816"/>
                  <a:pt x="29288" y="54718"/>
                </a:cubicBezTo>
                <a:cubicBezTo>
                  <a:pt x="21479" y="59089"/>
                  <a:pt x="13396" y="63606"/>
                  <a:pt x="5276" y="67912"/>
                </a:cubicBezTo>
                <a:cubicBezTo>
                  <a:pt x="1454" y="69933"/>
                  <a:pt x="0" y="74670"/>
                  <a:pt x="2021" y="78492"/>
                </a:cubicBezTo>
                <a:cubicBezTo>
                  <a:pt x="4051" y="82314"/>
                  <a:pt x="8787" y="83777"/>
                  <a:pt x="12610" y="81747"/>
                </a:cubicBezTo>
                <a:cubicBezTo>
                  <a:pt x="20894" y="77358"/>
                  <a:pt x="29050" y="72795"/>
                  <a:pt x="36933" y="68379"/>
                </a:cubicBezTo>
                <a:cubicBezTo>
                  <a:pt x="85359" y="41258"/>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76" y="64374"/>
                  <a:pt x="818973" y="60213"/>
                  <a:pt x="826398" y="56254"/>
                </a:cubicBezTo>
                <a:cubicBezTo>
                  <a:pt x="830211" y="54215"/>
                  <a:pt x="831647" y="49478"/>
                  <a:pt x="829608" y="45656"/>
                </a:cubicBezTo>
              </a:path>
            </a:pathLst>
          </a:custGeom>
          <a:solidFill>
            <a:srgbClr val="2B0000"/>
          </a:solidFill>
          <a:ln/>
        </p:spPr>
      </p:sp>
      <p:sp>
        <p:nvSpPr>
          <p:cNvPr id="8" name="Shape 6"/>
          <p:cNvSpPr/>
          <p:nvPr/>
        </p:nvSpPr>
        <p:spPr>
          <a:xfrm>
            <a:off x="1013100" y="5849874"/>
            <a:ext cx="831647" cy="123087"/>
          </a:xfrm>
          <a:custGeom>
            <a:avLst/>
            <a:gdLst/>
            <a:ahLst/>
            <a:cxnLst/>
            <a:rect l="l" t="t" r="r" b="b"/>
            <a:pathLst>
              <a:path w="831647" h="123087">
                <a:moveTo>
                  <a:pt x="829608" y="45656"/>
                </a:moveTo>
                <a:cubicBezTo>
                  <a:pt x="827578" y="41843"/>
                  <a:pt x="822832" y="40398"/>
                  <a:pt x="819019" y="42437"/>
                </a:cubicBezTo>
                <a:cubicBezTo>
                  <a:pt x="811457" y="46479"/>
                  <a:pt x="803986" y="50658"/>
                  <a:pt x="796762" y="54709"/>
                </a:cubicBezTo>
                <a:cubicBezTo>
                  <a:pt x="748345" y="81821"/>
                  <a:pt x="702607" y="107424"/>
                  <a:pt x="608725" y="107424"/>
                </a:cubicBezTo>
                <a:cubicBezTo>
                  <a:pt x="514835" y="107424"/>
                  <a:pt x="469087" y="81821"/>
                  <a:pt x="420670" y="54709"/>
                </a:cubicBezTo>
                <a:cubicBezTo>
                  <a:pt x="372636" y="27807"/>
                  <a:pt x="322957" y="0"/>
                  <a:pt x="224979" y="0"/>
                </a:cubicBezTo>
                <a:cubicBezTo>
                  <a:pt x="127001" y="0"/>
                  <a:pt x="77322" y="27807"/>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67"/>
                  <a:pt x="413025" y="68379"/>
                </a:cubicBezTo>
                <a:cubicBezTo>
                  <a:pt x="461068" y="95271"/>
                  <a:pt x="510738" y="123087"/>
                  <a:pt x="608725" y="123087"/>
                </a:cubicBezTo>
                <a:cubicBezTo>
                  <a:pt x="706694" y="123087"/>
                  <a:pt x="756364" y="95271"/>
                  <a:pt x="804407" y="68379"/>
                </a:cubicBezTo>
                <a:cubicBezTo>
                  <a:pt x="811576" y="64365"/>
                  <a:pt x="818973" y="60213"/>
                  <a:pt x="826398" y="56254"/>
                </a:cubicBezTo>
                <a:cubicBezTo>
                  <a:pt x="830211" y="54206"/>
                  <a:pt x="831647" y="49469"/>
                  <a:pt x="829608" y="45656"/>
                </a:cubicBezTo>
              </a:path>
            </a:pathLst>
          </a:custGeom>
          <a:solidFill>
            <a:srgbClr val="2B0000"/>
          </a:solidFill>
          <a:ln/>
        </p:spPr>
      </p:sp>
      <p:sp>
        <p:nvSpPr>
          <p:cNvPr id="9" name="Shape 7"/>
          <p:cNvSpPr/>
          <p:nvPr/>
        </p:nvSpPr>
        <p:spPr>
          <a:xfrm>
            <a:off x="1013100" y="6010260"/>
            <a:ext cx="831647" cy="123087"/>
          </a:xfrm>
          <a:custGeom>
            <a:avLst/>
            <a:gdLst/>
            <a:ahLst/>
            <a:cxnLst/>
            <a:rect l="l" t="t" r="r" b="b"/>
            <a:pathLst>
              <a:path w="831647" h="123087">
                <a:moveTo>
                  <a:pt x="829608" y="45656"/>
                </a:moveTo>
                <a:cubicBezTo>
                  <a:pt x="827578" y="41843"/>
                  <a:pt x="822832" y="40407"/>
                  <a:pt x="819019" y="42446"/>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18"/>
                </a:cubicBezTo>
                <a:cubicBezTo>
                  <a:pt x="21470" y="59089"/>
                  <a:pt x="13396" y="63606"/>
                  <a:pt x="5276" y="67912"/>
                </a:cubicBezTo>
                <a:cubicBezTo>
                  <a:pt x="1454" y="69933"/>
                  <a:pt x="0" y="74670"/>
                  <a:pt x="2021" y="78501"/>
                </a:cubicBezTo>
                <a:cubicBezTo>
                  <a:pt x="4051" y="82314"/>
                  <a:pt x="8787" y="83777"/>
                  <a:pt x="12610" y="81747"/>
                </a:cubicBezTo>
                <a:cubicBezTo>
                  <a:pt x="20894" y="77358"/>
                  <a:pt x="29041" y="72795"/>
                  <a:pt x="36933" y="68379"/>
                </a:cubicBezTo>
                <a:cubicBezTo>
                  <a:pt x="85350" y="41267"/>
                  <a:pt x="131088" y="15664"/>
                  <a:pt x="224979" y="15664"/>
                </a:cubicBezTo>
                <a:cubicBezTo>
                  <a:pt x="318870" y="15664"/>
                  <a:pt x="364608" y="41267"/>
                  <a:pt x="413025" y="68370"/>
                </a:cubicBezTo>
                <a:cubicBezTo>
                  <a:pt x="461068" y="95271"/>
                  <a:pt x="510738" y="123087"/>
                  <a:pt x="608725" y="123087"/>
                </a:cubicBezTo>
                <a:cubicBezTo>
                  <a:pt x="706694" y="123087"/>
                  <a:pt x="756364" y="95271"/>
                  <a:pt x="804407" y="68370"/>
                </a:cubicBezTo>
                <a:cubicBezTo>
                  <a:pt x="811567" y="64365"/>
                  <a:pt x="818973" y="60222"/>
                  <a:pt x="826398" y="56254"/>
                </a:cubicBezTo>
                <a:cubicBezTo>
                  <a:pt x="830211" y="54215"/>
                  <a:pt x="831647" y="49469"/>
                  <a:pt x="829608" y="45656"/>
                </a:cubicBezTo>
              </a:path>
            </a:pathLst>
          </a:custGeom>
          <a:solidFill>
            <a:srgbClr val="2B0000"/>
          </a:solidFill>
          <a:ln/>
        </p:spPr>
      </p:sp>
      <p:sp>
        <p:nvSpPr>
          <p:cNvPr id="10" name="Shape 8"/>
          <p:cNvSpPr/>
          <p:nvPr/>
        </p:nvSpPr>
        <p:spPr>
          <a:xfrm>
            <a:off x="1013100" y="6170655"/>
            <a:ext cx="831647" cy="123087"/>
          </a:xfrm>
          <a:custGeom>
            <a:avLst/>
            <a:gdLst/>
            <a:ahLst/>
            <a:cxnLst/>
            <a:rect l="l" t="t" r="r" b="b"/>
            <a:pathLst>
              <a:path w="831647" h="123087">
                <a:moveTo>
                  <a:pt x="826398" y="56254"/>
                </a:moveTo>
                <a:cubicBezTo>
                  <a:pt x="830211" y="54215"/>
                  <a:pt x="831647" y="49469"/>
                  <a:pt x="829608" y="45656"/>
                </a:cubicBezTo>
                <a:cubicBezTo>
                  <a:pt x="827578" y="41843"/>
                  <a:pt x="822832" y="40398"/>
                  <a:pt x="819019" y="42437"/>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67" y="64365"/>
                  <a:pt x="818973" y="60213"/>
                  <a:pt x="826398" y="56254"/>
                </a:cubicBezTo>
              </a:path>
            </a:pathLst>
          </a:custGeom>
          <a:solidFill>
            <a:srgbClr val="2B0000"/>
          </a:solidFill>
          <a:ln/>
        </p:spPr>
      </p:sp>
      <p:sp>
        <p:nvSpPr>
          <p:cNvPr id="11" name="Shape 9"/>
          <p:cNvSpPr/>
          <p:nvPr/>
        </p:nvSpPr>
        <p:spPr>
          <a:xfrm>
            <a:off x="925611" y="2878211"/>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pic>
        <p:nvPicPr>
          <p:cNvPr id="12" name="Image 0" descr="D:\Projects\20. fintechthon\deck\out\template_assets\p4_x42.png">    </p:cNvPr>
          <p:cNvPicPr>
            <a:picLocks noChangeAspect="1"/>
          </p:cNvPicPr>
          <p:nvPr/>
        </p:nvPicPr>
        <p:blipFill>
          <a:blip r:embed="rId1"/>
          <a:stretch>
            <a:fillRect/>
          </a:stretch>
        </p:blipFill>
        <p:spPr>
          <a:xfrm>
            <a:off x="544734" y="278171"/>
            <a:ext cx="901700" cy="901700"/>
          </a:xfrm>
          <a:prstGeom prst="rect">
            <a:avLst/>
          </a:prstGeom>
        </p:spPr>
      </p:pic>
      <p:sp>
        <p:nvSpPr>
          <p:cNvPr id="13" name="Text 10"/>
          <p:cNvSpPr txBox="1"/>
          <p:nvPr/>
        </p:nvSpPr>
        <p:spPr>
          <a:xfrm>
            <a:off x="4232115" y="276353"/>
            <a:ext cx="3727738" cy="875744"/>
          </a:xfrm>
          <a:prstGeom prst="rect">
            <a:avLst/>
          </a:prstGeom>
          <a:noFill/>
          <a:ln/>
        </p:spPr>
        <p:txBody>
          <a:bodyPr wrap="none" lIns="0" tIns="0" rIns="0" bIns="0" rtlCol="0" anchor="t"/>
          <a:lstStyle/>
          <a:p>
            <a:pPr algn="ctr" indent="0" marL="0">
              <a:buNone/>
            </a:pPr>
            <a:r>
              <a:rPr lang="en-US" sz="6968" b="1" spc="-376" kern="0" dirty="0">
                <a:solidFill>
                  <a:srgbClr val="000000"/>
                </a:solidFill>
                <a:latin typeface="League Spartan" pitchFamily="34" charset="0"/>
                <a:ea typeface="League Spartan" pitchFamily="34" charset="-122"/>
                <a:cs typeface="League Spartan" pitchFamily="34" charset="-120"/>
              </a:rPr>
              <a:t>Solution</a:t>
            </a:r>
            <a:endParaRPr lang="en-US" sz="6968" dirty="0"/>
          </a:p>
        </p:txBody>
      </p:sp>
      <p:sp>
        <p:nvSpPr>
          <p:cNvPr id="14" name="Text 11"/>
          <p:cNvSpPr txBox="1"/>
          <p:nvPr/>
        </p:nvSpPr>
        <p:spPr>
          <a:xfrm>
            <a:off x="118415" y="1559601"/>
            <a:ext cx="11954957" cy="215890"/>
          </a:xfrm>
          <a:prstGeom prst="rect">
            <a:avLst/>
          </a:prstGeom>
          <a:noFill/>
          <a:ln/>
        </p:spPr>
        <p:txBody>
          <a:bodyPr wrap="none" lIns="0" tIns="0" rIns="0" bIns="0" rtlCol="0" anchor="t"/>
          <a:lstStyle/>
          <a:p>
            <a:pPr algn="ctr" indent="0" marL="0">
              <a:buNone/>
            </a:pPr>
            <a:r>
              <a:rPr lang="en-US" sz="1850" b="1" spc="-20" kern="0" dirty="0">
                <a:solidFill>
                  <a:srgbClr val="24110C"/>
                </a:solidFill>
                <a:latin typeface="League Spartan" pitchFamily="34" charset="0"/>
                <a:ea typeface="League Spartan" pitchFamily="34" charset="-122"/>
                <a:cs typeface="League Spartan" pitchFamily="34" charset="-120"/>
              </a:rPr>
              <a:t>LedgerLens checks every bill, payment and tax record, </a:t>
            </a:r>
            <a:pPr algn="ctr" indent="0" marL="0">
              <a:buNone/>
            </a:pPr>
            <a:r>
              <a:rPr lang="en-US" sz="1850" b="1" spc="-20" kern="0" dirty="0">
                <a:solidFill>
                  <a:srgbClr val="D2601A"/>
                </a:solidFill>
                <a:latin typeface="League Spartan" pitchFamily="34" charset="0"/>
                <a:ea typeface="League Spartan" pitchFamily="34" charset="-122"/>
                <a:cs typeface="League Spartan" pitchFamily="34" charset="-120"/>
              </a:rPr>
              <a:t>shows the money at stake</a:t>
            </a:r>
            <a:pPr algn="ctr" indent="0" marL="0">
              <a:buNone/>
            </a:pPr>
            <a:r>
              <a:rPr lang="en-US" sz="1850" b="1" spc="-20" kern="0" dirty="0">
                <a:solidFill>
                  <a:srgbClr val="24110C"/>
                </a:solidFill>
                <a:latin typeface="League Spartan" pitchFamily="34" charset="0"/>
                <a:ea typeface="League Spartan" pitchFamily="34" charset="-122"/>
                <a:cs typeface="League Spartan" pitchFamily="34" charset="-120"/>
              </a:rPr>
              <a:t>, and tells you what to do</a:t>
            </a:r>
            <a:endParaRPr lang="en-US" sz="1850" dirty="0"/>
          </a:p>
        </p:txBody>
      </p:sp>
      <p:sp>
        <p:nvSpPr>
          <p:cNvPr id="15" name="Shape 12"/>
          <p:cNvSpPr/>
          <p:nvPr/>
        </p:nvSpPr>
        <p:spPr>
          <a:xfrm>
            <a:off x="888980" y="2133570"/>
            <a:ext cx="3810030" cy="782178"/>
          </a:xfrm>
          <a:prstGeom prst="roundRect">
            <a:avLst>
              <a:gd name="adj" fmla="val 14613"/>
            </a:avLst>
          </a:prstGeom>
          <a:solidFill>
            <a:srgbClr val="FFF7EC"/>
          </a:solidFill>
          <a:ln w="6350">
            <a:solidFill>
              <a:srgbClr val="24110C">
                <a:alpha val="13000"/>
              </a:srgbClr>
            </a:solidFill>
            <a:prstDash val="solid"/>
          </a:ln>
        </p:spPr>
      </p:sp>
      <p:sp>
        <p:nvSpPr>
          <p:cNvPr id="16" name="Shape 13"/>
          <p:cNvSpPr/>
          <p:nvPr/>
        </p:nvSpPr>
        <p:spPr>
          <a:xfrm>
            <a:off x="1022391" y="2241560"/>
            <a:ext cx="165141" cy="304770"/>
          </a:xfrm>
          <a:prstGeom prst="roundRect">
            <a:avLst>
              <a:gd name="adj" fmla="val 46124"/>
            </a:avLst>
          </a:prstGeom>
          <a:solidFill>
            <a:srgbClr val="E3EEFA"/>
          </a:solidFill>
          <a:ln/>
        </p:spPr>
      </p:sp>
      <p:pic>
        <p:nvPicPr>
          <p:cNvPr id="17" name="Image 1" descr="D:\Projects\20. fintechthon\deck\out\assets\s4_img021.png">    </p:cNvPr>
          <p:cNvPicPr>
            <a:picLocks noChangeAspect="1"/>
          </p:cNvPicPr>
          <p:nvPr/>
        </p:nvPicPr>
        <p:blipFill>
          <a:blip r:embed="rId2"/>
          <a:stretch>
            <a:fillRect/>
          </a:stretch>
        </p:blipFill>
        <p:spPr>
          <a:xfrm>
            <a:off x="1015990" y="2305020"/>
            <a:ext cx="177759" cy="177759"/>
          </a:xfrm>
          <a:prstGeom prst="rect">
            <a:avLst/>
          </a:prstGeom>
        </p:spPr>
      </p:pic>
      <p:sp>
        <p:nvSpPr>
          <p:cNvPr id="18" name="Text 14"/>
          <p:cNvSpPr txBox="1"/>
          <p:nvPr/>
        </p:nvSpPr>
        <p:spPr>
          <a:xfrm>
            <a:off x="1289030" y="2214860"/>
            <a:ext cx="621060"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1. Upload</a:t>
            </a:r>
            <a:endParaRPr lang="en-US" sz="1050" dirty="0"/>
          </a:p>
        </p:txBody>
      </p:sp>
      <p:sp>
        <p:nvSpPr>
          <p:cNvPr id="19" name="Text 15"/>
          <p:cNvSpPr txBox="1"/>
          <p:nvPr/>
        </p:nvSpPr>
        <p:spPr>
          <a:xfrm>
            <a:off x="1289030" y="2380000"/>
            <a:ext cx="3276570" cy="426750"/>
          </a:xfrm>
          <a:prstGeom prst="rect">
            <a:avLst/>
          </a:prstGeom>
          <a:noFill/>
          <a:ln/>
        </p:spPr>
        <p:txBody>
          <a:bodyPr wrap="square" lIns="0" tIns="0" rIns="0" bIns="0" rtlCol="0" anchor="t"/>
          <a:lstStyle/>
          <a:p>
            <a:pPr algn="l" indent="0" marL="0">
              <a:lnSpc>
                <a:spcPts val="1120"/>
              </a:lnSpc>
              <a:buNone/>
            </a:pPr>
            <a:r>
              <a:rPr lang="en-US" sz="800" dirty="0">
                <a:solidFill>
                  <a:srgbClr val="5B4339"/>
                </a:solidFill>
                <a:latin typeface="Inter" pitchFamily="34" charset="0"/>
                <a:ea typeface="Inter" pitchFamily="34" charset="-122"/>
                <a:cs typeface="Inter" pitchFamily="34" charset="-120"/>
              </a:rPr>
              <a:t>Drop in the accounting books, bank statement and GST portal downloads. LedgerLens reads them as they are, so nobody retypes a single entry.</a:t>
            </a:r>
            <a:endParaRPr lang="en-US" sz="800" dirty="0"/>
          </a:p>
        </p:txBody>
      </p:sp>
      <p:sp>
        <p:nvSpPr>
          <p:cNvPr id="20" name="Shape 16"/>
          <p:cNvSpPr/>
          <p:nvPr/>
        </p:nvSpPr>
        <p:spPr>
          <a:xfrm>
            <a:off x="888980" y="2991917"/>
            <a:ext cx="3810030" cy="782178"/>
          </a:xfrm>
          <a:prstGeom prst="roundRect">
            <a:avLst>
              <a:gd name="adj" fmla="val 14613"/>
            </a:avLst>
          </a:prstGeom>
          <a:solidFill>
            <a:srgbClr val="FFF7EC"/>
          </a:solidFill>
          <a:ln w="6350">
            <a:solidFill>
              <a:srgbClr val="24110C">
                <a:alpha val="13000"/>
              </a:srgbClr>
            </a:solidFill>
            <a:prstDash val="solid"/>
          </a:ln>
        </p:spPr>
      </p:sp>
      <p:sp>
        <p:nvSpPr>
          <p:cNvPr id="21" name="Shape 17"/>
          <p:cNvSpPr/>
          <p:nvPr/>
        </p:nvSpPr>
        <p:spPr>
          <a:xfrm>
            <a:off x="1022391" y="3099907"/>
            <a:ext cx="165141" cy="304770"/>
          </a:xfrm>
          <a:prstGeom prst="roundRect">
            <a:avLst>
              <a:gd name="adj" fmla="val 46124"/>
            </a:avLst>
          </a:prstGeom>
          <a:solidFill>
            <a:srgbClr val="DDF3E8"/>
          </a:solidFill>
          <a:ln/>
        </p:spPr>
      </p:sp>
      <p:pic>
        <p:nvPicPr>
          <p:cNvPr id="22" name="Image 2" descr="D:\Projects\20. fintechthon\deck\out\assets\s4_img022.png">    </p:cNvPr>
          <p:cNvPicPr>
            <a:picLocks noChangeAspect="1"/>
          </p:cNvPicPr>
          <p:nvPr/>
        </p:nvPicPr>
        <p:blipFill>
          <a:blip r:embed="rId3"/>
          <a:stretch>
            <a:fillRect/>
          </a:stretch>
        </p:blipFill>
        <p:spPr>
          <a:xfrm>
            <a:off x="1015990" y="3163367"/>
            <a:ext cx="177759" cy="177759"/>
          </a:xfrm>
          <a:prstGeom prst="rect">
            <a:avLst/>
          </a:prstGeom>
        </p:spPr>
      </p:pic>
      <p:sp>
        <p:nvSpPr>
          <p:cNvPr id="23" name="Text 18"/>
          <p:cNvSpPr txBox="1"/>
          <p:nvPr/>
        </p:nvSpPr>
        <p:spPr>
          <a:xfrm>
            <a:off x="1289030" y="3073207"/>
            <a:ext cx="588874"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2. Check</a:t>
            </a:r>
            <a:endParaRPr lang="en-US" sz="1050" dirty="0"/>
          </a:p>
        </p:txBody>
      </p:sp>
      <p:sp>
        <p:nvSpPr>
          <p:cNvPr id="24" name="Text 19"/>
          <p:cNvSpPr txBox="1"/>
          <p:nvPr/>
        </p:nvSpPr>
        <p:spPr>
          <a:xfrm>
            <a:off x="1289030" y="3238348"/>
            <a:ext cx="3276570" cy="426750"/>
          </a:xfrm>
          <a:prstGeom prst="rect">
            <a:avLst/>
          </a:prstGeom>
          <a:noFill/>
          <a:ln/>
        </p:spPr>
        <p:txBody>
          <a:bodyPr wrap="square" lIns="0" tIns="0" rIns="0" bIns="0" rtlCol="0" anchor="t"/>
          <a:lstStyle/>
          <a:p>
            <a:pPr algn="l" indent="0" marL="0">
              <a:lnSpc>
                <a:spcPts val="1120"/>
              </a:lnSpc>
              <a:buNone/>
            </a:pPr>
            <a:r>
              <a:rPr lang="en-US" sz="800" dirty="0">
                <a:solidFill>
                  <a:srgbClr val="5B4339"/>
                </a:solidFill>
                <a:latin typeface="Inter" pitchFamily="34" charset="0"/>
                <a:ea typeface="Inter" pitchFamily="34" charset="-122"/>
                <a:cs typeface="Inter" pitchFamily="34" charset="-120"/>
              </a:rPr>
              <a:t>Every bill is matched to its payment, its accounting entry and the supplier's GST filing, even when written differently. The tax rate on each bill is checked too.</a:t>
            </a:r>
            <a:endParaRPr lang="en-US" sz="800" dirty="0"/>
          </a:p>
        </p:txBody>
      </p:sp>
      <p:sp>
        <p:nvSpPr>
          <p:cNvPr id="25" name="Shape 20"/>
          <p:cNvSpPr/>
          <p:nvPr/>
        </p:nvSpPr>
        <p:spPr>
          <a:xfrm>
            <a:off x="888980" y="3850264"/>
            <a:ext cx="3810030" cy="782178"/>
          </a:xfrm>
          <a:prstGeom prst="roundRect">
            <a:avLst>
              <a:gd name="adj" fmla="val 14613"/>
            </a:avLst>
          </a:prstGeom>
          <a:solidFill>
            <a:srgbClr val="FFF7EC"/>
          </a:solidFill>
          <a:ln w="6350">
            <a:solidFill>
              <a:srgbClr val="24110C">
                <a:alpha val="13000"/>
              </a:srgbClr>
            </a:solidFill>
            <a:prstDash val="solid"/>
          </a:ln>
        </p:spPr>
      </p:sp>
      <p:sp>
        <p:nvSpPr>
          <p:cNvPr id="26" name="Shape 21"/>
          <p:cNvSpPr/>
          <p:nvPr/>
        </p:nvSpPr>
        <p:spPr>
          <a:xfrm>
            <a:off x="1022391" y="3958255"/>
            <a:ext cx="165141" cy="304770"/>
          </a:xfrm>
          <a:prstGeom prst="roundRect">
            <a:avLst>
              <a:gd name="adj" fmla="val 46124"/>
            </a:avLst>
          </a:prstGeom>
          <a:solidFill>
            <a:srgbClr val="FDDDBF"/>
          </a:solidFill>
          <a:ln/>
        </p:spPr>
      </p:sp>
      <p:pic>
        <p:nvPicPr>
          <p:cNvPr id="27" name="Image 3" descr="D:\Projects\20. fintechthon\deck\out\assets\s4_img023.png">    </p:cNvPr>
          <p:cNvPicPr>
            <a:picLocks noChangeAspect="1"/>
          </p:cNvPicPr>
          <p:nvPr/>
        </p:nvPicPr>
        <p:blipFill>
          <a:blip r:embed="rId4"/>
          <a:stretch>
            <a:fillRect/>
          </a:stretch>
        </p:blipFill>
        <p:spPr>
          <a:xfrm>
            <a:off x="1015990" y="4021714"/>
            <a:ext cx="177759" cy="177759"/>
          </a:xfrm>
          <a:prstGeom prst="rect">
            <a:avLst/>
          </a:prstGeom>
        </p:spPr>
      </p:pic>
      <p:sp>
        <p:nvSpPr>
          <p:cNvPr id="28" name="Text 22"/>
          <p:cNvSpPr txBox="1"/>
          <p:nvPr/>
        </p:nvSpPr>
        <p:spPr>
          <a:xfrm>
            <a:off x="1289030" y="3931554"/>
            <a:ext cx="679033"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3. Explain</a:t>
            </a:r>
            <a:endParaRPr lang="en-US" sz="1050" dirty="0"/>
          </a:p>
        </p:txBody>
      </p:sp>
      <p:sp>
        <p:nvSpPr>
          <p:cNvPr id="29" name="Text 23"/>
          <p:cNvSpPr txBox="1"/>
          <p:nvPr/>
        </p:nvSpPr>
        <p:spPr>
          <a:xfrm>
            <a:off x="1289030" y="4096695"/>
            <a:ext cx="3276570" cy="426750"/>
          </a:xfrm>
          <a:prstGeom prst="rect">
            <a:avLst/>
          </a:prstGeom>
          <a:noFill/>
          <a:ln/>
        </p:spPr>
        <p:txBody>
          <a:bodyPr wrap="square" lIns="0" tIns="0" rIns="0" bIns="0" rtlCol="0" anchor="t"/>
          <a:lstStyle/>
          <a:p>
            <a:pPr algn="l" indent="0" marL="0">
              <a:lnSpc>
                <a:spcPts val="1120"/>
              </a:lnSpc>
              <a:buNone/>
            </a:pPr>
            <a:r>
              <a:rPr lang="en-US" sz="800" dirty="0">
                <a:solidFill>
                  <a:srgbClr val="5B4339"/>
                </a:solidFill>
                <a:latin typeface="Inter" pitchFamily="34" charset="0"/>
                <a:ea typeface="Inter" pitchFamily="34" charset="-122"/>
                <a:cs typeface="Inter" pitchFamily="34" charset="-120"/>
              </a:rPr>
              <a:t>Each problem shows the money involved: credit at risk if left unfixed, or credit owed but never claimed. A plain note says why, with both records as proof.</a:t>
            </a:r>
            <a:endParaRPr lang="en-US" sz="800" dirty="0"/>
          </a:p>
        </p:txBody>
      </p:sp>
      <p:sp>
        <p:nvSpPr>
          <p:cNvPr id="30" name="Shape 24"/>
          <p:cNvSpPr/>
          <p:nvPr/>
        </p:nvSpPr>
        <p:spPr>
          <a:xfrm>
            <a:off x="888980" y="4708611"/>
            <a:ext cx="3810030" cy="782178"/>
          </a:xfrm>
          <a:prstGeom prst="roundRect">
            <a:avLst>
              <a:gd name="adj" fmla="val 14613"/>
            </a:avLst>
          </a:prstGeom>
          <a:solidFill>
            <a:srgbClr val="FFF7EC"/>
          </a:solidFill>
          <a:ln w="6350">
            <a:solidFill>
              <a:srgbClr val="24110C">
                <a:alpha val="13000"/>
              </a:srgbClr>
            </a:solidFill>
            <a:prstDash val="solid"/>
          </a:ln>
        </p:spPr>
      </p:sp>
      <p:sp>
        <p:nvSpPr>
          <p:cNvPr id="31" name="Shape 25"/>
          <p:cNvSpPr/>
          <p:nvPr/>
        </p:nvSpPr>
        <p:spPr>
          <a:xfrm>
            <a:off x="1022391" y="4816602"/>
            <a:ext cx="165141" cy="304770"/>
          </a:xfrm>
          <a:prstGeom prst="roundRect">
            <a:avLst>
              <a:gd name="adj" fmla="val 46124"/>
            </a:avLst>
          </a:prstGeom>
          <a:solidFill>
            <a:srgbClr val="E6E2FB"/>
          </a:solidFill>
          <a:ln/>
        </p:spPr>
      </p:sp>
      <p:pic>
        <p:nvPicPr>
          <p:cNvPr id="32" name="Image 4" descr="D:\Projects\20. fintechthon\deck\out\assets\s4_img024.png">    </p:cNvPr>
          <p:cNvPicPr>
            <a:picLocks noChangeAspect="1"/>
          </p:cNvPicPr>
          <p:nvPr/>
        </p:nvPicPr>
        <p:blipFill>
          <a:blip r:embed="rId5"/>
          <a:stretch>
            <a:fillRect/>
          </a:stretch>
        </p:blipFill>
        <p:spPr>
          <a:xfrm>
            <a:off x="1015990" y="4880061"/>
            <a:ext cx="177759" cy="177759"/>
          </a:xfrm>
          <a:prstGeom prst="rect">
            <a:avLst/>
          </a:prstGeom>
        </p:spPr>
      </p:pic>
      <p:sp>
        <p:nvSpPr>
          <p:cNvPr id="33" name="Text 26"/>
          <p:cNvSpPr txBox="1"/>
          <p:nvPr/>
        </p:nvSpPr>
        <p:spPr>
          <a:xfrm>
            <a:off x="1289030" y="4789902"/>
            <a:ext cx="380848"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4. Fix</a:t>
            </a:r>
            <a:endParaRPr lang="en-US" sz="1050" dirty="0"/>
          </a:p>
        </p:txBody>
      </p:sp>
      <p:sp>
        <p:nvSpPr>
          <p:cNvPr id="34" name="Text 27"/>
          <p:cNvSpPr txBox="1"/>
          <p:nvPr/>
        </p:nvSpPr>
        <p:spPr>
          <a:xfrm>
            <a:off x="1289030" y="4955042"/>
            <a:ext cx="3276570" cy="426750"/>
          </a:xfrm>
          <a:prstGeom prst="rect">
            <a:avLst/>
          </a:prstGeom>
          <a:noFill/>
          <a:ln/>
        </p:spPr>
        <p:txBody>
          <a:bodyPr wrap="square" lIns="0" tIns="0" rIns="0" bIns="0" rtlCol="0" anchor="t"/>
          <a:lstStyle/>
          <a:p>
            <a:pPr algn="l" indent="0" marL="0">
              <a:lnSpc>
                <a:spcPts val="1120"/>
              </a:lnSpc>
              <a:buNone/>
            </a:pPr>
            <a:r>
              <a:rPr lang="en-US" sz="800" dirty="0">
                <a:solidFill>
                  <a:srgbClr val="5B4339"/>
                </a:solidFill>
                <a:latin typeface="Inter" pitchFamily="34" charset="0"/>
                <a:ea typeface="Inter" pitchFamily="34" charset="-122"/>
                <a:cs typeface="Inter" pitchFamily="34" charset="-120"/>
              </a:rPr>
              <a:t>It drafts the next step, like an email asking the supplier to correct their filing, or the entry that fixes the books. You review and approve in one click.</a:t>
            </a:r>
            <a:endParaRPr lang="en-US" sz="800" dirty="0"/>
          </a:p>
        </p:txBody>
      </p:sp>
      <p:sp>
        <p:nvSpPr>
          <p:cNvPr id="35" name="Shape 28"/>
          <p:cNvSpPr/>
          <p:nvPr/>
        </p:nvSpPr>
        <p:spPr>
          <a:xfrm>
            <a:off x="9353580" y="1943100"/>
            <a:ext cx="711312" cy="165141"/>
          </a:xfrm>
          <a:prstGeom prst="roundRect">
            <a:avLst>
              <a:gd name="adj" fmla="val 50000"/>
            </a:avLst>
          </a:prstGeom>
          <a:solidFill>
            <a:srgbClr val="D2601A"/>
          </a:solidFill>
          <a:ln/>
        </p:spPr>
      </p:sp>
      <p:sp>
        <p:nvSpPr>
          <p:cNvPr id="36" name="Text 29"/>
          <p:cNvSpPr txBox="1"/>
          <p:nvPr/>
        </p:nvSpPr>
        <p:spPr>
          <a:xfrm>
            <a:off x="9429750" y="1974830"/>
            <a:ext cx="651327" cy="101590"/>
          </a:xfrm>
          <a:prstGeom prst="rect">
            <a:avLst/>
          </a:prstGeom>
          <a:noFill/>
          <a:ln/>
        </p:spPr>
        <p:txBody>
          <a:bodyPr wrap="none" lIns="0" tIns="0" rIns="0" bIns="0" rtlCol="0" anchor="t"/>
          <a:lstStyle/>
          <a:p>
            <a:pPr algn="l" indent="0" marL="0">
              <a:buNone/>
            </a:pPr>
            <a:r>
              <a:rPr lang="en-US" sz="675" dirty="0">
                <a:solidFill>
                  <a:srgbClr val="FFFFFF"/>
                </a:solidFill>
                <a:latin typeface="Inter SemiBold" pitchFamily="34" charset="0"/>
                <a:ea typeface="Inter SemiBold" pitchFamily="34" charset="-122"/>
                <a:cs typeface="Inter SemiBold" pitchFamily="34" charset="-120"/>
              </a:rPr>
              <a:t>Money at risk</a:t>
            </a:r>
            <a:endParaRPr lang="en-US" sz="675" dirty="0"/>
          </a:p>
        </p:txBody>
      </p:sp>
      <p:sp>
        <p:nvSpPr>
          <p:cNvPr id="37" name="Shape 30"/>
          <p:cNvSpPr/>
          <p:nvPr/>
        </p:nvSpPr>
        <p:spPr>
          <a:xfrm>
            <a:off x="10318730" y="1943100"/>
            <a:ext cx="781721" cy="165141"/>
          </a:xfrm>
          <a:prstGeom prst="roundRect">
            <a:avLst>
              <a:gd name="adj" fmla="val 50000"/>
            </a:avLst>
          </a:prstGeom>
          <a:solidFill>
            <a:srgbClr val="2E9D6A"/>
          </a:solidFill>
          <a:ln/>
        </p:spPr>
      </p:sp>
      <p:sp>
        <p:nvSpPr>
          <p:cNvPr id="38" name="Text 31"/>
          <p:cNvSpPr txBox="1"/>
          <p:nvPr/>
        </p:nvSpPr>
        <p:spPr>
          <a:xfrm>
            <a:off x="10394991" y="1974830"/>
            <a:ext cx="730240" cy="101590"/>
          </a:xfrm>
          <a:prstGeom prst="rect">
            <a:avLst/>
          </a:prstGeom>
          <a:noFill/>
          <a:ln/>
        </p:spPr>
        <p:txBody>
          <a:bodyPr wrap="none" lIns="0" tIns="0" rIns="0" bIns="0" rtlCol="0" anchor="t"/>
          <a:lstStyle/>
          <a:p>
            <a:pPr algn="l" indent="0" marL="0">
              <a:buNone/>
            </a:pPr>
            <a:r>
              <a:rPr lang="en-US" sz="675" dirty="0">
                <a:solidFill>
                  <a:srgbClr val="FFFFFF"/>
                </a:solidFill>
                <a:latin typeface="Inter SemiBold" pitchFamily="34" charset="0"/>
                <a:ea typeface="Inter SemiBold" pitchFamily="34" charset="-122"/>
                <a:cs typeface="Inter SemiBold" pitchFamily="34" charset="-120"/>
              </a:rPr>
              <a:t>Money to claim</a:t>
            </a:r>
            <a:endParaRPr lang="en-US" sz="675" dirty="0"/>
          </a:p>
        </p:txBody>
      </p:sp>
      <p:sp>
        <p:nvSpPr>
          <p:cNvPr id="39" name="Shape 32"/>
          <p:cNvSpPr/>
          <p:nvPr/>
        </p:nvSpPr>
        <p:spPr>
          <a:xfrm>
            <a:off x="4889480" y="2158990"/>
            <a:ext cx="6413510" cy="3657600"/>
          </a:xfrm>
          <a:prstGeom prst="roundRect">
            <a:avLst>
              <a:gd name="adj" fmla="val 2778"/>
            </a:avLst>
          </a:prstGeom>
          <a:solidFill>
            <a:srgbClr val="FFFFFF"/>
          </a:solidFill>
          <a:ln w="6350">
            <a:solidFill>
              <a:srgbClr val="24110C">
                <a:alpha val="18000"/>
              </a:srgbClr>
            </a:solidFill>
            <a:prstDash val="solid"/>
          </a:ln>
          <a:effectLst>
            <a:outerShdw sx="100000" sy="100000" kx="0" ky="0" algn="bl" rotWithShape="0" blurRad="177800" dist="76200" dir="5400000">
              <a:srgbClr val="50200A">
                <a:alpha val="22000"/>
              </a:srgbClr>
            </a:outerShdw>
          </a:effectLst>
        </p:spPr>
      </p:sp>
      <p:sp>
        <p:nvSpPr>
          <p:cNvPr id="40" name="Shape 33"/>
          <p:cNvSpPr/>
          <p:nvPr/>
        </p:nvSpPr>
        <p:spPr>
          <a:xfrm>
            <a:off x="4895880" y="2165391"/>
            <a:ext cx="6400800" cy="241310"/>
          </a:xfrm>
          <a:prstGeom prst="roundRect">
            <a:avLst>
              <a:gd name="adj" fmla="val 42099"/>
            </a:avLst>
          </a:prstGeom>
          <a:solidFill>
            <a:srgbClr val="F4ECE4"/>
          </a:solidFill>
          <a:ln/>
        </p:spPr>
      </p:sp>
      <p:sp>
        <p:nvSpPr>
          <p:cNvPr id="41" name="Shape 34"/>
          <p:cNvSpPr/>
          <p:nvPr/>
        </p:nvSpPr>
        <p:spPr>
          <a:xfrm>
            <a:off x="4895880" y="2305111"/>
            <a:ext cx="101590" cy="101590"/>
          </a:xfrm>
          <a:prstGeom prst="rect">
            <a:avLst/>
          </a:prstGeom>
          <a:solidFill>
            <a:srgbClr val="F4ECE4"/>
          </a:solidFill>
          <a:ln/>
        </p:spPr>
      </p:sp>
      <p:sp>
        <p:nvSpPr>
          <p:cNvPr id="42" name="Shape 35"/>
          <p:cNvSpPr/>
          <p:nvPr/>
        </p:nvSpPr>
        <p:spPr>
          <a:xfrm>
            <a:off x="11195091" y="2305111"/>
            <a:ext cx="101590" cy="101590"/>
          </a:xfrm>
          <a:prstGeom prst="rect">
            <a:avLst/>
          </a:prstGeom>
          <a:solidFill>
            <a:srgbClr val="F4ECE4"/>
          </a:solidFill>
          <a:ln/>
        </p:spPr>
      </p:sp>
      <p:sp>
        <p:nvSpPr>
          <p:cNvPr id="43" name="Shape 36"/>
          <p:cNvSpPr/>
          <p:nvPr/>
        </p:nvSpPr>
        <p:spPr>
          <a:xfrm>
            <a:off x="4895880" y="2403500"/>
            <a:ext cx="6400800" cy="0"/>
          </a:xfrm>
          <a:prstGeom prst="line">
            <a:avLst/>
          </a:prstGeom>
          <a:noFill/>
          <a:ln w="6350">
            <a:solidFill>
              <a:srgbClr val="24110C">
                <a:alpha val="13000"/>
              </a:srgbClr>
            </a:solidFill>
            <a:prstDash val="solid"/>
          </a:ln>
        </p:spPr>
      </p:sp>
      <p:sp>
        <p:nvSpPr>
          <p:cNvPr id="44" name="Shape 37"/>
          <p:cNvSpPr/>
          <p:nvPr/>
        </p:nvSpPr>
        <p:spPr>
          <a:xfrm>
            <a:off x="4984760" y="2247870"/>
            <a:ext cx="69860" cy="69860"/>
          </a:xfrm>
          <a:prstGeom prst="ellipse">
            <a:avLst/>
          </a:prstGeom>
          <a:solidFill>
            <a:srgbClr val="F26B5B"/>
          </a:solidFill>
          <a:ln/>
        </p:spPr>
      </p:sp>
      <p:sp>
        <p:nvSpPr>
          <p:cNvPr id="45" name="Shape 38"/>
          <p:cNvSpPr/>
          <p:nvPr/>
        </p:nvSpPr>
        <p:spPr>
          <a:xfrm>
            <a:off x="5105370" y="2247870"/>
            <a:ext cx="69860" cy="69860"/>
          </a:xfrm>
          <a:prstGeom prst="ellipse">
            <a:avLst/>
          </a:prstGeom>
          <a:solidFill>
            <a:srgbClr val="F5BE4F"/>
          </a:solidFill>
          <a:ln/>
        </p:spPr>
      </p:sp>
      <p:sp>
        <p:nvSpPr>
          <p:cNvPr id="46" name="Shape 39"/>
          <p:cNvSpPr/>
          <p:nvPr/>
        </p:nvSpPr>
        <p:spPr>
          <a:xfrm>
            <a:off x="5226070" y="2247870"/>
            <a:ext cx="69860" cy="69860"/>
          </a:xfrm>
          <a:prstGeom prst="ellipse">
            <a:avLst/>
          </a:prstGeom>
          <a:solidFill>
            <a:srgbClr val="5BC46A"/>
          </a:solidFill>
          <a:ln/>
        </p:spPr>
      </p:sp>
      <p:sp>
        <p:nvSpPr>
          <p:cNvPr id="47" name="Shape 40"/>
          <p:cNvSpPr/>
          <p:nvPr/>
        </p:nvSpPr>
        <p:spPr>
          <a:xfrm>
            <a:off x="5435559" y="2206630"/>
            <a:ext cx="2667030" cy="152430"/>
          </a:xfrm>
          <a:prstGeom prst="roundRect">
            <a:avLst>
              <a:gd name="adj" fmla="val 29154"/>
            </a:avLst>
          </a:prstGeom>
          <a:solidFill>
            <a:srgbClr val="FFFFFF"/>
          </a:solidFill>
          <a:ln w="6350">
            <a:solidFill>
              <a:srgbClr val="24110C">
                <a:alpha val="13000"/>
              </a:srgbClr>
            </a:solidFill>
            <a:prstDash val="solid"/>
          </a:ln>
        </p:spPr>
      </p:sp>
      <p:sp>
        <p:nvSpPr>
          <p:cNvPr id="48" name="Text 41"/>
          <p:cNvSpPr txBox="1"/>
          <p:nvPr/>
        </p:nvSpPr>
        <p:spPr>
          <a:xfrm>
            <a:off x="5505420" y="2228850"/>
            <a:ext cx="1678930" cy="107991"/>
          </a:xfrm>
          <a:prstGeom prst="rect">
            <a:avLst/>
          </a:prstGeom>
          <a:noFill/>
          <a:ln/>
        </p:spPr>
        <p:txBody>
          <a:bodyPr wrap="none" lIns="0" tIns="0" rIns="0" bIns="0" rtlCol="0" anchor="t"/>
          <a:lstStyle/>
          <a:p>
            <a:pPr algn="l" indent="0" marL="0">
              <a:buNone/>
            </a:pPr>
            <a:r>
              <a:rPr lang="en-US" sz="625" dirty="0">
                <a:solidFill>
                  <a:srgbClr val="8C7368"/>
                </a:solidFill>
                <a:latin typeface="JetBrains Mono Medium" pitchFamily="34" charset="0"/>
                <a:ea typeface="JetBrains Mono Medium" pitchFamily="34" charset="-122"/>
                <a:cs typeface="JetBrains Mono Medium" pitchFamily="34" charset="-120"/>
              </a:rPr>
              <a:t>app.ledgerlens.in/recon/2025-09</a:t>
            </a:r>
            <a:endParaRPr lang="en-US" sz="625" dirty="0"/>
          </a:p>
        </p:txBody>
      </p:sp>
      <p:sp>
        <p:nvSpPr>
          <p:cNvPr id="49" name="Shape 42"/>
          <p:cNvSpPr/>
          <p:nvPr/>
        </p:nvSpPr>
        <p:spPr>
          <a:xfrm>
            <a:off x="4895880" y="2406609"/>
            <a:ext cx="406359" cy="3403580"/>
          </a:xfrm>
          <a:prstGeom prst="roundRect">
            <a:avLst>
              <a:gd name="adj" fmla="val 25000"/>
            </a:avLst>
          </a:prstGeom>
          <a:solidFill>
            <a:srgbClr val="1F1714"/>
          </a:solidFill>
          <a:ln/>
        </p:spPr>
      </p:sp>
      <p:sp>
        <p:nvSpPr>
          <p:cNvPr id="50" name="Shape 43"/>
          <p:cNvSpPr/>
          <p:nvPr/>
        </p:nvSpPr>
        <p:spPr>
          <a:xfrm>
            <a:off x="4895880" y="2406609"/>
            <a:ext cx="101590" cy="101590"/>
          </a:xfrm>
          <a:prstGeom prst="rect">
            <a:avLst/>
          </a:prstGeom>
          <a:solidFill>
            <a:srgbClr val="1F1714"/>
          </a:solidFill>
          <a:ln/>
        </p:spPr>
      </p:sp>
      <p:sp>
        <p:nvSpPr>
          <p:cNvPr id="51" name="Shape 44"/>
          <p:cNvSpPr/>
          <p:nvPr/>
        </p:nvSpPr>
        <p:spPr>
          <a:xfrm>
            <a:off x="5200650" y="2406609"/>
            <a:ext cx="101590" cy="101590"/>
          </a:xfrm>
          <a:prstGeom prst="rect">
            <a:avLst/>
          </a:prstGeom>
          <a:solidFill>
            <a:srgbClr val="1F1714"/>
          </a:solidFill>
          <a:ln/>
        </p:spPr>
      </p:sp>
      <p:sp>
        <p:nvSpPr>
          <p:cNvPr id="52" name="Shape 45"/>
          <p:cNvSpPr/>
          <p:nvPr/>
        </p:nvSpPr>
        <p:spPr>
          <a:xfrm>
            <a:off x="5200650" y="5708599"/>
            <a:ext cx="101590" cy="101590"/>
          </a:xfrm>
          <a:prstGeom prst="rect">
            <a:avLst/>
          </a:prstGeom>
          <a:solidFill>
            <a:srgbClr val="1F1714"/>
          </a:solidFill>
          <a:ln/>
        </p:spPr>
      </p:sp>
      <p:pic>
        <p:nvPicPr>
          <p:cNvPr id="53" name="Image 5" descr="D:\Projects\20. fintechthon\deck\out\assets\s4_img025.png">    </p:cNvPr>
          <p:cNvPicPr>
            <a:picLocks noChangeAspect="1"/>
          </p:cNvPicPr>
          <p:nvPr/>
        </p:nvPicPr>
        <p:blipFill>
          <a:blip r:embed="rId6"/>
          <a:stretch>
            <a:fillRect/>
          </a:stretch>
        </p:blipFill>
        <p:spPr>
          <a:xfrm>
            <a:off x="4997470" y="2489180"/>
            <a:ext cx="203180" cy="203180"/>
          </a:xfrm>
          <a:prstGeom prst="rect">
            <a:avLst/>
          </a:prstGeom>
        </p:spPr>
      </p:pic>
      <p:sp>
        <p:nvSpPr>
          <p:cNvPr id="54" name="Shape 46"/>
          <p:cNvSpPr/>
          <p:nvPr/>
        </p:nvSpPr>
        <p:spPr>
          <a:xfrm>
            <a:off x="4972050" y="2851191"/>
            <a:ext cx="254020" cy="254020"/>
          </a:xfrm>
          <a:prstGeom prst="roundRect">
            <a:avLst>
              <a:gd name="adj" fmla="val 27502"/>
            </a:avLst>
          </a:prstGeom>
          <a:solidFill>
            <a:srgbClr val="F28C3A">
              <a:alpha val="22000"/>
            </a:srgbClr>
          </a:solidFill>
          <a:ln/>
        </p:spPr>
      </p:sp>
      <p:pic>
        <p:nvPicPr>
          <p:cNvPr id="55" name="Image 6" descr="D:\Projects\20. fintechthon\deck\out\assets\s4_img026.png">    </p:cNvPr>
          <p:cNvPicPr>
            <a:picLocks noChangeAspect="1"/>
          </p:cNvPicPr>
          <p:nvPr/>
        </p:nvPicPr>
        <p:blipFill>
          <a:blip r:embed="rId7"/>
          <a:stretch>
            <a:fillRect/>
          </a:stretch>
        </p:blipFill>
        <p:spPr>
          <a:xfrm>
            <a:off x="5029200" y="2908341"/>
            <a:ext cx="139720" cy="139720"/>
          </a:xfrm>
          <a:prstGeom prst="rect">
            <a:avLst/>
          </a:prstGeom>
        </p:spPr>
      </p:pic>
      <p:pic>
        <p:nvPicPr>
          <p:cNvPr id="56" name="Image 7" descr="D:\Projects\20. fintechthon\deck\out\assets\s4_img027.png">    </p:cNvPr>
          <p:cNvPicPr>
            <a:picLocks noChangeAspect="1"/>
          </p:cNvPicPr>
          <p:nvPr/>
        </p:nvPicPr>
        <p:blipFill>
          <a:blip r:embed="rId8"/>
          <a:stretch>
            <a:fillRect/>
          </a:stretch>
        </p:blipFill>
        <p:spPr>
          <a:xfrm>
            <a:off x="5029200" y="3225820"/>
            <a:ext cx="139720" cy="139720"/>
          </a:xfrm>
          <a:prstGeom prst="rect">
            <a:avLst/>
          </a:prstGeom>
        </p:spPr>
      </p:pic>
      <p:pic>
        <p:nvPicPr>
          <p:cNvPr id="57" name="Image 8" descr="D:\Projects\20. fintechthon\deck\out\assets\s4_img028.png">    </p:cNvPr>
          <p:cNvPicPr>
            <a:picLocks noChangeAspect="1"/>
          </p:cNvPicPr>
          <p:nvPr/>
        </p:nvPicPr>
        <p:blipFill>
          <a:blip r:embed="rId9"/>
          <a:stretch>
            <a:fillRect/>
          </a:stretch>
        </p:blipFill>
        <p:spPr>
          <a:xfrm>
            <a:off x="5029200" y="3543300"/>
            <a:ext cx="139720" cy="139720"/>
          </a:xfrm>
          <a:prstGeom prst="rect">
            <a:avLst/>
          </a:prstGeom>
        </p:spPr>
      </p:pic>
      <p:pic>
        <p:nvPicPr>
          <p:cNvPr id="58" name="Image 9" descr="D:\Projects\20. fintechthon\deck\out\assets\s4_img029.png">    </p:cNvPr>
          <p:cNvPicPr>
            <a:picLocks noChangeAspect="1"/>
          </p:cNvPicPr>
          <p:nvPr/>
        </p:nvPicPr>
        <p:blipFill>
          <a:blip r:embed="rId10"/>
          <a:stretch>
            <a:fillRect/>
          </a:stretch>
        </p:blipFill>
        <p:spPr>
          <a:xfrm>
            <a:off x="5029200" y="3860780"/>
            <a:ext cx="139720" cy="139720"/>
          </a:xfrm>
          <a:prstGeom prst="rect">
            <a:avLst/>
          </a:prstGeom>
        </p:spPr>
      </p:pic>
      <p:pic>
        <p:nvPicPr>
          <p:cNvPr id="59" name="Image 10" descr="D:\Projects\20. fintechthon\deck\out\assets\s4_img030.png">    </p:cNvPr>
          <p:cNvPicPr>
            <a:picLocks noChangeAspect="1"/>
          </p:cNvPicPr>
          <p:nvPr/>
        </p:nvPicPr>
        <p:blipFill>
          <a:blip r:embed="rId11"/>
          <a:stretch>
            <a:fillRect/>
          </a:stretch>
        </p:blipFill>
        <p:spPr>
          <a:xfrm>
            <a:off x="5029200" y="4178259"/>
            <a:ext cx="139720" cy="139720"/>
          </a:xfrm>
          <a:prstGeom prst="rect">
            <a:avLst/>
          </a:prstGeom>
        </p:spPr>
      </p:pic>
      <p:sp>
        <p:nvSpPr>
          <p:cNvPr id="60" name="Shape 47"/>
          <p:cNvSpPr/>
          <p:nvPr/>
        </p:nvSpPr>
        <p:spPr>
          <a:xfrm>
            <a:off x="5302240" y="2406609"/>
            <a:ext cx="5994441" cy="3403580"/>
          </a:xfrm>
          <a:prstGeom prst="roundRect">
            <a:avLst>
              <a:gd name="adj" fmla="val 2985"/>
            </a:avLst>
          </a:prstGeom>
          <a:solidFill>
            <a:srgbClr val="FBF8F5"/>
          </a:solidFill>
          <a:ln/>
        </p:spPr>
      </p:sp>
      <p:sp>
        <p:nvSpPr>
          <p:cNvPr id="61" name="Shape 48"/>
          <p:cNvSpPr/>
          <p:nvPr/>
        </p:nvSpPr>
        <p:spPr>
          <a:xfrm>
            <a:off x="5302240" y="2406609"/>
            <a:ext cx="101590" cy="101590"/>
          </a:xfrm>
          <a:prstGeom prst="rect">
            <a:avLst/>
          </a:prstGeom>
          <a:solidFill>
            <a:srgbClr val="FBF8F5"/>
          </a:solidFill>
          <a:ln/>
        </p:spPr>
      </p:sp>
      <p:sp>
        <p:nvSpPr>
          <p:cNvPr id="62" name="Shape 49"/>
          <p:cNvSpPr/>
          <p:nvPr/>
        </p:nvSpPr>
        <p:spPr>
          <a:xfrm>
            <a:off x="11195091" y="2406609"/>
            <a:ext cx="101590" cy="101590"/>
          </a:xfrm>
          <a:prstGeom prst="rect">
            <a:avLst/>
          </a:prstGeom>
          <a:solidFill>
            <a:srgbClr val="FBF8F5"/>
          </a:solidFill>
          <a:ln/>
        </p:spPr>
      </p:sp>
      <p:sp>
        <p:nvSpPr>
          <p:cNvPr id="63" name="Shape 50"/>
          <p:cNvSpPr/>
          <p:nvPr/>
        </p:nvSpPr>
        <p:spPr>
          <a:xfrm>
            <a:off x="5302240" y="5708599"/>
            <a:ext cx="101590" cy="101590"/>
          </a:xfrm>
          <a:prstGeom prst="rect">
            <a:avLst/>
          </a:prstGeom>
          <a:solidFill>
            <a:srgbClr val="FBF8F5"/>
          </a:solidFill>
          <a:ln/>
        </p:spPr>
      </p:sp>
      <p:sp>
        <p:nvSpPr>
          <p:cNvPr id="64" name="Text 51"/>
          <p:cNvSpPr txBox="1"/>
          <p:nvPr/>
        </p:nvSpPr>
        <p:spPr>
          <a:xfrm>
            <a:off x="5416540" y="2508291"/>
            <a:ext cx="1405616" cy="127010"/>
          </a:xfrm>
          <a:prstGeom prst="rect">
            <a:avLst/>
          </a:prstGeom>
          <a:noFill/>
          <a:ln/>
        </p:spPr>
        <p:txBody>
          <a:bodyPr wrap="none" lIns="0" tIns="0" rIns="0" bIns="0" rtlCol="0" anchor="t"/>
          <a:lstStyle/>
          <a:p>
            <a:pPr algn="l" indent="0" marL="0">
              <a:buNone/>
            </a:pPr>
            <a:r>
              <a:rPr lang="en-US" sz="850" b="1" dirty="0">
                <a:solidFill>
                  <a:srgbClr val="24110C"/>
                </a:solidFill>
                <a:latin typeface="Inter" pitchFamily="34" charset="0"/>
                <a:ea typeface="Inter" pitchFamily="34" charset="-122"/>
                <a:cs typeface="Inter" pitchFamily="34" charset="-120"/>
              </a:rPr>
              <a:t>Sharma Traders Pvt Ltd</a:t>
            </a:r>
            <a:endParaRPr lang="en-US" sz="850" dirty="0"/>
          </a:p>
        </p:txBody>
      </p:sp>
      <p:sp>
        <p:nvSpPr>
          <p:cNvPr id="65" name="Text 52"/>
          <p:cNvSpPr txBox="1"/>
          <p:nvPr/>
        </p:nvSpPr>
        <p:spPr>
          <a:xfrm>
            <a:off x="5416540" y="2647920"/>
            <a:ext cx="2585740" cy="107991"/>
          </a:xfrm>
          <a:prstGeom prst="rect">
            <a:avLst/>
          </a:prstGeom>
          <a:noFill/>
          <a:ln/>
        </p:spPr>
        <p:txBody>
          <a:bodyPr wrap="none" lIns="0" tIns="0" rIns="0" bIns="0" rtlCol="0" anchor="t"/>
          <a:lstStyle/>
          <a:p>
            <a:pPr algn="l" indent="0" marL="0">
              <a:buNone/>
            </a:pPr>
            <a:r>
              <a:rPr lang="en-US" sz="625" dirty="0">
                <a:solidFill>
                  <a:srgbClr val="8C7368"/>
                </a:solidFill>
                <a:latin typeface="JetBrains Mono Medium" pitchFamily="34" charset="0"/>
                <a:ea typeface="JetBrains Mono Medium" pitchFamily="34" charset="-122"/>
                <a:cs typeface="JetBrains Mono Medium" pitchFamily="34" charset="-120"/>
              </a:rPr>
              <a:t>07AAACS1234F1Z5 · September 2025 · 2,002 records</a:t>
            </a:r>
            <a:endParaRPr lang="en-US" sz="625" dirty="0"/>
          </a:p>
        </p:txBody>
      </p:sp>
      <p:sp>
        <p:nvSpPr>
          <p:cNvPr id="66" name="Shape 53"/>
          <p:cNvSpPr/>
          <p:nvPr/>
        </p:nvSpPr>
        <p:spPr>
          <a:xfrm>
            <a:off x="9493209" y="2524110"/>
            <a:ext cx="589788" cy="215890"/>
          </a:xfrm>
          <a:prstGeom prst="roundRect">
            <a:avLst>
              <a:gd name="adj" fmla="val 26472"/>
            </a:avLst>
          </a:prstGeom>
          <a:solidFill>
            <a:srgbClr val="FFFFFF"/>
          </a:solidFill>
          <a:ln w="6350">
            <a:solidFill>
              <a:srgbClr val="24110C">
                <a:alpha val="13000"/>
              </a:srgbClr>
            </a:solidFill>
            <a:prstDash val="solid"/>
          </a:ln>
        </p:spPr>
      </p:sp>
      <p:sp>
        <p:nvSpPr>
          <p:cNvPr id="67" name="Text 54"/>
          <p:cNvSpPr txBox="1"/>
          <p:nvPr/>
        </p:nvSpPr>
        <p:spPr>
          <a:xfrm>
            <a:off x="9721809" y="2581260"/>
            <a:ext cx="330373" cy="101590"/>
          </a:xfrm>
          <a:prstGeom prst="rect">
            <a:avLst/>
          </a:prstGeom>
          <a:noFill/>
          <a:ln/>
        </p:spPr>
        <p:txBody>
          <a:bodyPr wrap="none" lIns="0" tIns="0" rIns="0" bIns="0" rtlCol="0" anchor="t"/>
          <a:lstStyle/>
          <a:p>
            <a:pPr algn="l" indent="0" marL="0">
              <a:buNone/>
            </a:pPr>
            <a:r>
              <a:rPr lang="en-US" sz="675" dirty="0">
                <a:solidFill>
                  <a:srgbClr val="24110C"/>
                </a:solidFill>
                <a:latin typeface="Inter SemiBold" pitchFamily="34" charset="0"/>
                <a:ea typeface="Inter SemiBold" pitchFamily="34" charset="-122"/>
                <a:cs typeface="Inter SemiBold" pitchFamily="34" charset="-120"/>
              </a:rPr>
              <a:t>Export</a:t>
            </a:r>
            <a:endParaRPr lang="en-US" sz="675" dirty="0"/>
          </a:p>
        </p:txBody>
      </p:sp>
      <p:pic>
        <p:nvPicPr>
          <p:cNvPr id="68" name="Image 11" descr="D:\Projects\20. fintechthon\deck\out\assets\s4_img031.png">    </p:cNvPr>
          <p:cNvPicPr>
            <a:picLocks noChangeAspect="1"/>
          </p:cNvPicPr>
          <p:nvPr/>
        </p:nvPicPr>
        <p:blipFill>
          <a:blip r:embed="rId12"/>
          <a:stretch>
            <a:fillRect/>
          </a:stretch>
        </p:blipFill>
        <p:spPr>
          <a:xfrm>
            <a:off x="9575780" y="2578059"/>
            <a:ext cx="107991" cy="107991"/>
          </a:xfrm>
          <a:prstGeom prst="rect">
            <a:avLst/>
          </a:prstGeom>
        </p:spPr>
      </p:pic>
      <p:sp>
        <p:nvSpPr>
          <p:cNvPr id="69" name="Shape 55"/>
          <p:cNvSpPr/>
          <p:nvPr/>
        </p:nvSpPr>
        <p:spPr>
          <a:xfrm>
            <a:off x="10133838" y="2524110"/>
            <a:ext cx="1048542" cy="215890"/>
          </a:xfrm>
          <a:prstGeom prst="roundRect">
            <a:avLst>
              <a:gd name="adj" fmla="val 26472"/>
            </a:avLst>
          </a:prstGeom>
          <a:solidFill>
            <a:srgbClr val="D2601A"/>
          </a:solidFill>
          <a:ln/>
        </p:spPr>
      </p:sp>
      <p:sp>
        <p:nvSpPr>
          <p:cNvPr id="70" name="Text 56"/>
          <p:cNvSpPr txBox="1"/>
          <p:nvPr/>
        </p:nvSpPr>
        <p:spPr>
          <a:xfrm>
            <a:off x="10356037" y="2581260"/>
            <a:ext cx="858347" cy="101590"/>
          </a:xfrm>
          <a:prstGeom prst="rect">
            <a:avLst/>
          </a:prstGeom>
          <a:noFill/>
          <a:ln/>
        </p:spPr>
        <p:txBody>
          <a:bodyPr wrap="none" lIns="0" tIns="0" rIns="0" bIns="0" rtlCol="0" anchor="t"/>
          <a:lstStyle/>
          <a:p>
            <a:pPr algn="l" indent="0" marL="0">
              <a:buNone/>
            </a:pPr>
            <a:r>
              <a:rPr lang="en-US" sz="675" dirty="0">
                <a:solidFill>
                  <a:srgbClr val="FFFFFF"/>
                </a:solidFill>
                <a:latin typeface="Inter SemiBold" pitchFamily="34" charset="0"/>
                <a:ea typeface="Inter SemiBold" pitchFamily="34" charset="-122"/>
                <a:cs typeface="Inter SemiBold" pitchFamily="34" charset="-120"/>
              </a:rPr>
              <a:t>Run reconciliation</a:t>
            </a:r>
            <a:endParaRPr lang="en-US" sz="675" dirty="0"/>
          </a:p>
        </p:txBody>
      </p:sp>
      <p:pic>
        <p:nvPicPr>
          <p:cNvPr id="71" name="Image 12" descr="D:\Projects\20. fintechthon\deck\out\assets\s4_img032.png">    </p:cNvPr>
          <p:cNvPicPr>
            <a:picLocks noChangeAspect="1"/>
          </p:cNvPicPr>
          <p:nvPr/>
        </p:nvPicPr>
        <p:blipFill>
          <a:blip r:embed="rId13"/>
          <a:stretch>
            <a:fillRect/>
          </a:stretch>
        </p:blipFill>
        <p:spPr>
          <a:xfrm>
            <a:off x="10210008" y="2578059"/>
            <a:ext cx="107991" cy="107991"/>
          </a:xfrm>
          <a:prstGeom prst="rect">
            <a:avLst/>
          </a:prstGeom>
        </p:spPr>
      </p:pic>
      <p:sp>
        <p:nvSpPr>
          <p:cNvPr id="72" name="Shape 57"/>
          <p:cNvSpPr/>
          <p:nvPr/>
        </p:nvSpPr>
        <p:spPr>
          <a:xfrm>
            <a:off x="5416540" y="2832080"/>
            <a:ext cx="908091" cy="482620"/>
          </a:xfrm>
          <a:prstGeom prst="roundRect">
            <a:avLst>
              <a:gd name="adj" fmla="val 15783"/>
            </a:avLst>
          </a:prstGeom>
          <a:solidFill>
            <a:srgbClr val="FFFFFF"/>
          </a:solidFill>
          <a:ln w="6350">
            <a:solidFill>
              <a:srgbClr val="24110C">
                <a:alpha val="13000"/>
              </a:srgbClr>
            </a:solidFill>
            <a:prstDash val="solid"/>
          </a:ln>
        </p:spPr>
      </p:sp>
      <p:sp>
        <p:nvSpPr>
          <p:cNvPr id="73" name="Text 58"/>
          <p:cNvSpPr txBox="1"/>
          <p:nvPr/>
        </p:nvSpPr>
        <p:spPr>
          <a:xfrm>
            <a:off x="5587990" y="2901940"/>
            <a:ext cx="403250" cy="95280"/>
          </a:xfrm>
          <a:prstGeom prst="rect">
            <a:avLst/>
          </a:prstGeom>
          <a:noFill/>
          <a:ln/>
        </p:spPr>
        <p:txBody>
          <a:bodyPr wrap="none" lIns="0" tIns="0" rIns="0" bIns="0" rtlCol="0" anchor="t"/>
          <a:lstStyle/>
          <a:p>
            <a:pPr algn="l" indent="0" marL="0">
              <a:buNone/>
            </a:pPr>
            <a:r>
              <a:rPr lang="en-US" sz="625" dirty="0">
                <a:solidFill>
                  <a:srgbClr val="8C7368"/>
                </a:solidFill>
                <a:latin typeface="Inter SemiBold" pitchFamily="34" charset="0"/>
                <a:ea typeface="Inter SemiBold" pitchFamily="34" charset="-122"/>
                <a:cs typeface="Inter SemiBold" pitchFamily="34" charset="-120"/>
              </a:rPr>
              <a:t>Matched</a:t>
            </a:r>
            <a:endParaRPr lang="en-US" sz="625" dirty="0"/>
          </a:p>
        </p:txBody>
      </p:sp>
      <p:sp>
        <p:nvSpPr>
          <p:cNvPr id="74" name="Shape 59"/>
          <p:cNvSpPr/>
          <p:nvPr/>
        </p:nvSpPr>
        <p:spPr>
          <a:xfrm>
            <a:off x="5499110" y="2924160"/>
            <a:ext cx="50841" cy="50841"/>
          </a:xfrm>
          <a:prstGeom prst="ellipse">
            <a:avLst/>
          </a:prstGeom>
          <a:solidFill>
            <a:srgbClr val="2E9D6A"/>
          </a:solidFill>
          <a:ln/>
        </p:spPr>
      </p:sp>
      <p:sp>
        <p:nvSpPr>
          <p:cNvPr id="75" name="Text 60"/>
          <p:cNvSpPr txBox="1"/>
          <p:nvPr/>
        </p:nvSpPr>
        <p:spPr>
          <a:xfrm>
            <a:off x="5499110" y="2993380"/>
            <a:ext cx="386791" cy="133320"/>
          </a:xfrm>
          <a:prstGeom prst="rect">
            <a:avLst/>
          </a:prstGeom>
          <a:noFill/>
          <a:ln/>
        </p:spPr>
        <p:txBody>
          <a:bodyPr wrap="none" lIns="0" tIns="0" rIns="0" bIns="0" rtlCol="0" anchor="t"/>
          <a:lstStyle/>
          <a:p>
            <a:pPr algn="l" indent="0" marL="0">
              <a:buNone/>
            </a:pPr>
            <a:r>
              <a:rPr lang="en-US" sz="1150" b="1" spc="-15" kern="0" dirty="0">
                <a:solidFill>
                  <a:srgbClr val="24110C"/>
                </a:solidFill>
                <a:latin typeface="League Spartan" pitchFamily="34" charset="0"/>
                <a:ea typeface="League Spartan" pitchFamily="34" charset="-122"/>
                <a:cs typeface="League Spartan" pitchFamily="34" charset="-120"/>
              </a:rPr>
              <a:t>1,842</a:t>
            </a:r>
            <a:endParaRPr lang="en-US" sz="1150" dirty="0"/>
          </a:p>
        </p:txBody>
      </p:sp>
      <p:sp>
        <p:nvSpPr>
          <p:cNvPr id="76" name="Text 61"/>
          <p:cNvSpPr txBox="1"/>
          <p:nvPr/>
        </p:nvSpPr>
        <p:spPr>
          <a:xfrm>
            <a:off x="5499110" y="3155960"/>
            <a:ext cx="700339"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92.0% of records</a:t>
            </a:r>
            <a:endParaRPr lang="en-US" sz="575" dirty="0"/>
          </a:p>
        </p:txBody>
      </p:sp>
      <p:sp>
        <p:nvSpPr>
          <p:cNvPr id="77" name="Shape 62"/>
          <p:cNvSpPr/>
          <p:nvPr/>
        </p:nvSpPr>
        <p:spPr>
          <a:xfrm>
            <a:off x="6388090" y="2832080"/>
            <a:ext cx="908091" cy="482620"/>
          </a:xfrm>
          <a:prstGeom prst="roundRect">
            <a:avLst>
              <a:gd name="adj" fmla="val 15783"/>
            </a:avLst>
          </a:prstGeom>
          <a:solidFill>
            <a:srgbClr val="FFFFFF"/>
          </a:solidFill>
          <a:ln w="6350">
            <a:solidFill>
              <a:srgbClr val="24110C">
                <a:alpha val="13000"/>
              </a:srgbClr>
            </a:solidFill>
            <a:prstDash val="solid"/>
          </a:ln>
        </p:spPr>
      </p:sp>
      <p:sp>
        <p:nvSpPr>
          <p:cNvPr id="78" name="Text 63"/>
          <p:cNvSpPr txBox="1"/>
          <p:nvPr/>
        </p:nvSpPr>
        <p:spPr>
          <a:xfrm>
            <a:off x="6559540" y="2901940"/>
            <a:ext cx="492587" cy="95280"/>
          </a:xfrm>
          <a:prstGeom prst="rect">
            <a:avLst/>
          </a:prstGeom>
          <a:noFill/>
          <a:ln/>
        </p:spPr>
        <p:txBody>
          <a:bodyPr wrap="none" lIns="0" tIns="0" rIns="0" bIns="0" rtlCol="0" anchor="t"/>
          <a:lstStyle/>
          <a:p>
            <a:pPr algn="l" indent="0" marL="0">
              <a:buNone/>
            </a:pPr>
            <a:r>
              <a:rPr lang="en-US" sz="625" dirty="0">
                <a:solidFill>
                  <a:srgbClr val="8C7368"/>
                </a:solidFill>
                <a:latin typeface="Inter SemiBold" pitchFamily="34" charset="0"/>
                <a:ea typeface="Inter SemiBold" pitchFamily="34" charset="-122"/>
                <a:cs typeface="Inter SemiBold" pitchFamily="34" charset="-120"/>
              </a:rPr>
              <a:t>Discrepant</a:t>
            </a:r>
            <a:endParaRPr lang="en-US" sz="625" dirty="0"/>
          </a:p>
        </p:txBody>
      </p:sp>
      <p:sp>
        <p:nvSpPr>
          <p:cNvPr id="79" name="Shape 64"/>
          <p:cNvSpPr/>
          <p:nvPr/>
        </p:nvSpPr>
        <p:spPr>
          <a:xfrm>
            <a:off x="6470660" y="2924160"/>
            <a:ext cx="50841" cy="50841"/>
          </a:xfrm>
          <a:prstGeom prst="ellipse">
            <a:avLst/>
          </a:prstGeom>
          <a:solidFill>
            <a:srgbClr val="D64545"/>
          </a:solidFill>
          <a:ln/>
        </p:spPr>
      </p:sp>
      <p:sp>
        <p:nvSpPr>
          <p:cNvPr id="80" name="Text 65"/>
          <p:cNvSpPr txBox="1"/>
          <p:nvPr/>
        </p:nvSpPr>
        <p:spPr>
          <a:xfrm>
            <a:off x="6470660" y="2993380"/>
            <a:ext cx="205191" cy="133320"/>
          </a:xfrm>
          <a:prstGeom prst="rect">
            <a:avLst/>
          </a:prstGeom>
          <a:noFill/>
          <a:ln/>
        </p:spPr>
        <p:txBody>
          <a:bodyPr wrap="none" lIns="0" tIns="0" rIns="0" bIns="0" rtlCol="0" anchor="t"/>
          <a:lstStyle/>
          <a:p>
            <a:pPr algn="l" indent="0" marL="0">
              <a:buNone/>
            </a:pPr>
            <a:r>
              <a:rPr lang="en-US" sz="1150" b="1" spc="-15" kern="0" dirty="0">
                <a:solidFill>
                  <a:srgbClr val="24110C"/>
                </a:solidFill>
                <a:latin typeface="League Spartan" pitchFamily="34" charset="0"/>
                <a:ea typeface="League Spartan" pitchFamily="34" charset="-122"/>
                <a:cs typeface="League Spartan" pitchFamily="34" charset="-120"/>
              </a:rPr>
              <a:t>96</a:t>
            </a:r>
            <a:endParaRPr lang="en-US" sz="1150" dirty="0"/>
          </a:p>
        </p:txBody>
      </p:sp>
      <p:sp>
        <p:nvSpPr>
          <p:cNvPr id="81" name="Text 66"/>
          <p:cNvSpPr txBox="1"/>
          <p:nvPr/>
        </p:nvSpPr>
        <p:spPr>
          <a:xfrm>
            <a:off x="6470660" y="3155960"/>
            <a:ext cx="718627"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amount, rate, split</a:t>
            </a:r>
            <a:endParaRPr lang="en-US" sz="575" dirty="0"/>
          </a:p>
        </p:txBody>
      </p:sp>
      <p:sp>
        <p:nvSpPr>
          <p:cNvPr id="82" name="Shape 67"/>
          <p:cNvSpPr/>
          <p:nvPr/>
        </p:nvSpPr>
        <p:spPr>
          <a:xfrm>
            <a:off x="7359640" y="2832080"/>
            <a:ext cx="908091" cy="482620"/>
          </a:xfrm>
          <a:prstGeom prst="roundRect">
            <a:avLst>
              <a:gd name="adj" fmla="val 15783"/>
            </a:avLst>
          </a:prstGeom>
          <a:solidFill>
            <a:srgbClr val="FFFFFF"/>
          </a:solidFill>
          <a:ln w="6350">
            <a:solidFill>
              <a:srgbClr val="24110C">
                <a:alpha val="13000"/>
              </a:srgbClr>
            </a:solidFill>
            <a:prstDash val="solid"/>
          </a:ln>
        </p:spPr>
      </p:sp>
      <p:sp>
        <p:nvSpPr>
          <p:cNvPr id="83" name="Text 68"/>
          <p:cNvSpPr txBox="1"/>
          <p:nvPr/>
        </p:nvSpPr>
        <p:spPr>
          <a:xfrm>
            <a:off x="7531090" y="2901940"/>
            <a:ext cx="481706" cy="95280"/>
          </a:xfrm>
          <a:prstGeom prst="rect">
            <a:avLst/>
          </a:prstGeom>
          <a:noFill/>
          <a:ln/>
        </p:spPr>
        <p:txBody>
          <a:bodyPr wrap="none" lIns="0" tIns="0" rIns="0" bIns="0" rtlCol="0" anchor="t"/>
          <a:lstStyle/>
          <a:p>
            <a:pPr algn="l" indent="0" marL="0">
              <a:buNone/>
            </a:pPr>
            <a:r>
              <a:rPr lang="en-US" sz="625" dirty="0">
                <a:solidFill>
                  <a:srgbClr val="8C7368"/>
                </a:solidFill>
                <a:latin typeface="Inter SemiBold" pitchFamily="34" charset="0"/>
                <a:ea typeface="Inter SemiBold" pitchFamily="34" charset="-122"/>
                <a:cs typeface="Inter SemiBold" pitchFamily="34" charset="-120"/>
              </a:rPr>
              <a:t>Duplicates</a:t>
            </a:r>
            <a:endParaRPr lang="en-US" sz="625" dirty="0"/>
          </a:p>
        </p:txBody>
      </p:sp>
      <p:sp>
        <p:nvSpPr>
          <p:cNvPr id="84" name="Shape 69"/>
          <p:cNvSpPr/>
          <p:nvPr/>
        </p:nvSpPr>
        <p:spPr>
          <a:xfrm>
            <a:off x="7442210" y="2924160"/>
            <a:ext cx="50841" cy="50841"/>
          </a:xfrm>
          <a:prstGeom prst="ellipse">
            <a:avLst/>
          </a:prstGeom>
          <a:solidFill>
            <a:srgbClr val="C98A12"/>
          </a:solidFill>
          <a:ln/>
        </p:spPr>
      </p:sp>
      <p:sp>
        <p:nvSpPr>
          <p:cNvPr id="85" name="Text 70"/>
          <p:cNvSpPr txBox="1"/>
          <p:nvPr/>
        </p:nvSpPr>
        <p:spPr>
          <a:xfrm>
            <a:off x="7442210" y="2993380"/>
            <a:ext cx="202357" cy="133320"/>
          </a:xfrm>
          <a:prstGeom prst="rect">
            <a:avLst/>
          </a:prstGeom>
          <a:noFill/>
          <a:ln/>
        </p:spPr>
        <p:txBody>
          <a:bodyPr wrap="none" lIns="0" tIns="0" rIns="0" bIns="0" rtlCol="0" anchor="t"/>
          <a:lstStyle/>
          <a:p>
            <a:pPr algn="l" indent="0" marL="0">
              <a:buNone/>
            </a:pPr>
            <a:r>
              <a:rPr lang="en-US" sz="1150" b="1" spc="-15" kern="0" dirty="0">
                <a:solidFill>
                  <a:srgbClr val="24110C"/>
                </a:solidFill>
                <a:latin typeface="League Spartan" pitchFamily="34" charset="0"/>
                <a:ea typeface="League Spartan" pitchFamily="34" charset="-122"/>
                <a:cs typeface="League Spartan" pitchFamily="34" charset="-120"/>
              </a:rPr>
              <a:t>23</a:t>
            </a:r>
            <a:endParaRPr lang="en-US" sz="1150" dirty="0"/>
          </a:p>
        </p:txBody>
      </p:sp>
      <p:sp>
        <p:nvSpPr>
          <p:cNvPr id="86" name="Text 71"/>
          <p:cNvSpPr txBox="1"/>
          <p:nvPr/>
        </p:nvSpPr>
        <p:spPr>
          <a:xfrm>
            <a:off x="7442210" y="3155960"/>
            <a:ext cx="546537"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booked twice</a:t>
            </a:r>
            <a:endParaRPr lang="en-US" sz="575" dirty="0"/>
          </a:p>
        </p:txBody>
      </p:sp>
      <p:sp>
        <p:nvSpPr>
          <p:cNvPr id="87" name="Shape 72"/>
          <p:cNvSpPr/>
          <p:nvPr/>
        </p:nvSpPr>
        <p:spPr>
          <a:xfrm>
            <a:off x="8331190" y="2832080"/>
            <a:ext cx="908091" cy="482620"/>
          </a:xfrm>
          <a:prstGeom prst="roundRect">
            <a:avLst>
              <a:gd name="adj" fmla="val 15783"/>
            </a:avLst>
          </a:prstGeom>
          <a:solidFill>
            <a:srgbClr val="FFFFFF"/>
          </a:solidFill>
          <a:ln w="6350">
            <a:solidFill>
              <a:srgbClr val="24110C">
                <a:alpha val="13000"/>
              </a:srgbClr>
            </a:solidFill>
            <a:prstDash val="solid"/>
          </a:ln>
        </p:spPr>
      </p:sp>
      <p:sp>
        <p:nvSpPr>
          <p:cNvPr id="88" name="Text 73"/>
          <p:cNvSpPr txBox="1"/>
          <p:nvPr/>
        </p:nvSpPr>
        <p:spPr>
          <a:xfrm>
            <a:off x="8502640" y="2901940"/>
            <a:ext cx="361645" cy="95280"/>
          </a:xfrm>
          <a:prstGeom prst="rect">
            <a:avLst/>
          </a:prstGeom>
          <a:noFill/>
          <a:ln/>
        </p:spPr>
        <p:txBody>
          <a:bodyPr wrap="none" lIns="0" tIns="0" rIns="0" bIns="0" rtlCol="0" anchor="t"/>
          <a:lstStyle/>
          <a:p>
            <a:pPr algn="l" indent="0" marL="0">
              <a:buNone/>
            </a:pPr>
            <a:r>
              <a:rPr lang="en-US" sz="625" dirty="0">
                <a:solidFill>
                  <a:srgbClr val="8C7368"/>
                </a:solidFill>
                <a:latin typeface="Inter SemiBold" pitchFamily="34" charset="0"/>
                <a:ea typeface="Inter SemiBold" pitchFamily="34" charset="-122"/>
                <a:cs typeface="Inter SemiBold" pitchFamily="34" charset="-120"/>
              </a:rPr>
              <a:t>Missing</a:t>
            </a:r>
            <a:endParaRPr lang="en-US" sz="625" dirty="0"/>
          </a:p>
        </p:txBody>
      </p:sp>
      <p:sp>
        <p:nvSpPr>
          <p:cNvPr id="89" name="Shape 74"/>
          <p:cNvSpPr/>
          <p:nvPr/>
        </p:nvSpPr>
        <p:spPr>
          <a:xfrm>
            <a:off x="8413760" y="2924160"/>
            <a:ext cx="50841" cy="50841"/>
          </a:xfrm>
          <a:prstGeom prst="ellipse">
            <a:avLst/>
          </a:prstGeom>
          <a:solidFill>
            <a:srgbClr val="6957D6"/>
          </a:solidFill>
          <a:ln/>
        </p:spPr>
      </p:sp>
      <p:sp>
        <p:nvSpPr>
          <p:cNvPr id="90" name="Text 75"/>
          <p:cNvSpPr txBox="1"/>
          <p:nvPr/>
        </p:nvSpPr>
        <p:spPr>
          <a:xfrm>
            <a:off x="8413760" y="2993380"/>
            <a:ext cx="160752" cy="133320"/>
          </a:xfrm>
          <a:prstGeom prst="rect">
            <a:avLst/>
          </a:prstGeom>
          <a:noFill/>
          <a:ln/>
        </p:spPr>
        <p:txBody>
          <a:bodyPr wrap="none" lIns="0" tIns="0" rIns="0" bIns="0" rtlCol="0" anchor="t"/>
          <a:lstStyle/>
          <a:p>
            <a:pPr algn="l" indent="0" marL="0">
              <a:buNone/>
            </a:pPr>
            <a:r>
              <a:rPr lang="en-US" sz="1150" b="1" spc="-15" kern="0" dirty="0">
                <a:solidFill>
                  <a:srgbClr val="24110C"/>
                </a:solidFill>
                <a:latin typeface="League Spartan" pitchFamily="34" charset="0"/>
                <a:ea typeface="League Spartan" pitchFamily="34" charset="-122"/>
                <a:cs typeface="League Spartan" pitchFamily="34" charset="-120"/>
              </a:rPr>
              <a:t>41</a:t>
            </a:r>
            <a:endParaRPr lang="en-US" sz="1150" dirty="0"/>
          </a:p>
        </p:txBody>
      </p:sp>
      <p:sp>
        <p:nvSpPr>
          <p:cNvPr id="91" name="Text 76"/>
          <p:cNvSpPr txBox="1"/>
          <p:nvPr/>
        </p:nvSpPr>
        <p:spPr>
          <a:xfrm>
            <a:off x="8413760" y="3155960"/>
            <a:ext cx="729143"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not in 2B or books</a:t>
            </a:r>
            <a:endParaRPr lang="en-US" sz="575" dirty="0"/>
          </a:p>
        </p:txBody>
      </p:sp>
      <p:sp>
        <p:nvSpPr>
          <p:cNvPr id="92" name="Shape 77"/>
          <p:cNvSpPr/>
          <p:nvPr/>
        </p:nvSpPr>
        <p:spPr>
          <a:xfrm>
            <a:off x="9302740" y="2832080"/>
            <a:ext cx="908091" cy="482620"/>
          </a:xfrm>
          <a:prstGeom prst="roundRect">
            <a:avLst>
              <a:gd name="adj" fmla="val 15783"/>
            </a:avLst>
          </a:prstGeom>
          <a:solidFill>
            <a:srgbClr val="FFF1E3"/>
          </a:solidFill>
          <a:ln w="6350">
            <a:solidFill>
              <a:srgbClr val="F4B47F"/>
            </a:solidFill>
            <a:prstDash val="solid"/>
          </a:ln>
        </p:spPr>
      </p:sp>
      <p:sp>
        <p:nvSpPr>
          <p:cNvPr id="93" name="Text 78"/>
          <p:cNvSpPr txBox="1"/>
          <p:nvPr/>
        </p:nvSpPr>
        <p:spPr>
          <a:xfrm>
            <a:off x="9512320" y="2901940"/>
            <a:ext cx="457200" cy="95280"/>
          </a:xfrm>
          <a:prstGeom prst="rect">
            <a:avLst/>
          </a:prstGeom>
          <a:noFill/>
          <a:ln/>
        </p:spPr>
        <p:txBody>
          <a:bodyPr wrap="none" lIns="0" tIns="0" rIns="0" bIns="0" rtlCol="0" anchor="t"/>
          <a:lstStyle/>
          <a:p>
            <a:pPr algn="l" indent="0" marL="0">
              <a:buNone/>
            </a:pPr>
            <a:r>
              <a:rPr lang="en-US" sz="625" dirty="0">
                <a:solidFill>
                  <a:srgbClr val="D2601A"/>
                </a:solidFill>
                <a:latin typeface="Inter SemiBold" pitchFamily="34" charset="0"/>
                <a:ea typeface="Inter SemiBold" pitchFamily="34" charset="-122"/>
                <a:cs typeface="Inter SemiBold" pitchFamily="34" charset="-120"/>
              </a:rPr>
              <a:t>ITC at risk</a:t>
            </a:r>
            <a:endParaRPr lang="en-US" sz="625" dirty="0"/>
          </a:p>
        </p:txBody>
      </p:sp>
      <p:pic>
        <p:nvPicPr>
          <p:cNvPr id="94" name="Image 13" descr="D:\Projects\20. fintechthon\deck\out\assets\s4_img033.png">    </p:cNvPr>
          <p:cNvPicPr>
            <a:picLocks noChangeAspect="1"/>
          </p:cNvPicPr>
          <p:nvPr/>
        </p:nvPicPr>
        <p:blipFill>
          <a:blip r:embed="rId14"/>
          <a:stretch>
            <a:fillRect/>
          </a:stretch>
        </p:blipFill>
        <p:spPr>
          <a:xfrm>
            <a:off x="9378909" y="2898739"/>
            <a:ext cx="101590" cy="101590"/>
          </a:xfrm>
          <a:prstGeom prst="rect">
            <a:avLst/>
          </a:prstGeom>
        </p:spPr>
      </p:pic>
      <p:sp>
        <p:nvSpPr>
          <p:cNvPr id="95" name="Text 79"/>
          <p:cNvSpPr txBox="1"/>
          <p:nvPr/>
        </p:nvSpPr>
        <p:spPr>
          <a:xfrm>
            <a:off x="9385310" y="2993380"/>
            <a:ext cx="550377" cy="133320"/>
          </a:xfrm>
          <a:prstGeom prst="rect">
            <a:avLst/>
          </a:prstGeom>
          <a:noFill/>
          <a:ln/>
        </p:spPr>
        <p:txBody>
          <a:bodyPr wrap="none" lIns="0" tIns="0" rIns="0" bIns="0" rtlCol="0" anchor="t"/>
          <a:lstStyle/>
          <a:p>
            <a:pPr algn="l" indent="0" marL="0">
              <a:buNone/>
            </a:pPr>
            <a:r>
              <a:rPr lang="en-US" sz="1150" b="1" spc="-15" kern="0" dirty="0">
                <a:solidFill>
                  <a:srgbClr val="D2601A"/>
                </a:solidFill>
                <a:latin typeface="League Spartan" pitchFamily="34" charset="0"/>
                <a:ea typeface="League Spartan" pitchFamily="34" charset="-122"/>
                <a:cs typeface="League Spartan" pitchFamily="34" charset="-120"/>
              </a:rPr>
              <a:t>₹4.82 L</a:t>
            </a:r>
            <a:endParaRPr lang="en-US" sz="1150" dirty="0"/>
          </a:p>
        </p:txBody>
      </p:sp>
      <p:sp>
        <p:nvSpPr>
          <p:cNvPr id="96" name="Text 80"/>
          <p:cNvSpPr txBox="1"/>
          <p:nvPr/>
        </p:nvSpPr>
        <p:spPr>
          <a:xfrm>
            <a:off x="9385310" y="3155960"/>
            <a:ext cx="822320"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₹1.9 L due in 14 days</a:t>
            </a:r>
            <a:endParaRPr lang="en-US" sz="575" dirty="0"/>
          </a:p>
        </p:txBody>
      </p:sp>
      <p:sp>
        <p:nvSpPr>
          <p:cNvPr id="97" name="Shape 81"/>
          <p:cNvSpPr/>
          <p:nvPr/>
        </p:nvSpPr>
        <p:spPr>
          <a:xfrm>
            <a:off x="10274290" y="2832080"/>
            <a:ext cx="908091" cy="482620"/>
          </a:xfrm>
          <a:prstGeom prst="roundRect">
            <a:avLst>
              <a:gd name="adj" fmla="val 15783"/>
            </a:avLst>
          </a:prstGeom>
          <a:solidFill>
            <a:srgbClr val="EAF7F0"/>
          </a:solidFill>
          <a:ln w="6350">
            <a:solidFill>
              <a:srgbClr val="9ED3B7"/>
            </a:solidFill>
            <a:prstDash val="solid"/>
          </a:ln>
        </p:spPr>
      </p:sp>
      <p:sp>
        <p:nvSpPr>
          <p:cNvPr id="98" name="Text 82"/>
          <p:cNvSpPr txBox="1"/>
          <p:nvPr/>
        </p:nvSpPr>
        <p:spPr>
          <a:xfrm>
            <a:off x="10483870" y="2901940"/>
            <a:ext cx="444764" cy="95280"/>
          </a:xfrm>
          <a:prstGeom prst="rect">
            <a:avLst/>
          </a:prstGeom>
          <a:noFill/>
          <a:ln/>
        </p:spPr>
        <p:txBody>
          <a:bodyPr wrap="none" lIns="0" tIns="0" rIns="0" bIns="0" rtlCol="0" anchor="t"/>
          <a:lstStyle/>
          <a:p>
            <a:pPr algn="l" indent="0" marL="0">
              <a:buNone/>
            </a:pPr>
            <a:r>
              <a:rPr lang="en-US" sz="625" dirty="0">
                <a:solidFill>
                  <a:srgbClr val="2E9D6A"/>
                </a:solidFill>
                <a:latin typeface="Inter SemiBold" pitchFamily="34" charset="0"/>
                <a:ea typeface="Inter SemiBold" pitchFamily="34" charset="-122"/>
                <a:cs typeface="Inter SemiBold" pitchFamily="34" charset="-120"/>
              </a:rPr>
              <a:t>ITC found</a:t>
            </a:r>
            <a:endParaRPr lang="en-US" sz="625" dirty="0"/>
          </a:p>
        </p:txBody>
      </p:sp>
      <p:pic>
        <p:nvPicPr>
          <p:cNvPr id="99" name="Image 14" descr="D:\Projects\20. fintechthon\deck\out\assets\s4_img034.png">    </p:cNvPr>
          <p:cNvPicPr>
            <a:picLocks noChangeAspect="1"/>
          </p:cNvPicPr>
          <p:nvPr/>
        </p:nvPicPr>
        <p:blipFill>
          <a:blip r:embed="rId15"/>
          <a:stretch>
            <a:fillRect/>
          </a:stretch>
        </p:blipFill>
        <p:spPr>
          <a:xfrm>
            <a:off x="10350459" y="2898739"/>
            <a:ext cx="101590" cy="101590"/>
          </a:xfrm>
          <a:prstGeom prst="rect">
            <a:avLst/>
          </a:prstGeom>
        </p:spPr>
      </p:pic>
      <p:sp>
        <p:nvSpPr>
          <p:cNvPr id="100" name="Text 83"/>
          <p:cNvSpPr txBox="1"/>
          <p:nvPr/>
        </p:nvSpPr>
        <p:spPr>
          <a:xfrm>
            <a:off x="10356860" y="2993380"/>
            <a:ext cx="513984" cy="133320"/>
          </a:xfrm>
          <a:prstGeom prst="rect">
            <a:avLst/>
          </a:prstGeom>
          <a:noFill/>
          <a:ln/>
        </p:spPr>
        <p:txBody>
          <a:bodyPr wrap="none" lIns="0" tIns="0" rIns="0" bIns="0" rtlCol="0" anchor="t"/>
          <a:lstStyle/>
          <a:p>
            <a:pPr algn="l" indent="0" marL="0">
              <a:buNone/>
            </a:pPr>
            <a:r>
              <a:rPr lang="en-US" sz="1150" b="1" spc="-15" kern="0" dirty="0">
                <a:solidFill>
                  <a:srgbClr val="2E9D6A"/>
                </a:solidFill>
                <a:latin typeface="League Spartan" pitchFamily="34" charset="0"/>
                <a:ea typeface="League Spartan" pitchFamily="34" charset="-122"/>
                <a:cs typeface="League Spartan" pitchFamily="34" charset="-120"/>
              </a:rPr>
              <a:t>₹1.36 L</a:t>
            </a:r>
            <a:endParaRPr lang="en-US" sz="1150" dirty="0"/>
          </a:p>
        </p:txBody>
      </p:sp>
      <p:sp>
        <p:nvSpPr>
          <p:cNvPr id="101" name="Text 84"/>
          <p:cNvSpPr txBox="1"/>
          <p:nvPr/>
        </p:nvSpPr>
        <p:spPr>
          <a:xfrm>
            <a:off x="10356860" y="3155960"/>
            <a:ext cx="795711"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in 2B, never booked</a:t>
            </a:r>
            <a:endParaRPr lang="en-US" sz="575" dirty="0"/>
          </a:p>
        </p:txBody>
      </p:sp>
      <p:sp>
        <p:nvSpPr>
          <p:cNvPr id="102" name="Shape 85"/>
          <p:cNvSpPr/>
          <p:nvPr/>
        </p:nvSpPr>
        <p:spPr>
          <a:xfrm>
            <a:off x="5416540" y="3390870"/>
            <a:ext cx="1460480" cy="952530"/>
          </a:xfrm>
          <a:prstGeom prst="roundRect">
            <a:avLst>
              <a:gd name="adj" fmla="val 7997"/>
            </a:avLst>
          </a:prstGeom>
          <a:solidFill>
            <a:srgbClr val="FFFFFF"/>
          </a:solidFill>
          <a:ln w="6350">
            <a:solidFill>
              <a:srgbClr val="24110C">
                <a:alpha val="13000"/>
              </a:srgbClr>
            </a:solidFill>
            <a:prstDash val="solid"/>
          </a:ln>
        </p:spPr>
      </p:sp>
      <p:pic>
        <p:nvPicPr>
          <p:cNvPr id="103" name="Image 15" descr="D:\Projects\20. fintechthon\deck\out\assets\s4_img035.png">    </p:cNvPr>
          <p:cNvPicPr>
            <a:picLocks noChangeAspect="1"/>
          </p:cNvPicPr>
          <p:nvPr/>
        </p:nvPicPr>
        <p:blipFill>
          <a:blip r:embed="rId16"/>
          <a:stretch>
            <a:fillRect/>
          </a:stretch>
        </p:blipFill>
        <p:spPr>
          <a:xfrm>
            <a:off x="5505420" y="3511570"/>
            <a:ext cx="711220" cy="711220"/>
          </a:xfrm>
          <a:prstGeom prst="rect">
            <a:avLst/>
          </a:prstGeom>
        </p:spPr>
      </p:pic>
      <p:sp>
        <p:nvSpPr>
          <p:cNvPr id="104" name="Text 86"/>
          <p:cNvSpPr txBox="1"/>
          <p:nvPr/>
        </p:nvSpPr>
        <p:spPr>
          <a:xfrm>
            <a:off x="6375380" y="3608405"/>
            <a:ext cx="393558" cy="95280"/>
          </a:xfrm>
          <a:prstGeom prst="rect">
            <a:avLst/>
          </a:prstGeom>
          <a:noFill/>
          <a:ln/>
        </p:spPr>
        <p:txBody>
          <a:bodyPr wrap="none" lIns="0" tIns="0" rIns="0" bIns="0" rtlCol="0" anchor="t"/>
          <a:lstStyle/>
          <a:p>
            <a:pPr algn="l" indent="0" marL="0">
              <a:buNone/>
            </a:pPr>
            <a:r>
              <a:rPr lang="en-US" sz="625" dirty="0">
                <a:solidFill>
                  <a:srgbClr val="5B4339"/>
                </a:solidFill>
                <a:latin typeface="Inter" pitchFamily="34" charset="0"/>
                <a:ea typeface="Inter" pitchFamily="34" charset="-122"/>
                <a:cs typeface="Inter" pitchFamily="34" charset="-120"/>
              </a:rPr>
              <a:t>Matched</a:t>
            </a:r>
            <a:endParaRPr lang="en-US" sz="625" dirty="0"/>
          </a:p>
        </p:txBody>
      </p:sp>
      <p:sp>
        <p:nvSpPr>
          <p:cNvPr id="105" name="Shape 87"/>
          <p:cNvSpPr/>
          <p:nvPr/>
        </p:nvSpPr>
        <p:spPr>
          <a:xfrm>
            <a:off x="6286500" y="3633826"/>
            <a:ext cx="50841" cy="50841"/>
          </a:xfrm>
          <a:prstGeom prst="ellipse">
            <a:avLst/>
          </a:prstGeom>
          <a:solidFill>
            <a:srgbClr val="2E9D6A"/>
          </a:solidFill>
          <a:ln/>
        </p:spPr>
      </p:sp>
      <p:sp>
        <p:nvSpPr>
          <p:cNvPr id="106" name="Text 88"/>
          <p:cNvSpPr txBox="1"/>
          <p:nvPr/>
        </p:nvSpPr>
        <p:spPr>
          <a:xfrm>
            <a:off x="6375380" y="3747303"/>
            <a:ext cx="479420" cy="95280"/>
          </a:xfrm>
          <a:prstGeom prst="rect">
            <a:avLst/>
          </a:prstGeom>
          <a:noFill/>
          <a:ln/>
        </p:spPr>
        <p:txBody>
          <a:bodyPr wrap="none" lIns="0" tIns="0" rIns="0" bIns="0" rtlCol="0" anchor="t"/>
          <a:lstStyle/>
          <a:p>
            <a:pPr algn="l" indent="0" marL="0">
              <a:buNone/>
            </a:pPr>
            <a:r>
              <a:rPr lang="en-US" sz="625" dirty="0">
                <a:solidFill>
                  <a:srgbClr val="5B4339"/>
                </a:solidFill>
                <a:latin typeface="Inter" pitchFamily="34" charset="0"/>
                <a:ea typeface="Inter" pitchFamily="34" charset="-122"/>
                <a:cs typeface="Inter" pitchFamily="34" charset="-120"/>
              </a:rPr>
              <a:t>Discrepant</a:t>
            </a:r>
            <a:endParaRPr lang="en-US" sz="625" dirty="0"/>
          </a:p>
        </p:txBody>
      </p:sp>
      <p:sp>
        <p:nvSpPr>
          <p:cNvPr id="107" name="Shape 89"/>
          <p:cNvSpPr/>
          <p:nvPr/>
        </p:nvSpPr>
        <p:spPr>
          <a:xfrm>
            <a:off x="6286500" y="3772723"/>
            <a:ext cx="50841" cy="50841"/>
          </a:xfrm>
          <a:prstGeom prst="ellipse">
            <a:avLst/>
          </a:prstGeom>
          <a:solidFill>
            <a:srgbClr val="D64545"/>
          </a:solidFill>
          <a:ln/>
        </p:spPr>
      </p:sp>
      <p:sp>
        <p:nvSpPr>
          <p:cNvPr id="108" name="Text 90"/>
          <p:cNvSpPr txBox="1"/>
          <p:nvPr/>
        </p:nvSpPr>
        <p:spPr>
          <a:xfrm>
            <a:off x="6375380" y="3886200"/>
            <a:ext cx="421356" cy="95280"/>
          </a:xfrm>
          <a:prstGeom prst="rect">
            <a:avLst/>
          </a:prstGeom>
          <a:noFill/>
          <a:ln/>
        </p:spPr>
        <p:txBody>
          <a:bodyPr wrap="none" lIns="0" tIns="0" rIns="0" bIns="0" rtlCol="0" anchor="t"/>
          <a:lstStyle/>
          <a:p>
            <a:pPr algn="l" indent="0" marL="0">
              <a:buNone/>
            </a:pPr>
            <a:r>
              <a:rPr lang="en-US" sz="625" dirty="0">
                <a:solidFill>
                  <a:srgbClr val="5B4339"/>
                </a:solidFill>
                <a:latin typeface="Inter" pitchFamily="34" charset="0"/>
                <a:ea typeface="Inter" pitchFamily="34" charset="-122"/>
                <a:cs typeface="Inter" pitchFamily="34" charset="-120"/>
              </a:rPr>
              <a:t>Duplicate</a:t>
            </a:r>
            <a:endParaRPr lang="en-US" sz="625" dirty="0"/>
          </a:p>
        </p:txBody>
      </p:sp>
      <p:sp>
        <p:nvSpPr>
          <p:cNvPr id="109" name="Shape 91"/>
          <p:cNvSpPr/>
          <p:nvPr/>
        </p:nvSpPr>
        <p:spPr>
          <a:xfrm>
            <a:off x="6286500" y="3911620"/>
            <a:ext cx="50841" cy="50841"/>
          </a:xfrm>
          <a:prstGeom prst="ellipse">
            <a:avLst/>
          </a:prstGeom>
          <a:solidFill>
            <a:srgbClr val="C98A12"/>
          </a:solidFill>
          <a:ln/>
        </p:spPr>
      </p:sp>
      <p:sp>
        <p:nvSpPr>
          <p:cNvPr id="110" name="Text 92"/>
          <p:cNvSpPr txBox="1"/>
          <p:nvPr/>
        </p:nvSpPr>
        <p:spPr>
          <a:xfrm>
            <a:off x="6375380" y="4025097"/>
            <a:ext cx="349667" cy="95280"/>
          </a:xfrm>
          <a:prstGeom prst="rect">
            <a:avLst/>
          </a:prstGeom>
          <a:noFill/>
          <a:ln/>
        </p:spPr>
        <p:txBody>
          <a:bodyPr wrap="none" lIns="0" tIns="0" rIns="0" bIns="0" rtlCol="0" anchor="t"/>
          <a:lstStyle/>
          <a:p>
            <a:pPr algn="l" indent="0" marL="0">
              <a:buNone/>
            </a:pPr>
            <a:r>
              <a:rPr lang="en-US" sz="625" dirty="0">
                <a:solidFill>
                  <a:srgbClr val="5B4339"/>
                </a:solidFill>
                <a:latin typeface="Inter" pitchFamily="34" charset="0"/>
                <a:ea typeface="Inter" pitchFamily="34" charset="-122"/>
                <a:cs typeface="Inter" pitchFamily="34" charset="-120"/>
              </a:rPr>
              <a:t>Missing</a:t>
            </a:r>
            <a:endParaRPr lang="en-US" sz="625" dirty="0"/>
          </a:p>
        </p:txBody>
      </p:sp>
      <p:sp>
        <p:nvSpPr>
          <p:cNvPr id="111" name="Shape 93"/>
          <p:cNvSpPr/>
          <p:nvPr/>
        </p:nvSpPr>
        <p:spPr>
          <a:xfrm>
            <a:off x="6286500" y="4050518"/>
            <a:ext cx="50841" cy="50841"/>
          </a:xfrm>
          <a:prstGeom prst="ellipse">
            <a:avLst/>
          </a:prstGeom>
          <a:solidFill>
            <a:srgbClr val="6957D6"/>
          </a:solidFill>
          <a:ln/>
        </p:spPr>
      </p:sp>
      <p:sp>
        <p:nvSpPr>
          <p:cNvPr id="112" name="Shape 94"/>
          <p:cNvSpPr/>
          <p:nvPr/>
        </p:nvSpPr>
        <p:spPr>
          <a:xfrm>
            <a:off x="6940570" y="3390870"/>
            <a:ext cx="4241810" cy="952530"/>
          </a:xfrm>
          <a:prstGeom prst="roundRect">
            <a:avLst>
              <a:gd name="adj" fmla="val 7997"/>
            </a:avLst>
          </a:prstGeom>
          <a:solidFill>
            <a:srgbClr val="FFFFFF"/>
          </a:solidFill>
          <a:ln w="6350">
            <a:solidFill>
              <a:srgbClr val="24110C">
                <a:alpha val="13000"/>
              </a:srgbClr>
            </a:solidFill>
            <a:prstDash val="solid"/>
          </a:ln>
        </p:spPr>
      </p:sp>
      <p:sp>
        <p:nvSpPr>
          <p:cNvPr id="113" name="Text 95"/>
          <p:cNvSpPr txBox="1"/>
          <p:nvPr/>
        </p:nvSpPr>
        <p:spPr>
          <a:xfrm>
            <a:off x="7035759" y="3473440"/>
            <a:ext cx="941832" cy="101590"/>
          </a:xfrm>
          <a:prstGeom prst="rect">
            <a:avLst/>
          </a:prstGeom>
          <a:noFill/>
          <a:ln/>
        </p:spPr>
        <p:txBody>
          <a:bodyPr wrap="none" lIns="0" tIns="0" rIns="0" bIns="0" rtlCol="0" anchor="t"/>
          <a:lstStyle/>
          <a:p>
            <a:pPr algn="l" indent="0" marL="0">
              <a:buNone/>
            </a:pPr>
            <a:r>
              <a:rPr lang="en-US" sz="675" b="1" dirty="0">
                <a:solidFill>
                  <a:srgbClr val="24110C"/>
                </a:solidFill>
                <a:latin typeface="Inter" pitchFamily="34" charset="0"/>
                <a:ea typeface="Inter" pitchFamily="34" charset="-122"/>
                <a:cs typeface="Inter" pitchFamily="34" charset="-120"/>
              </a:rPr>
              <a:t>ITC at risk by cause</a:t>
            </a:r>
            <a:endParaRPr lang="en-US" sz="675" dirty="0"/>
          </a:p>
        </p:txBody>
      </p:sp>
      <p:sp>
        <p:nvSpPr>
          <p:cNvPr id="114" name="Text 96"/>
          <p:cNvSpPr txBox="1"/>
          <p:nvPr/>
        </p:nvSpPr>
        <p:spPr>
          <a:xfrm>
            <a:off x="10469057" y="3476640"/>
            <a:ext cx="717621" cy="95280"/>
          </a:xfrm>
          <a:prstGeom prst="rect">
            <a:avLst/>
          </a:prstGeom>
          <a:noFill/>
          <a:ln/>
        </p:spPr>
        <p:txBody>
          <a:bodyPr wrap="none" lIns="0" tIns="0" rIns="0" bIns="0" rtlCol="0" anchor="t"/>
          <a:lstStyle/>
          <a:p>
            <a:pPr algn="l" indent="0" marL="0">
              <a:buNone/>
            </a:pPr>
            <a:r>
              <a:rPr lang="en-US" sz="600" dirty="0">
                <a:solidFill>
                  <a:srgbClr val="8C7368"/>
                </a:solidFill>
                <a:latin typeface="Inter" pitchFamily="34" charset="0"/>
                <a:ea typeface="Inter" pitchFamily="34" charset="-122"/>
                <a:cs typeface="Inter" pitchFamily="34" charset="-120"/>
              </a:rPr>
              <a:t>sorted by rupees</a:t>
            </a:r>
            <a:endParaRPr lang="en-US" sz="600" dirty="0"/>
          </a:p>
        </p:txBody>
      </p:sp>
      <p:sp>
        <p:nvSpPr>
          <p:cNvPr id="115" name="Text 97"/>
          <p:cNvSpPr txBox="1"/>
          <p:nvPr/>
        </p:nvSpPr>
        <p:spPr>
          <a:xfrm>
            <a:off x="7035759" y="3632180"/>
            <a:ext cx="1214140"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Supplier has not filed (16(2))</a:t>
            </a:r>
            <a:endParaRPr lang="en-US" sz="625" dirty="0"/>
          </a:p>
        </p:txBody>
      </p:sp>
      <p:sp>
        <p:nvSpPr>
          <p:cNvPr id="116" name="Shape 98"/>
          <p:cNvSpPr/>
          <p:nvPr/>
        </p:nvSpPr>
        <p:spPr>
          <a:xfrm>
            <a:off x="8305770" y="3641689"/>
            <a:ext cx="2311420" cy="76170"/>
          </a:xfrm>
          <a:prstGeom prst="roundRect">
            <a:avLst>
              <a:gd name="adj" fmla="val 50000"/>
            </a:avLst>
          </a:prstGeom>
          <a:solidFill>
            <a:srgbClr val="6957D6"/>
          </a:solidFill>
          <a:ln/>
        </p:spPr>
      </p:sp>
      <p:sp>
        <p:nvSpPr>
          <p:cNvPr id="117" name="Text 99"/>
          <p:cNvSpPr txBox="1"/>
          <p:nvPr/>
        </p:nvSpPr>
        <p:spPr>
          <a:xfrm>
            <a:off x="10692719" y="3625870"/>
            <a:ext cx="394381" cy="107991"/>
          </a:xfrm>
          <a:prstGeom prst="rect">
            <a:avLst/>
          </a:prstGeom>
          <a:noFill/>
          <a:ln/>
        </p:spPr>
        <p:txBody>
          <a:bodyPr wrap="none" lIns="0" tIns="0" rIns="0" bIns="0" rtlCol="0" anchor="t"/>
          <a:lstStyle/>
          <a:p>
            <a:pPr algn="r" indent="0" marL="0">
              <a:buNone/>
            </a:pPr>
            <a:r>
              <a:rPr lang="en-US" sz="625" b="1" dirty="0">
                <a:solidFill>
                  <a:srgbClr val="24110C"/>
                </a:solidFill>
                <a:latin typeface="JetBrains Mono Medium" pitchFamily="34" charset="0"/>
                <a:ea typeface="JetBrains Mono Medium" pitchFamily="34" charset="-122"/>
                <a:cs typeface="JetBrains Mono Medium" pitchFamily="34" charset="-120"/>
              </a:rPr>
              <a:t>₹2.10 L</a:t>
            </a:r>
            <a:endParaRPr lang="en-US" sz="625" dirty="0"/>
          </a:p>
        </p:txBody>
      </p:sp>
      <p:sp>
        <p:nvSpPr>
          <p:cNvPr id="118" name="Text 100"/>
          <p:cNvSpPr txBox="1"/>
          <p:nvPr/>
        </p:nvSpPr>
        <p:spPr>
          <a:xfrm>
            <a:off x="7035759" y="3790920"/>
            <a:ext cx="1332006"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Unpaid past 180 days (Rule 37)</a:t>
            </a:r>
            <a:endParaRPr lang="en-US" sz="625" dirty="0"/>
          </a:p>
        </p:txBody>
      </p:sp>
      <p:sp>
        <p:nvSpPr>
          <p:cNvPr id="119" name="Shape 101"/>
          <p:cNvSpPr/>
          <p:nvPr/>
        </p:nvSpPr>
        <p:spPr>
          <a:xfrm>
            <a:off x="8305770" y="3800521"/>
            <a:ext cx="2080260" cy="76170"/>
          </a:xfrm>
          <a:prstGeom prst="roundRect">
            <a:avLst>
              <a:gd name="adj" fmla="val 50000"/>
            </a:avLst>
          </a:prstGeom>
          <a:solidFill>
            <a:srgbClr val="D64545"/>
          </a:solidFill>
          <a:ln/>
        </p:spPr>
      </p:sp>
      <p:sp>
        <p:nvSpPr>
          <p:cNvPr id="120" name="Text 102"/>
          <p:cNvSpPr txBox="1"/>
          <p:nvPr/>
        </p:nvSpPr>
        <p:spPr>
          <a:xfrm>
            <a:off x="10692719" y="3784610"/>
            <a:ext cx="394381" cy="107991"/>
          </a:xfrm>
          <a:prstGeom prst="rect">
            <a:avLst/>
          </a:prstGeom>
          <a:noFill/>
          <a:ln/>
        </p:spPr>
        <p:txBody>
          <a:bodyPr wrap="none" lIns="0" tIns="0" rIns="0" bIns="0" rtlCol="0" anchor="t"/>
          <a:lstStyle/>
          <a:p>
            <a:pPr algn="r" indent="0" marL="0">
              <a:buNone/>
            </a:pPr>
            <a:r>
              <a:rPr lang="en-US" sz="625" b="1" dirty="0">
                <a:solidFill>
                  <a:srgbClr val="24110C"/>
                </a:solidFill>
                <a:latin typeface="JetBrains Mono Medium" pitchFamily="34" charset="0"/>
                <a:ea typeface="JetBrains Mono Medium" pitchFamily="34" charset="-122"/>
                <a:cs typeface="JetBrains Mono Medium" pitchFamily="34" charset="-120"/>
              </a:rPr>
              <a:t>₹1.90 L</a:t>
            </a:r>
            <a:endParaRPr lang="en-US" sz="625" dirty="0"/>
          </a:p>
        </p:txBody>
      </p:sp>
      <p:sp>
        <p:nvSpPr>
          <p:cNvPr id="121" name="Text 103"/>
          <p:cNvSpPr txBox="1"/>
          <p:nvPr/>
        </p:nvSpPr>
        <p:spPr>
          <a:xfrm>
            <a:off x="7035759" y="3949659"/>
            <a:ext cx="1142177"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Rate or tax head mismatch</a:t>
            </a:r>
            <a:endParaRPr lang="en-US" sz="625" dirty="0"/>
          </a:p>
        </p:txBody>
      </p:sp>
      <p:sp>
        <p:nvSpPr>
          <p:cNvPr id="122" name="Shape 104"/>
          <p:cNvSpPr/>
          <p:nvPr/>
        </p:nvSpPr>
        <p:spPr>
          <a:xfrm>
            <a:off x="8305770" y="3959261"/>
            <a:ext cx="647121" cy="76170"/>
          </a:xfrm>
          <a:prstGeom prst="roundRect">
            <a:avLst>
              <a:gd name="adj" fmla="val 50000"/>
            </a:avLst>
          </a:prstGeom>
          <a:solidFill>
            <a:srgbClr val="F28C3A"/>
          </a:solidFill>
          <a:ln/>
        </p:spPr>
      </p:sp>
      <p:sp>
        <p:nvSpPr>
          <p:cNvPr id="123" name="Text 105"/>
          <p:cNvSpPr txBox="1"/>
          <p:nvPr/>
        </p:nvSpPr>
        <p:spPr>
          <a:xfrm>
            <a:off x="10692719" y="3943350"/>
            <a:ext cx="394381" cy="107991"/>
          </a:xfrm>
          <a:prstGeom prst="rect">
            <a:avLst/>
          </a:prstGeom>
          <a:noFill/>
          <a:ln/>
        </p:spPr>
        <p:txBody>
          <a:bodyPr wrap="none" lIns="0" tIns="0" rIns="0" bIns="0" rtlCol="0" anchor="t"/>
          <a:lstStyle/>
          <a:p>
            <a:pPr algn="r" indent="0" marL="0">
              <a:buNone/>
            </a:pPr>
            <a:r>
              <a:rPr lang="en-US" sz="625" b="1" dirty="0">
                <a:solidFill>
                  <a:srgbClr val="24110C"/>
                </a:solidFill>
                <a:latin typeface="JetBrains Mono Medium" pitchFamily="34" charset="0"/>
                <a:ea typeface="JetBrains Mono Medium" pitchFamily="34" charset="-122"/>
                <a:cs typeface="JetBrains Mono Medium" pitchFamily="34" charset="-120"/>
              </a:rPr>
              <a:t>₹0.58 L</a:t>
            </a:r>
            <a:endParaRPr lang="en-US" sz="625" dirty="0"/>
          </a:p>
        </p:txBody>
      </p:sp>
      <p:sp>
        <p:nvSpPr>
          <p:cNvPr id="124" name="Text 106"/>
          <p:cNvSpPr txBox="1"/>
          <p:nvPr/>
        </p:nvSpPr>
        <p:spPr>
          <a:xfrm>
            <a:off x="7035759" y="4108491"/>
            <a:ext cx="1273759"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Blocked credit claimed (17(5))</a:t>
            </a:r>
            <a:endParaRPr lang="en-US" sz="625" dirty="0"/>
          </a:p>
        </p:txBody>
      </p:sp>
      <p:sp>
        <p:nvSpPr>
          <p:cNvPr id="125" name="Shape 107"/>
          <p:cNvSpPr/>
          <p:nvPr/>
        </p:nvSpPr>
        <p:spPr>
          <a:xfrm>
            <a:off x="8305770" y="4118000"/>
            <a:ext cx="254203" cy="76170"/>
          </a:xfrm>
          <a:prstGeom prst="roundRect">
            <a:avLst>
              <a:gd name="adj" fmla="val 50000"/>
            </a:avLst>
          </a:prstGeom>
          <a:solidFill>
            <a:srgbClr val="C98A12"/>
          </a:solidFill>
          <a:ln/>
        </p:spPr>
      </p:sp>
      <p:sp>
        <p:nvSpPr>
          <p:cNvPr id="126" name="Text 108"/>
          <p:cNvSpPr txBox="1"/>
          <p:nvPr/>
        </p:nvSpPr>
        <p:spPr>
          <a:xfrm>
            <a:off x="10692719" y="4102090"/>
            <a:ext cx="394381" cy="107991"/>
          </a:xfrm>
          <a:prstGeom prst="rect">
            <a:avLst/>
          </a:prstGeom>
          <a:noFill/>
          <a:ln/>
        </p:spPr>
        <p:txBody>
          <a:bodyPr wrap="none" lIns="0" tIns="0" rIns="0" bIns="0" rtlCol="0" anchor="t"/>
          <a:lstStyle/>
          <a:p>
            <a:pPr algn="r" indent="0" marL="0">
              <a:buNone/>
            </a:pPr>
            <a:r>
              <a:rPr lang="en-US" sz="625" b="1" dirty="0">
                <a:solidFill>
                  <a:srgbClr val="24110C"/>
                </a:solidFill>
                <a:latin typeface="JetBrains Mono Medium" pitchFamily="34" charset="0"/>
                <a:ea typeface="JetBrains Mono Medium" pitchFamily="34" charset="-122"/>
                <a:cs typeface="JetBrains Mono Medium" pitchFamily="34" charset="-120"/>
              </a:rPr>
              <a:t>₹0.24 L</a:t>
            </a:r>
            <a:endParaRPr lang="en-US" sz="625" dirty="0"/>
          </a:p>
        </p:txBody>
      </p:sp>
      <p:sp>
        <p:nvSpPr>
          <p:cNvPr id="127" name="Shape 109"/>
          <p:cNvSpPr/>
          <p:nvPr/>
        </p:nvSpPr>
        <p:spPr>
          <a:xfrm>
            <a:off x="5416540" y="4406859"/>
            <a:ext cx="5765841" cy="1390620"/>
          </a:xfrm>
          <a:prstGeom prst="roundRect">
            <a:avLst>
              <a:gd name="adj" fmla="val 5477"/>
            </a:avLst>
          </a:prstGeom>
          <a:solidFill>
            <a:srgbClr val="FFFFFF"/>
          </a:solidFill>
          <a:ln w="6350">
            <a:solidFill>
              <a:srgbClr val="24110C">
                <a:alpha val="13000"/>
              </a:srgbClr>
            </a:solidFill>
            <a:prstDash val="solid"/>
          </a:ln>
        </p:spPr>
      </p:sp>
      <p:sp>
        <p:nvSpPr>
          <p:cNvPr id="128" name="Text 110"/>
          <p:cNvSpPr txBox="1"/>
          <p:nvPr/>
        </p:nvSpPr>
        <p:spPr>
          <a:xfrm>
            <a:off x="5499110" y="4476720"/>
            <a:ext cx="528432" cy="101590"/>
          </a:xfrm>
          <a:prstGeom prst="rect">
            <a:avLst/>
          </a:prstGeom>
          <a:noFill/>
          <a:ln/>
        </p:spPr>
        <p:txBody>
          <a:bodyPr wrap="none" lIns="0" tIns="0" rIns="0" bIns="0" rtlCol="0" anchor="t"/>
          <a:lstStyle/>
          <a:p>
            <a:pPr algn="l" indent="0" marL="0">
              <a:buNone/>
            </a:pPr>
            <a:r>
              <a:rPr lang="en-US" sz="675" b="1" dirty="0">
                <a:solidFill>
                  <a:srgbClr val="24110C"/>
                </a:solidFill>
                <a:latin typeface="Inter" pitchFamily="34" charset="0"/>
                <a:ea typeface="Inter" pitchFamily="34" charset="-122"/>
                <a:cs typeface="Inter" pitchFamily="34" charset="-120"/>
              </a:rPr>
              <a:t>Top issues</a:t>
            </a:r>
            <a:endParaRPr lang="en-US" sz="675" dirty="0"/>
          </a:p>
        </p:txBody>
      </p:sp>
      <p:sp>
        <p:nvSpPr>
          <p:cNvPr id="129" name="Text 111"/>
          <p:cNvSpPr txBox="1"/>
          <p:nvPr/>
        </p:nvSpPr>
        <p:spPr>
          <a:xfrm>
            <a:off x="9375983" y="4479920"/>
            <a:ext cx="1956084" cy="95280"/>
          </a:xfrm>
          <a:prstGeom prst="rect">
            <a:avLst/>
          </a:prstGeom>
          <a:noFill/>
          <a:ln/>
        </p:spPr>
        <p:txBody>
          <a:bodyPr wrap="none" lIns="0" tIns="0" rIns="0" bIns="0" rtlCol="0" anchor="t"/>
          <a:lstStyle/>
          <a:p>
            <a:pPr algn="l" indent="0" marL="0">
              <a:buNone/>
            </a:pPr>
            <a:r>
              <a:rPr lang="en-US" sz="600" dirty="0">
                <a:solidFill>
                  <a:srgbClr val="8C7368"/>
                </a:solidFill>
                <a:latin typeface="Inter" pitchFamily="34" charset="0"/>
                <a:ea typeface="Inter" pitchFamily="34" charset="-122"/>
                <a:cs typeface="Inter" pitchFamily="34" charset="-120"/>
              </a:rPr>
              <a:t>4 of 160 · ranked by rupees at risk and deadline</a:t>
            </a:r>
            <a:endParaRPr lang="en-US" sz="600" dirty="0"/>
          </a:p>
        </p:txBody>
      </p:sp>
      <p:sp>
        <p:nvSpPr>
          <p:cNvPr id="130" name="Shape 112"/>
          <p:cNvSpPr/>
          <p:nvPr/>
        </p:nvSpPr>
        <p:spPr>
          <a:xfrm>
            <a:off x="5499110" y="4629150"/>
            <a:ext cx="852404" cy="155539"/>
          </a:xfrm>
          <a:prstGeom prst="rect">
            <a:avLst/>
          </a:prstGeom>
          <a:ln/>
        </p:spPr>
      </p:sp>
      <p:sp>
        <p:nvSpPr>
          <p:cNvPr id="131" name="Shape 113"/>
          <p:cNvSpPr/>
          <p:nvPr/>
        </p:nvSpPr>
        <p:spPr>
          <a:xfrm>
            <a:off x="5499110" y="4781580"/>
            <a:ext cx="852404" cy="0"/>
          </a:xfrm>
          <a:prstGeom prst="line">
            <a:avLst/>
          </a:prstGeom>
          <a:noFill/>
          <a:ln w="6350">
            <a:solidFill>
              <a:srgbClr val="24110C">
                <a:alpha val="13000"/>
              </a:srgbClr>
            </a:solidFill>
            <a:prstDash val="solid"/>
          </a:ln>
        </p:spPr>
      </p:sp>
      <p:sp>
        <p:nvSpPr>
          <p:cNvPr id="132" name="Text 114"/>
          <p:cNvSpPr txBox="1"/>
          <p:nvPr/>
        </p:nvSpPr>
        <p:spPr>
          <a:xfrm>
            <a:off x="5537241" y="4660880"/>
            <a:ext cx="310530" cy="88880"/>
          </a:xfrm>
          <a:prstGeom prst="rect">
            <a:avLst/>
          </a:prstGeom>
          <a:noFill/>
          <a:ln/>
        </p:spPr>
        <p:txBody>
          <a:bodyPr wrap="none" lIns="0" tIns="0" rIns="0" bIns="0" rtlCol="0" anchor="t"/>
          <a:lstStyle/>
          <a:p>
            <a:pPr algn="l" indent="0" marL="0">
              <a:buNone/>
            </a:pPr>
            <a:r>
              <a:rPr lang="en-US" sz="575" dirty="0">
                <a:solidFill>
                  <a:srgbClr val="8C7368"/>
                </a:solidFill>
                <a:latin typeface="Inter SemiBold" pitchFamily="34" charset="0"/>
                <a:ea typeface="Inter SemiBold" pitchFamily="34" charset="-122"/>
                <a:cs typeface="Inter SemiBold" pitchFamily="34" charset="-120"/>
              </a:rPr>
              <a:t>Invoice</a:t>
            </a:r>
            <a:endParaRPr lang="en-US" sz="575" dirty="0"/>
          </a:p>
        </p:txBody>
      </p:sp>
      <p:sp>
        <p:nvSpPr>
          <p:cNvPr id="133" name="Shape 115"/>
          <p:cNvSpPr/>
          <p:nvPr/>
        </p:nvSpPr>
        <p:spPr>
          <a:xfrm>
            <a:off x="6351514" y="4629150"/>
            <a:ext cx="1100206" cy="155539"/>
          </a:xfrm>
          <a:prstGeom prst="rect">
            <a:avLst/>
          </a:prstGeom>
          <a:ln/>
        </p:spPr>
      </p:sp>
      <p:sp>
        <p:nvSpPr>
          <p:cNvPr id="134" name="Shape 116"/>
          <p:cNvSpPr/>
          <p:nvPr/>
        </p:nvSpPr>
        <p:spPr>
          <a:xfrm>
            <a:off x="6351514" y="4781580"/>
            <a:ext cx="1100206" cy="0"/>
          </a:xfrm>
          <a:prstGeom prst="line">
            <a:avLst/>
          </a:prstGeom>
          <a:noFill/>
          <a:ln w="6350">
            <a:solidFill>
              <a:srgbClr val="24110C">
                <a:alpha val="13000"/>
              </a:srgbClr>
            </a:solidFill>
            <a:prstDash val="solid"/>
          </a:ln>
        </p:spPr>
      </p:sp>
      <p:sp>
        <p:nvSpPr>
          <p:cNvPr id="135" name="Text 117"/>
          <p:cNvSpPr txBox="1"/>
          <p:nvPr/>
        </p:nvSpPr>
        <p:spPr>
          <a:xfrm>
            <a:off x="6389553" y="4660880"/>
            <a:ext cx="354421" cy="88880"/>
          </a:xfrm>
          <a:prstGeom prst="rect">
            <a:avLst/>
          </a:prstGeom>
          <a:noFill/>
          <a:ln/>
        </p:spPr>
        <p:txBody>
          <a:bodyPr wrap="none" lIns="0" tIns="0" rIns="0" bIns="0" rtlCol="0" anchor="t"/>
          <a:lstStyle/>
          <a:p>
            <a:pPr algn="l" indent="0" marL="0">
              <a:buNone/>
            </a:pPr>
            <a:r>
              <a:rPr lang="en-US" sz="575" dirty="0">
                <a:solidFill>
                  <a:srgbClr val="8C7368"/>
                </a:solidFill>
                <a:latin typeface="Inter SemiBold" pitchFamily="34" charset="0"/>
                <a:ea typeface="Inter SemiBold" pitchFamily="34" charset="-122"/>
                <a:cs typeface="Inter SemiBold" pitchFamily="34" charset="-120"/>
              </a:rPr>
              <a:t>Supplier</a:t>
            </a:r>
            <a:endParaRPr lang="en-US" sz="575" dirty="0"/>
          </a:p>
        </p:txBody>
      </p:sp>
      <p:sp>
        <p:nvSpPr>
          <p:cNvPr id="136" name="Shape 118"/>
          <p:cNvSpPr/>
          <p:nvPr/>
        </p:nvSpPr>
        <p:spPr>
          <a:xfrm>
            <a:off x="7451720" y="4629150"/>
            <a:ext cx="1413480" cy="155539"/>
          </a:xfrm>
          <a:prstGeom prst="rect">
            <a:avLst/>
          </a:prstGeom>
          <a:ln/>
        </p:spPr>
      </p:sp>
      <p:sp>
        <p:nvSpPr>
          <p:cNvPr id="137" name="Shape 119"/>
          <p:cNvSpPr/>
          <p:nvPr/>
        </p:nvSpPr>
        <p:spPr>
          <a:xfrm>
            <a:off x="7451720" y="4781580"/>
            <a:ext cx="1413480" cy="0"/>
          </a:xfrm>
          <a:prstGeom prst="line">
            <a:avLst/>
          </a:prstGeom>
          <a:noFill/>
          <a:ln w="6350">
            <a:solidFill>
              <a:srgbClr val="24110C">
                <a:alpha val="13000"/>
              </a:srgbClr>
            </a:solidFill>
            <a:prstDash val="solid"/>
          </a:ln>
        </p:spPr>
      </p:sp>
      <p:sp>
        <p:nvSpPr>
          <p:cNvPr id="138" name="Text 120"/>
          <p:cNvSpPr txBox="1"/>
          <p:nvPr/>
        </p:nvSpPr>
        <p:spPr>
          <a:xfrm>
            <a:off x="7489850" y="4660880"/>
            <a:ext cx="236464" cy="88880"/>
          </a:xfrm>
          <a:prstGeom prst="rect">
            <a:avLst/>
          </a:prstGeom>
          <a:noFill/>
          <a:ln/>
        </p:spPr>
        <p:txBody>
          <a:bodyPr wrap="none" lIns="0" tIns="0" rIns="0" bIns="0" rtlCol="0" anchor="t"/>
          <a:lstStyle/>
          <a:p>
            <a:pPr algn="l" indent="0" marL="0">
              <a:buNone/>
            </a:pPr>
            <a:r>
              <a:rPr lang="en-US" sz="575" dirty="0">
                <a:solidFill>
                  <a:srgbClr val="8C7368"/>
                </a:solidFill>
                <a:latin typeface="Inter SemiBold" pitchFamily="34" charset="0"/>
                <a:ea typeface="Inter SemiBold" pitchFamily="34" charset="-122"/>
                <a:cs typeface="Inter SemiBold" pitchFamily="34" charset="-120"/>
              </a:rPr>
              <a:t>Issue</a:t>
            </a:r>
            <a:endParaRPr lang="en-US" sz="575" dirty="0"/>
          </a:p>
        </p:txBody>
      </p:sp>
      <p:sp>
        <p:nvSpPr>
          <p:cNvPr id="139" name="Shape 121"/>
          <p:cNvSpPr/>
          <p:nvPr/>
        </p:nvSpPr>
        <p:spPr>
          <a:xfrm>
            <a:off x="8865199" y="4629150"/>
            <a:ext cx="532272" cy="155539"/>
          </a:xfrm>
          <a:prstGeom prst="rect">
            <a:avLst/>
          </a:prstGeom>
          <a:ln/>
        </p:spPr>
      </p:sp>
      <p:sp>
        <p:nvSpPr>
          <p:cNvPr id="140" name="Shape 122"/>
          <p:cNvSpPr/>
          <p:nvPr/>
        </p:nvSpPr>
        <p:spPr>
          <a:xfrm>
            <a:off x="8865199" y="4781580"/>
            <a:ext cx="532272" cy="0"/>
          </a:xfrm>
          <a:prstGeom prst="line">
            <a:avLst/>
          </a:prstGeom>
          <a:noFill/>
          <a:ln w="6350">
            <a:solidFill>
              <a:srgbClr val="24110C">
                <a:alpha val="13000"/>
              </a:srgbClr>
            </a:solidFill>
            <a:prstDash val="solid"/>
          </a:ln>
        </p:spPr>
      </p:sp>
      <p:sp>
        <p:nvSpPr>
          <p:cNvPr id="141" name="Text 123"/>
          <p:cNvSpPr txBox="1"/>
          <p:nvPr/>
        </p:nvSpPr>
        <p:spPr>
          <a:xfrm>
            <a:off x="9081089" y="4660880"/>
            <a:ext cx="278343" cy="88880"/>
          </a:xfrm>
          <a:prstGeom prst="rect">
            <a:avLst/>
          </a:prstGeom>
          <a:noFill/>
          <a:ln/>
        </p:spPr>
        <p:txBody>
          <a:bodyPr wrap="none" lIns="0" tIns="0" rIns="0" bIns="0" rtlCol="0" anchor="t"/>
          <a:lstStyle/>
          <a:p>
            <a:pPr algn="r" indent="0" marL="0">
              <a:buNone/>
            </a:pPr>
            <a:r>
              <a:rPr lang="en-US" sz="575" dirty="0">
                <a:solidFill>
                  <a:srgbClr val="8C7368"/>
                </a:solidFill>
                <a:latin typeface="Inter SemiBold" pitchFamily="34" charset="0"/>
                <a:ea typeface="Inter SemiBold" pitchFamily="34" charset="-122"/>
                <a:cs typeface="Inter SemiBold" pitchFamily="34" charset="-120"/>
              </a:rPr>
              <a:t>At risk</a:t>
            </a:r>
            <a:endParaRPr lang="en-US" sz="575" dirty="0"/>
          </a:p>
        </p:txBody>
      </p:sp>
      <p:sp>
        <p:nvSpPr>
          <p:cNvPr id="142" name="Shape 124"/>
          <p:cNvSpPr/>
          <p:nvPr/>
        </p:nvSpPr>
        <p:spPr>
          <a:xfrm>
            <a:off x="9397472" y="4629150"/>
            <a:ext cx="618043" cy="155539"/>
          </a:xfrm>
          <a:prstGeom prst="rect">
            <a:avLst/>
          </a:prstGeom>
          <a:ln/>
        </p:spPr>
      </p:sp>
      <p:sp>
        <p:nvSpPr>
          <p:cNvPr id="143" name="Shape 125"/>
          <p:cNvSpPr/>
          <p:nvPr/>
        </p:nvSpPr>
        <p:spPr>
          <a:xfrm>
            <a:off x="9397472" y="4781580"/>
            <a:ext cx="618043" cy="0"/>
          </a:xfrm>
          <a:prstGeom prst="line">
            <a:avLst/>
          </a:prstGeom>
          <a:noFill/>
          <a:ln w="6350">
            <a:solidFill>
              <a:srgbClr val="24110C">
                <a:alpha val="13000"/>
              </a:srgbClr>
            </a:solidFill>
            <a:prstDash val="solid"/>
          </a:ln>
        </p:spPr>
      </p:sp>
      <p:sp>
        <p:nvSpPr>
          <p:cNvPr id="144" name="Text 126"/>
          <p:cNvSpPr txBox="1"/>
          <p:nvPr/>
        </p:nvSpPr>
        <p:spPr>
          <a:xfrm>
            <a:off x="9492752" y="4660880"/>
            <a:ext cx="484723" cy="88880"/>
          </a:xfrm>
          <a:prstGeom prst="rect">
            <a:avLst/>
          </a:prstGeom>
          <a:noFill/>
          <a:ln/>
        </p:spPr>
        <p:txBody>
          <a:bodyPr wrap="none" lIns="0" tIns="0" rIns="0" bIns="0" rtlCol="0" anchor="t"/>
          <a:lstStyle/>
          <a:p>
            <a:pPr algn="r" indent="0" marL="0">
              <a:buNone/>
            </a:pPr>
            <a:r>
              <a:rPr lang="en-US" sz="575" dirty="0">
                <a:solidFill>
                  <a:srgbClr val="8C7368"/>
                </a:solidFill>
                <a:latin typeface="Inter SemiBold" pitchFamily="34" charset="0"/>
                <a:ea typeface="Inter SemiBold" pitchFamily="34" charset="-122"/>
                <a:cs typeface="Inter SemiBold" pitchFamily="34" charset="-120"/>
              </a:rPr>
              <a:t>Confidence</a:t>
            </a:r>
            <a:endParaRPr lang="en-US" sz="575" dirty="0"/>
          </a:p>
        </p:txBody>
      </p:sp>
      <p:sp>
        <p:nvSpPr>
          <p:cNvPr id="145" name="Shape 127"/>
          <p:cNvSpPr/>
          <p:nvPr/>
        </p:nvSpPr>
        <p:spPr>
          <a:xfrm>
            <a:off x="10015515" y="4629150"/>
            <a:ext cx="1084296" cy="155539"/>
          </a:xfrm>
          <a:prstGeom prst="rect">
            <a:avLst/>
          </a:prstGeom>
          <a:ln/>
        </p:spPr>
      </p:sp>
      <p:sp>
        <p:nvSpPr>
          <p:cNvPr id="146" name="Shape 128"/>
          <p:cNvSpPr/>
          <p:nvPr/>
        </p:nvSpPr>
        <p:spPr>
          <a:xfrm>
            <a:off x="10015515" y="4781580"/>
            <a:ext cx="1084296" cy="0"/>
          </a:xfrm>
          <a:prstGeom prst="line">
            <a:avLst/>
          </a:prstGeom>
          <a:noFill/>
          <a:ln w="6350">
            <a:solidFill>
              <a:srgbClr val="24110C">
                <a:alpha val="13000"/>
              </a:srgbClr>
            </a:solidFill>
            <a:prstDash val="solid"/>
          </a:ln>
        </p:spPr>
      </p:sp>
      <p:sp>
        <p:nvSpPr>
          <p:cNvPr id="147" name="Shape 129"/>
          <p:cNvSpPr/>
          <p:nvPr/>
        </p:nvSpPr>
        <p:spPr>
          <a:xfrm>
            <a:off x="5499110" y="4784689"/>
            <a:ext cx="852404" cy="234909"/>
          </a:xfrm>
          <a:prstGeom prst="rect">
            <a:avLst/>
          </a:prstGeom>
          <a:ln/>
        </p:spPr>
      </p:sp>
      <p:sp>
        <p:nvSpPr>
          <p:cNvPr id="148" name="Shape 130"/>
          <p:cNvSpPr/>
          <p:nvPr/>
        </p:nvSpPr>
        <p:spPr>
          <a:xfrm>
            <a:off x="5499110" y="5016490"/>
            <a:ext cx="852404" cy="0"/>
          </a:xfrm>
          <a:prstGeom prst="line">
            <a:avLst/>
          </a:prstGeom>
          <a:noFill/>
          <a:ln w="6350">
            <a:solidFill>
              <a:srgbClr val="24110C">
                <a:alpha val="7000"/>
              </a:srgbClr>
            </a:solidFill>
            <a:prstDash val="solid"/>
          </a:ln>
        </p:spPr>
      </p:sp>
      <p:sp>
        <p:nvSpPr>
          <p:cNvPr id="149" name="Text 131"/>
          <p:cNvSpPr txBox="1"/>
          <p:nvPr/>
        </p:nvSpPr>
        <p:spPr>
          <a:xfrm>
            <a:off x="5537241" y="4848240"/>
            <a:ext cx="413766" cy="107991"/>
          </a:xfrm>
          <a:prstGeom prst="rect">
            <a:avLst/>
          </a:prstGeom>
          <a:noFill/>
          <a:ln/>
        </p:spPr>
        <p:txBody>
          <a:bodyPr wrap="none" lIns="0" tIns="0" rIns="0" bIns="0" rtlCol="0" anchor="t"/>
          <a:lstStyle/>
          <a:p>
            <a:pPr algn="l"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MT-8821</a:t>
            </a:r>
            <a:endParaRPr lang="en-US" sz="650" dirty="0"/>
          </a:p>
        </p:txBody>
      </p:sp>
      <p:sp>
        <p:nvSpPr>
          <p:cNvPr id="150" name="Shape 132"/>
          <p:cNvSpPr/>
          <p:nvPr/>
        </p:nvSpPr>
        <p:spPr>
          <a:xfrm>
            <a:off x="6351514" y="4784689"/>
            <a:ext cx="1100206" cy="234909"/>
          </a:xfrm>
          <a:prstGeom prst="rect">
            <a:avLst/>
          </a:prstGeom>
          <a:ln/>
        </p:spPr>
      </p:sp>
      <p:sp>
        <p:nvSpPr>
          <p:cNvPr id="151" name="Shape 133"/>
          <p:cNvSpPr/>
          <p:nvPr/>
        </p:nvSpPr>
        <p:spPr>
          <a:xfrm>
            <a:off x="6351514" y="5016490"/>
            <a:ext cx="1100206" cy="0"/>
          </a:xfrm>
          <a:prstGeom prst="line">
            <a:avLst/>
          </a:prstGeom>
          <a:noFill/>
          <a:ln w="6350">
            <a:solidFill>
              <a:srgbClr val="24110C">
                <a:alpha val="7000"/>
              </a:srgbClr>
            </a:solidFill>
            <a:prstDash val="solid"/>
          </a:ln>
        </p:spPr>
      </p:sp>
      <p:sp>
        <p:nvSpPr>
          <p:cNvPr id="152" name="Text 134"/>
          <p:cNvSpPr txBox="1"/>
          <p:nvPr/>
        </p:nvSpPr>
        <p:spPr>
          <a:xfrm>
            <a:off x="6389553" y="4851441"/>
            <a:ext cx="592988" cy="101590"/>
          </a:xfrm>
          <a:prstGeom prst="rect">
            <a:avLst/>
          </a:prstGeom>
          <a:noFill/>
          <a:ln/>
        </p:spPr>
        <p:txBody>
          <a:bodyPr wrap="none" lIns="0" tIns="0" rIns="0" bIns="0" rtlCol="0" anchor="t"/>
          <a:lstStyle/>
          <a:p>
            <a:pPr algn="l" indent="0" marL="0">
              <a:buNone/>
            </a:pPr>
            <a:r>
              <a:rPr lang="en-US" sz="650" dirty="0">
                <a:solidFill>
                  <a:srgbClr val="24110C"/>
                </a:solidFill>
                <a:latin typeface="Inter" pitchFamily="34" charset="0"/>
                <a:ea typeface="Inter" pitchFamily="34" charset="-122"/>
                <a:cs typeface="Inter" pitchFamily="34" charset="-120"/>
              </a:rPr>
              <a:t>Om Logistics</a:t>
            </a:r>
            <a:endParaRPr lang="en-US" sz="650" dirty="0"/>
          </a:p>
        </p:txBody>
      </p:sp>
      <p:sp>
        <p:nvSpPr>
          <p:cNvPr id="153" name="Shape 135"/>
          <p:cNvSpPr/>
          <p:nvPr/>
        </p:nvSpPr>
        <p:spPr>
          <a:xfrm>
            <a:off x="7451720" y="4784689"/>
            <a:ext cx="1413480" cy="234909"/>
          </a:xfrm>
          <a:prstGeom prst="rect">
            <a:avLst/>
          </a:prstGeom>
          <a:ln/>
        </p:spPr>
      </p:sp>
      <p:sp>
        <p:nvSpPr>
          <p:cNvPr id="154" name="Shape 136"/>
          <p:cNvSpPr/>
          <p:nvPr/>
        </p:nvSpPr>
        <p:spPr>
          <a:xfrm>
            <a:off x="7451720" y="5016490"/>
            <a:ext cx="1413480" cy="0"/>
          </a:xfrm>
          <a:prstGeom prst="line">
            <a:avLst/>
          </a:prstGeom>
          <a:noFill/>
          <a:ln w="6350">
            <a:solidFill>
              <a:srgbClr val="24110C">
                <a:alpha val="7000"/>
              </a:srgbClr>
            </a:solidFill>
            <a:prstDash val="solid"/>
          </a:ln>
        </p:spPr>
      </p:sp>
      <p:sp>
        <p:nvSpPr>
          <p:cNvPr id="155" name="Shape 137"/>
          <p:cNvSpPr/>
          <p:nvPr/>
        </p:nvSpPr>
        <p:spPr>
          <a:xfrm>
            <a:off x="7489850" y="4832330"/>
            <a:ext cx="748345" cy="139720"/>
          </a:xfrm>
          <a:prstGeom prst="roundRect">
            <a:avLst>
              <a:gd name="adj" fmla="val 50000"/>
            </a:avLst>
          </a:prstGeom>
          <a:solidFill>
            <a:srgbClr val="E6E2FB"/>
          </a:solidFill>
          <a:ln/>
        </p:spPr>
      </p:sp>
      <p:sp>
        <p:nvSpPr>
          <p:cNvPr id="156" name="Text 138"/>
          <p:cNvSpPr txBox="1"/>
          <p:nvPr/>
        </p:nvSpPr>
        <p:spPr>
          <a:xfrm>
            <a:off x="7553310" y="4851441"/>
            <a:ext cx="721279" cy="101590"/>
          </a:xfrm>
          <a:prstGeom prst="rect">
            <a:avLst/>
          </a:prstGeom>
          <a:noFill/>
          <a:ln/>
        </p:spPr>
        <p:txBody>
          <a:bodyPr wrap="none" lIns="0" tIns="0" rIns="0" bIns="0" rtlCol="0" anchor="t"/>
          <a:lstStyle/>
          <a:p>
            <a:pPr algn="l" indent="0" marL="0">
              <a:buNone/>
            </a:pPr>
            <a:r>
              <a:rPr lang="en-US" sz="650" dirty="0">
                <a:solidFill>
                  <a:srgbClr val="6957D6"/>
                </a:solidFill>
                <a:latin typeface="Inter SemiBold" pitchFamily="34" charset="0"/>
                <a:ea typeface="Inter SemiBold" pitchFamily="34" charset="-122"/>
                <a:cs typeface="Inter SemiBold" pitchFamily="34" charset="-120"/>
              </a:rPr>
              <a:t>Not in GSTR-2B</a:t>
            </a:r>
            <a:endParaRPr lang="en-US" sz="650" dirty="0"/>
          </a:p>
        </p:txBody>
      </p:sp>
      <p:sp>
        <p:nvSpPr>
          <p:cNvPr id="157" name="Shape 139"/>
          <p:cNvSpPr/>
          <p:nvPr/>
        </p:nvSpPr>
        <p:spPr>
          <a:xfrm>
            <a:off x="8865199" y="4784689"/>
            <a:ext cx="532272" cy="234909"/>
          </a:xfrm>
          <a:prstGeom prst="rect">
            <a:avLst/>
          </a:prstGeom>
          <a:ln/>
        </p:spPr>
      </p:sp>
      <p:sp>
        <p:nvSpPr>
          <p:cNvPr id="158" name="Shape 140"/>
          <p:cNvSpPr/>
          <p:nvPr/>
        </p:nvSpPr>
        <p:spPr>
          <a:xfrm>
            <a:off x="8865199" y="5016490"/>
            <a:ext cx="532272" cy="0"/>
          </a:xfrm>
          <a:prstGeom prst="line">
            <a:avLst/>
          </a:prstGeom>
          <a:noFill/>
          <a:ln w="6350">
            <a:solidFill>
              <a:srgbClr val="24110C">
                <a:alpha val="7000"/>
              </a:srgbClr>
            </a:solidFill>
            <a:prstDash val="solid"/>
          </a:ln>
        </p:spPr>
      </p:sp>
      <p:sp>
        <p:nvSpPr>
          <p:cNvPr id="159" name="Text 141"/>
          <p:cNvSpPr txBox="1"/>
          <p:nvPr/>
        </p:nvSpPr>
        <p:spPr>
          <a:xfrm>
            <a:off x="8950330" y="4848240"/>
            <a:ext cx="409103"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₹38,700</a:t>
            </a:r>
            <a:endParaRPr lang="en-US" sz="650" dirty="0"/>
          </a:p>
        </p:txBody>
      </p:sp>
      <p:sp>
        <p:nvSpPr>
          <p:cNvPr id="160" name="Shape 142"/>
          <p:cNvSpPr/>
          <p:nvPr/>
        </p:nvSpPr>
        <p:spPr>
          <a:xfrm>
            <a:off x="9397472" y="4784689"/>
            <a:ext cx="618043" cy="234909"/>
          </a:xfrm>
          <a:prstGeom prst="rect">
            <a:avLst/>
          </a:prstGeom>
          <a:ln/>
        </p:spPr>
      </p:sp>
      <p:sp>
        <p:nvSpPr>
          <p:cNvPr id="161" name="Shape 143"/>
          <p:cNvSpPr/>
          <p:nvPr/>
        </p:nvSpPr>
        <p:spPr>
          <a:xfrm>
            <a:off x="9397472" y="5016490"/>
            <a:ext cx="618043" cy="0"/>
          </a:xfrm>
          <a:prstGeom prst="line">
            <a:avLst/>
          </a:prstGeom>
          <a:noFill/>
          <a:ln w="6350">
            <a:solidFill>
              <a:srgbClr val="24110C">
                <a:alpha val="7000"/>
              </a:srgbClr>
            </a:solidFill>
            <a:prstDash val="solid"/>
          </a:ln>
        </p:spPr>
      </p:sp>
      <p:sp>
        <p:nvSpPr>
          <p:cNvPr id="162" name="Text 144"/>
          <p:cNvSpPr txBox="1"/>
          <p:nvPr/>
        </p:nvSpPr>
        <p:spPr>
          <a:xfrm>
            <a:off x="9730130" y="4848240"/>
            <a:ext cx="247345"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0.99</a:t>
            </a:r>
            <a:endParaRPr lang="en-US" sz="650" dirty="0"/>
          </a:p>
        </p:txBody>
      </p:sp>
      <p:sp>
        <p:nvSpPr>
          <p:cNvPr id="163" name="Shape 145"/>
          <p:cNvSpPr/>
          <p:nvPr/>
        </p:nvSpPr>
        <p:spPr>
          <a:xfrm>
            <a:off x="10015515" y="4784689"/>
            <a:ext cx="1084296" cy="234909"/>
          </a:xfrm>
          <a:prstGeom prst="rect">
            <a:avLst/>
          </a:prstGeom>
          <a:ln/>
        </p:spPr>
      </p:sp>
      <p:sp>
        <p:nvSpPr>
          <p:cNvPr id="164" name="Shape 146"/>
          <p:cNvSpPr/>
          <p:nvPr/>
        </p:nvSpPr>
        <p:spPr>
          <a:xfrm>
            <a:off x="10015515" y="5016490"/>
            <a:ext cx="1084296" cy="0"/>
          </a:xfrm>
          <a:prstGeom prst="line">
            <a:avLst/>
          </a:prstGeom>
          <a:noFill/>
          <a:ln w="6350">
            <a:solidFill>
              <a:srgbClr val="24110C">
                <a:alpha val="7000"/>
              </a:srgbClr>
            </a:solidFill>
            <a:prstDash val="solid"/>
          </a:ln>
        </p:spPr>
      </p:sp>
      <p:sp>
        <p:nvSpPr>
          <p:cNvPr id="165" name="Text 147"/>
          <p:cNvSpPr txBox="1"/>
          <p:nvPr/>
        </p:nvSpPr>
        <p:spPr>
          <a:xfrm>
            <a:off x="10353477" y="4851441"/>
            <a:ext cx="708294" cy="101590"/>
          </a:xfrm>
          <a:prstGeom prst="rect">
            <a:avLst/>
          </a:prstGeom>
          <a:noFill/>
          <a:ln/>
        </p:spPr>
        <p:txBody>
          <a:bodyPr wrap="none" lIns="0" tIns="0" rIns="0" bIns="0" rtlCol="0" anchor="t"/>
          <a:lstStyle/>
          <a:p>
            <a:pPr algn="r" indent="0" marL="0">
              <a:buNone/>
            </a:pPr>
            <a:r>
              <a:rPr lang="en-US" sz="650" dirty="0">
                <a:solidFill>
                  <a:srgbClr val="D2601A"/>
                </a:solidFill>
                <a:latin typeface="Inter SemiBold" pitchFamily="34" charset="0"/>
                <a:ea typeface="Inter SemiBold" pitchFamily="34" charset="-122"/>
                <a:cs typeface="Inter SemiBold" pitchFamily="34" charset="-120"/>
              </a:rPr>
              <a:t>Nudge supplier</a:t>
            </a:r>
            <a:endParaRPr lang="en-US" sz="650" dirty="0"/>
          </a:p>
        </p:txBody>
      </p:sp>
      <p:sp>
        <p:nvSpPr>
          <p:cNvPr id="166" name="Shape 148"/>
          <p:cNvSpPr/>
          <p:nvPr/>
        </p:nvSpPr>
        <p:spPr>
          <a:xfrm>
            <a:off x="5499110" y="5019690"/>
            <a:ext cx="852404" cy="234909"/>
          </a:xfrm>
          <a:prstGeom prst="rect">
            <a:avLst/>
          </a:prstGeom>
          <a:ln/>
        </p:spPr>
      </p:sp>
      <p:sp>
        <p:nvSpPr>
          <p:cNvPr id="167" name="Shape 149"/>
          <p:cNvSpPr/>
          <p:nvPr/>
        </p:nvSpPr>
        <p:spPr>
          <a:xfrm>
            <a:off x="5499110" y="5251491"/>
            <a:ext cx="852404" cy="0"/>
          </a:xfrm>
          <a:prstGeom prst="line">
            <a:avLst/>
          </a:prstGeom>
          <a:noFill/>
          <a:ln w="6350">
            <a:solidFill>
              <a:srgbClr val="24110C">
                <a:alpha val="7000"/>
              </a:srgbClr>
            </a:solidFill>
            <a:prstDash val="solid"/>
          </a:ln>
        </p:spPr>
      </p:sp>
      <p:sp>
        <p:nvSpPr>
          <p:cNvPr id="168" name="Text 150"/>
          <p:cNvSpPr txBox="1"/>
          <p:nvPr/>
        </p:nvSpPr>
        <p:spPr>
          <a:xfrm>
            <a:off x="5537241" y="5083150"/>
            <a:ext cx="691195" cy="107991"/>
          </a:xfrm>
          <a:prstGeom prst="rect">
            <a:avLst/>
          </a:prstGeom>
          <a:noFill/>
          <a:ln/>
        </p:spPr>
        <p:txBody>
          <a:bodyPr wrap="none" lIns="0" tIns="0" rIns="0" bIns="0" rtlCol="0" anchor="t"/>
          <a:lstStyle/>
          <a:p>
            <a:pPr algn="l"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UB/2526/1187</a:t>
            </a:r>
            <a:endParaRPr lang="en-US" sz="650" dirty="0"/>
          </a:p>
        </p:txBody>
      </p:sp>
      <p:sp>
        <p:nvSpPr>
          <p:cNvPr id="169" name="Shape 151"/>
          <p:cNvSpPr/>
          <p:nvPr/>
        </p:nvSpPr>
        <p:spPr>
          <a:xfrm>
            <a:off x="6351514" y="5019690"/>
            <a:ext cx="1100206" cy="234909"/>
          </a:xfrm>
          <a:prstGeom prst="rect">
            <a:avLst/>
          </a:prstGeom>
          <a:ln/>
        </p:spPr>
      </p:sp>
      <p:sp>
        <p:nvSpPr>
          <p:cNvPr id="170" name="Shape 152"/>
          <p:cNvSpPr/>
          <p:nvPr/>
        </p:nvSpPr>
        <p:spPr>
          <a:xfrm>
            <a:off x="6351514" y="5251491"/>
            <a:ext cx="1100206" cy="0"/>
          </a:xfrm>
          <a:prstGeom prst="line">
            <a:avLst/>
          </a:prstGeom>
          <a:noFill/>
          <a:ln w="6350">
            <a:solidFill>
              <a:srgbClr val="24110C">
                <a:alpha val="7000"/>
              </a:srgbClr>
            </a:solidFill>
            <a:prstDash val="solid"/>
          </a:ln>
        </p:spPr>
      </p:sp>
      <p:sp>
        <p:nvSpPr>
          <p:cNvPr id="171" name="Text 153"/>
          <p:cNvSpPr txBox="1"/>
          <p:nvPr/>
        </p:nvSpPr>
        <p:spPr>
          <a:xfrm>
            <a:off x="6389553" y="5086350"/>
            <a:ext cx="866577" cy="101590"/>
          </a:xfrm>
          <a:prstGeom prst="rect">
            <a:avLst/>
          </a:prstGeom>
          <a:noFill/>
          <a:ln/>
        </p:spPr>
        <p:txBody>
          <a:bodyPr wrap="none" lIns="0" tIns="0" rIns="0" bIns="0" rtlCol="0" anchor="t"/>
          <a:lstStyle/>
          <a:p>
            <a:pPr algn="l" indent="0" marL="0">
              <a:buNone/>
            </a:pPr>
            <a:r>
              <a:rPr lang="en-US" sz="650" dirty="0">
                <a:solidFill>
                  <a:srgbClr val="24110C"/>
                </a:solidFill>
                <a:latin typeface="Inter" pitchFamily="34" charset="0"/>
                <a:ea typeface="Inter" pitchFamily="34" charset="-122"/>
                <a:cs typeface="Inter" pitchFamily="34" charset="-120"/>
              </a:rPr>
              <a:t>UltraBuild Cements</a:t>
            </a:r>
            <a:endParaRPr lang="en-US" sz="650" dirty="0"/>
          </a:p>
        </p:txBody>
      </p:sp>
      <p:sp>
        <p:nvSpPr>
          <p:cNvPr id="172" name="Shape 154"/>
          <p:cNvSpPr/>
          <p:nvPr/>
        </p:nvSpPr>
        <p:spPr>
          <a:xfrm>
            <a:off x="7451720" y="5019690"/>
            <a:ext cx="1413480" cy="234909"/>
          </a:xfrm>
          <a:prstGeom prst="rect">
            <a:avLst/>
          </a:prstGeom>
          <a:ln/>
        </p:spPr>
      </p:sp>
      <p:sp>
        <p:nvSpPr>
          <p:cNvPr id="173" name="Shape 155"/>
          <p:cNvSpPr/>
          <p:nvPr/>
        </p:nvSpPr>
        <p:spPr>
          <a:xfrm>
            <a:off x="7451720" y="5251491"/>
            <a:ext cx="1413480" cy="0"/>
          </a:xfrm>
          <a:prstGeom prst="line">
            <a:avLst/>
          </a:prstGeom>
          <a:noFill/>
          <a:ln w="6350">
            <a:solidFill>
              <a:srgbClr val="24110C">
                <a:alpha val="7000"/>
              </a:srgbClr>
            </a:solidFill>
            <a:prstDash val="solid"/>
          </a:ln>
        </p:spPr>
      </p:sp>
      <p:sp>
        <p:nvSpPr>
          <p:cNvPr id="174" name="Shape 156"/>
          <p:cNvSpPr/>
          <p:nvPr/>
        </p:nvSpPr>
        <p:spPr>
          <a:xfrm>
            <a:off x="7489850" y="5067330"/>
            <a:ext cx="1035832" cy="139720"/>
          </a:xfrm>
          <a:prstGeom prst="roundRect">
            <a:avLst>
              <a:gd name="adj" fmla="val 50000"/>
            </a:avLst>
          </a:prstGeom>
          <a:solidFill>
            <a:srgbClr val="FBE1DF"/>
          </a:solidFill>
          <a:ln/>
        </p:spPr>
      </p:sp>
      <p:sp>
        <p:nvSpPr>
          <p:cNvPr id="175" name="Text 157"/>
          <p:cNvSpPr txBox="1"/>
          <p:nvPr/>
        </p:nvSpPr>
        <p:spPr>
          <a:xfrm>
            <a:off x="7553310" y="5086350"/>
            <a:ext cx="1043330" cy="101590"/>
          </a:xfrm>
          <a:prstGeom prst="rect">
            <a:avLst/>
          </a:prstGeom>
          <a:noFill/>
          <a:ln/>
        </p:spPr>
        <p:txBody>
          <a:bodyPr wrap="none" lIns="0" tIns="0" rIns="0" bIns="0" rtlCol="0" anchor="t"/>
          <a:lstStyle/>
          <a:p>
            <a:pPr algn="l" indent="0" marL="0">
              <a:buNone/>
            </a:pPr>
            <a:r>
              <a:rPr lang="en-US" sz="650" dirty="0">
                <a:solidFill>
                  <a:srgbClr val="D64545"/>
                </a:solidFill>
                <a:latin typeface="Inter SemiBold" pitchFamily="34" charset="0"/>
                <a:ea typeface="Inter SemiBold" pitchFamily="34" charset="-122"/>
                <a:cs typeface="Inter SemiBold" pitchFamily="34" charset="-120"/>
              </a:rPr>
              <a:t>Billed 28%, rate is 18%</a:t>
            </a:r>
            <a:endParaRPr lang="en-US" sz="650" dirty="0"/>
          </a:p>
        </p:txBody>
      </p:sp>
      <p:sp>
        <p:nvSpPr>
          <p:cNvPr id="176" name="Shape 158"/>
          <p:cNvSpPr/>
          <p:nvPr/>
        </p:nvSpPr>
        <p:spPr>
          <a:xfrm>
            <a:off x="8865199" y="5019690"/>
            <a:ext cx="532272" cy="234909"/>
          </a:xfrm>
          <a:prstGeom prst="rect">
            <a:avLst/>
          </a:prstGeom>
          <a:ln/>
        </p:spPr>
      </p:sp>
      <p:sp>
        <p:nvSpPr>
          <p:cNvPr id="177" name="Shape 159"/>
          <p:cNvSpPr/>
          <p:nvPr/>
        </p:nvSpPr>
        <p:spPr>
          <a:xfrm>
            <a:off x="8865199" y="5251491"/>
            <a:ext cx="532272" cy="0"/>
          </a:xfrm>
          <a:prstGeom prst="line">
            <a:avLst/>
          </a:prstGeom>
          <a:noFill/>
          <a:ln w="6350">
            <a:solidFill>
              <a:srgbClr val="24110C">
                <a:alpha val="7000"/>
              </a:srgbClr>
            </a:solidFill>
            <a:prstDash val="solid"/>
          </a:ln>
        </p:spPr>
      </p:sp>
      <p:sp>
        <p:nvSpPr>
          <p:cNvPr id="178" name="Text 160"/>
          <p:cNvSpPr txBox="1"/>
          <p:nvPr/>
        </p:nvSpPr>
        <p:spPr>
          <a:xfrm>
            <a:off x="8950330" y="5083150"/>
            <a:ext cx="409103"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₹42,000</a:t>
            </a:r>
            <a:endParaRPr lang="en-US" sz="650" dirty="0"/>
          </a:p>
        </p:txBody>
      </p:sp>
      <p:sp>
        <p:nvSpPr>
          <p:cNvPr id="179" name="Shape 161"/>
          <p:cNvSpPr/>
          <p:nvPr/>
        </p:nvSpPr>
        <p:spPr>
          <a:xfrm>
            <a:off x="9397472" y="5019690"/>
            <a:ext cx="618043" cy="234909"/>
          </a:xfrm>
          <a:prstGeom prst="rect">
            <a:avLst/>
          </a:prstGeom>
          <a:ln/>
        </p:spPr>
      </p:sp>
      <p:sp>
        <p:nvSpPr>
          <p:cNvPr id="180" name="Shape 162"/>
          <p:cNvSpPr/>
          <p:nvPr/>
        </p:nvSpPr>
        <p:spPr>
          <a:xfrm>
            <a:off x="9397472" y="5251491"/>
            <a:ext cx="618043" cy="0"/>
          </a:xfrm>
          <a:prstGeom prst="line">
            <a:avLst/>
          </a:prstGeom>
          <a:noFill/>
          <a:ln w="6350">
            <a:solidFill>
              <a:srgbClr val="24110C">
                <a:alpha val="7000"/>
              </a:srgbClr>
            </a:solidFill>
            <a:prstDash val="solid"/>
          </a:ln>
        </p:spPr>
      </p:sp>
      <p:sp>
        <p:nvSpPr>
          <p:cNvPr id="181" name="Text 163"/>
          <p:cNvSpPr txBox="1"/>
          <p:nvPr/>
        </p:nvSpPr>
        <p:spPr>
          <a:xfrm>
            <a:off x="9730130" y="5083150"/>
            <a:ext cx="247345"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0.98</a:t>
            </a:r>
            <a:endParaRPr lang="en-US" sz="650" dirty="0"/>
          </a:p>
        </p:txBody>
      </p:sp>
      <p:sp>
        <p:nvSpPr>
          <p:cNvPr id="182" name="Shape 164"/>
          <p:cNvSpPr/>
          <p:nvPr/>
        </p:nvSpPr>
        <p:spPr>
          <a:xfrm>
            <a:off x="10015515" y="5019690"/>
            <a:ext cx="1084296" cy="234909"/>
          </a:xfrm>
          <a:prstGeom prst="rect">
            <a:avLst/>
          </a:prstGeom>
          <a:ln/>
        </p:spPr>
      </p:sp>
      <p:sp>
        <p:nvSpPr>
          <p:cNvPr id="183" name="Shape 165"/>
          <p:cNvSpPr/>
          <p:nvPr/>
        </p:nvSpPr>
        <p:spPr>
          <a:xfrm>
            <a:off x="10015515" y="5251491"/>
            <a:ext cx="1084296" cy="0"/>
          </a:xfrm>
          <a:prstGeom prst="line">
            <a:avLst/>
          </a:prstGeom>
          <a:noFill/>
          <a:ln w="6350">
            <a:solidFill>
              <a:srgbClr val="24110C">
                <a:alpha val="7000"/>
              </a:srgbClr>
            </a:solidFill>
            <a:prstDash val="solid"/>
          </a:ln>
        </p:spPr>
      </p:sp>
      <p:sp>
        <p:nvSpPr>
          <p:cNvPr id="184" name="Text 166"/>
          <p:cNvSpPr txBox="1"/>
          <p:nvPr/>
        </p:nvSpPr>
        <p:spPr>
          <a:xfrm>
            <a:off x="10166391" y="5086350"/>
            <a:ext cx="895289" cy="101590"/>
          </a:xfrm>
          <a:prstGeom prst="rect">
            <a:avLst/>
          </a:prstGeom>
          <a:noFill/>
          <a:ln/>
        </p:spPr>
        <p:txBody>
          <a:bodyPr wrap="none" lIns="0" tIns="0" rIns="0" bIns="0" rtlCol="0" anchor="t"/>
          <a:lstStyle/>
          <a:p>
            <a:pPr algn="r" indent="0" marL="0">
              <a:buNone/>
            </a:pPr>
            <a:r>
              <a:rPr lang="en-US" sz="650" dirty="0">
                <a:solidFill>
                  <a:srgbClr val="D2601A"/>
                </a:solidFill>
                <a:latin typeface="Inter SemiBold" pitchFamily="34" charset="0"/>
                <a:ea typeface="Inter SemiBold" pitchFamily="34" charset="-122"/>
                <a:cs typeface="Inter SemiBold" pitchFamily="34" charset="-120"/>
              </a:rPr>
              <a:t>Request credit note</a:t>
            </a:r>
            <a:endParaRPr lang="en-US" sz="650" dirty="0"/>
          </a:p>
        </p:txBody>
      </p:sp>
      <p:sp>
        <p:nvSpPr>
          <p:cNvPr id="185" name="Shape 167"/>
          <p:cNvSpPr/>
          <p:nvPr/>
        </p:nvSpPr>
        <p:spPr>
          <a:xfrm>
            <a:off x="5499110" y="5254600"/>
            <a:ext cx="852404" cy="234909"/>
          </a:xfrm>
          <a:prstGeom prst="rect">
            <a:avLst/>
          </a:prstGeom>
          <a:ln/>
        </p:spPr>
      </p:sp>
      <p:sp>
        <p:nvSpPr>
          <p:cNvPr id="186" name="Shape 168"/>
          <p:cNvSpPr/>
          <p:nvPr/>
        </p:nvSpPr>
        <p:spPr>
          <a:xfrm>
            <a:off x="5499110" y="5486400"/>
            <a:ext cx="852404" cy="0"/>
          </a:xfrm>
          <a:prstGeom prst="line">
            <a:avLst/>
          </a:prstGeom>
          <a:noFill/>
          <a:ln w="6350">
            <a:solidFill>
              <a:srgbClr val="24110C">
                <a:alpha val="7000"/>
              </a:srgbClr>
            </a:solidFill>
            <a:prstDash val="solid"/>
          </a:ln>
        </p:spPr>
      </p:sp>
      <p:sp>
        <p:nvSpPr>
          <p:cNvPr id="187" name="Text 169"/>
          <p:cNvSpPr txBox="1"/>
          <p:nvPr/>
        </p:nvSpPr>
        <p:spPr>
          <a:xfrm>
            <a:off x="5537241" y="5318150"/>
            <a:ext cx="413766" cy="107991"/>
          </a:xfrm>
          <a:prstGeom prst="rect">
            <a:avLst/>
          </a:prstGeom>
          <a:noFill/>
          <a:ln/>
        </p:spPr>
        <p:txBody>
          <a:bodyPr wrap="none" lIns="0" tIns="0" rIns="0" bIns="0" rtlCol="0" anchor="t"/>
          <a:lstStyle/>
          <a:p>
            <a:pPr algn="l"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RX-1102</a:t>
            </a:r>
            <a:endParaRPr lang="en-US" sz="650" dirty="0"/>
          </a:p>
        </p:txBody>
      </p:sp>
      <p:sp>
        <p:nvSpPr>
          <p:cNvPr id="188" name="Shape 170"/>
          <p:cNvSpPr/>
          <p:nvPr/>
        </p:nvSpPr>
        <p:spPr>
          <a:xfrm>
            <a:off x="6351514" y="5254600"/>
            <a:ext cx="1100206" cy="234909"/>
          </a:xfrm>
          <a:prstGeom prst="rect">
            <a:avLst/>
          </a:prstGeom>
          <a:ln/>
        </p:spPr>
      </p:sp>
      <p:sp>
        <p:nvSpPr>
          <p:cNvPr id="189" name="Shape 171"/>
          <p:cNvSpPr/>
          <p:nvPr/>
        </p:nvSpPr>
        <p:spPr>
          <a:xfrm>
            <a:off x="6351514" y="5486400"/>
            <a:ext cx="1100206" cy="0"/>
          </a:xfrm>
          <a:prstGeom prst="line">
            <a:avLst/>
          </a:prstGeom>
          <a:noFill/>
          <a:ln w="6350">
            <a:solidFill>
              <a:srgbClr val="24110C">
                <a:alpha val="7000"/>
              </a:srgbClr>
            </a:solidFill>
            <a:prstDash val="solid"/>
          </a:ln>
        </p:spPr>
      </p:sp>
      <p:sp>
        <p:nvSpPr>
          <p:cNvPr id="190" name="Text 172"/>
          <p:cNvSpPr txBox="1"/>
          <p:nvPr/>
        </p:nvSpPr>
        <p:spPr>
          <a:xfrm>
            <a:off x="6389553" y="5321259"/>
            <a:ext cx="909554" cy="101590"/>
          </a:xfrm>
          <a:prstGeom prst="rect">
            <a:avLst/>
          </a:prstGeom>
          <a:noFill/>
          <a:ln/>
        </p:spPr>
        <p:txBody>
          <a:bodyPr wrap="none" lIns="0" tIns="0" rIns="0" bIns="0" rtlCol="0" anchor="t"/>
          <a:lstStyle/>
          <a:p>
            <a:pPr algn="l" indent="0" marL="0">
              <a:buNone/>
            </a:pPr>
            <a:r>
              <a:rPr lang="en-US" sz="650" dirty="0">
                <a:solidFill>
                  <a:srgbClr val="24110C"/>
                </a:solidFill>
                <a:latin typeface="Inter" pitchFamily="34" charset="0"/>
                <a:ea typeface="Inter" pitchFamily="34" charset="-122"/>
                <a:cs typeface="Inter" pitchFamily="34" charset="-120"/>
              </a:rPr>
              <a:t>Vardhan Enterprises</a:t>
            </a:r>
            <a:endParaRPr lang="en-US" sz="650" dirty="0"/>
          </a:p>
        </p:txBody>
      </p:sp>
      <p:sp>
        <p:nvSpPr>
          <p:cNvPr id="191" name="Shape 173"/>
          <p:cNvSpPr/>
          <p:nvPr/>
        </p:nvSpPr>
        <p:spPr>
          <a:xfrm>
            <a:off x="7451720" y="5254600"/>
            <a:ext cx="1413480" cy="234909"/>
          </a:xfrm>
          <a:prstGeom prst="rect">
            <a:avLst/>
          </a:prstGeom>
          <a:ln/>
        </p:spPr>
      </p:sp>
      <p:sp>
        <p:nvSpPr>
          <p:cNvPr id="192" name="Shape 174"/>
          <p:cNvSpPr/>
          <p:nvPr/>
        </p:nvSpPr>
        <p:spPr>
          <a:xfrm>
            <a:off x="7451720" y="5486400"/>
            <a:ext cx="1413480" cy="0"/>
          </a:xfrm>
          <a:prstGeom prst="line">
            <a:avLst/>
          </a:prstGeom>
          <a:noFill/>
          <a:ln w="6350">
            <a:solidFill>
              <a:srgbClr val="24110C">
                <a:alpha val="7000"/>
              </a:srgbClr>
            </a:solidFill>
            <a:prstDash val="solid"/>
          </a:ln>
        </p:spPr>
      </p:sp>
      <p:sp>
        <p:nvSpPr>
          <p:cNvPr id="193" name="Shape 175"/>
          <p:cNvSpPr/>
          <p:nvPr/>
        </p:nvSpPr>
        <p:spPr>
          <a:xfrm>
            <a:off x="7489850" y="5302240"/>
            <a:ext cx="784738" cy="139720"/>
          </a:xfrm>
          <a:prstGeom prst="roundRect">
            <a:avLst>
              <a:gd name="adj" fmla="val 50000"/>
            </a:avLst>
          </a:prstGeom>
          <a:solidFill>
            <a:srgbClr val="FBE1DF"/>
          </a:solidFill>
          <a:ln/>
        </p:spPr>
      </p:sp>
      <p:sp>
        <p:nvSpPr>
          <p:cNvPr id="194" name="Text 176"/>
          <p:cNvSpPr txBox="1"/>
          <p:nvPr/>
        </p:nvSpPr>
        <p:spPr>
          <a:xfrm>
            <a:off x="7553310" y="5321259"/>
            <a:ext cx="762061" cy="101590"/>
          </a:xfrm>
          <a:prstGeom prst="rect">
            <a:avLst/>
          </a:prstGeom>
          <a:noFill/>
          <a:ln/>
        </p:spPr>
        <p:txBody>
          <a:bodyPr wrap="none" lIns="0" tIns="0" rIns="0" bIns="0" rtlCol="0" anchor="t"/>
          <a:lstStyle/>
          <a:p>
            <a:pPr algn="l" indent="0" marL="0">
              <a:buNone/>
            </a:pPr>
            <a:r>
              <a:rPr lang="en-US" sz="650" dirty="0">
                <a:solidFill>
                  <a:srgbClr val="D64545"/>
                </a:solidFill>
                <a:latin typeface="Inter SemiBold" pitchFamily="34" charset="0"/>
                <a:ea typeface="Inter SemiBold" pitchFamily="34" charset="-122"/>
                <a:cs typeface="Inter SemiBold" pitchFamily="34" charset="-120"/>
              </a:rPr>
              <a:t>Unpaid 186 days</a:t>
            </a:r>
            <a:endParaRPr lang="en-US" sz="650" dirty="0"/>
          </a:p>
        </p:txBody>
      </p:sp>
      <p:sp>
        <p:nvSpPr>
          <p:cNvPr id="195" name="Shape 177"/>
          <p:cNvSpPr/>
          <p:nvPr/>
        </p:nvSpPr>
        <p:spPr>
          <a:xfrm>
            <a:off x="8865199" y="5254600"/>
            <a:ext cx="532272" cy="234909"/>
          </a:xfrm>
          <a:prstGeom prst="rect">
            <a:avLst/>
          </a:prstGeom>
          <a:ln/>
        </p:spPr>
      </p:sp>
      <p:sp>
        <p:nvSpPr>
          <p:cNvPr id="196" name="Shape 178"/>
          <p:cNvSpPr/>
          <p:nvPr/>
        </p:nvSpPr>
        <p:spPr>
          <a:xfrm>
            <a:off x="8865199" y="5486400"/>
            <a:ext cx="532272" cy="0"/>
          </a:xfrm>
          <a:prstGeom prst="line">
            <a:avLst/>
          </a:prstGeom>
          <a:noFill/>
          <a:ln w="6350">
            <a:solidFill>
              <a:srgbClr val="24110C">
                <a:alpha val="7000"/>
              </a:srgbClr>
            </a:solidFill>
            <a:prstDash val="solid"/>
          </a:ln>
        </p:spPr>
      </p:sp>
      <p:sp>
        <p:nvSpPr>
          <p:cNvPr id="197" name="Text 179"/>
          <p:cNvSpPr txBox="1"/>
          <p:nvPr/>
        </p:nvSpPr>
        <p:spPr>
          <a:xfrm>
            <a:off x="8950330" y="5318150"/>
            <a:ext cx="409103"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₹22,050</a:t>
            </a:r>
            <a:endParaRPr lang="en-US" sz="650" dirty="0"/>
          </a:p>
        </p:txBody>
      </p:sp>
      <p:sp>
        <p:nvSpPr>
          <p:cNvPr id="198" name="Shape 180"/>
          <p:cNvSpPr/>
          <p:nvPr/>
        </p:nvSpPr>
        <p:spPr>
          <a:xfrm>
            <a:off x="9397472" y="5254600"/>
            <a:ext cx="618043" cy="234909"/>
          </a:xfrm>
          <a:prstGeom prst="rect">
            <a:avLst/>
          </a:prstGeom>
          <a:ln/>
        </p:spPr>
      </p:sp>
      <p:sp>
        <p:nvSpPr>
          <p:cNvPr id="199" name="Shape 181"/>
          <p:cNvSpPr/>
          <p:nvPr/>
        </p:nvSpPr>
        <p:spPr>
          <a:xfrm>
            <a:off x="9397472" y="5486400"/>
            <a:ext cx="618043" cy="0"/>
          </a:xfrm>
          <a:prstGeom prst="line">
            <a:avLst/>
          </a:prstGeom>
          <a:noFill/>
          <a:ln w="6350">
            <a:solidFill>
              <a:srgbClr val="24110C">
                <a:alpha val="7000"/>
              </a:srgbClr>
            </a:solidFill>
            <a:prstDash val="solid"/>
          </a:ln>
        </p:spPr>
      </p:sp>
      <p:sp>
        <p:nvSpPr>
          <p:cNvPr id="200" name="Text 182"/>
          <p:cNvSpPr txBox="1"/>
          <p:nvPr/>
        </p:nvSpPr>
        <p:spPr>
          <a:xfrm>
            <a:off x="9730130" y="5318150"/>
            <a:ext cx="247345"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1.00</a:t>
            </a:r>
            <a:endParaRPr lang="en-US" sz="650" dirty="0"/>
          </a:p>
        </p:txBody>
      </p:sp>
      <p:sp>
        <p:nvSpPr>
          <p:cNvPr id="201" name="Shape 183"/>
          <p:cNvSpPr/>
          <p:nvPr/>
        </p:nvSpPr>
        <p:spPr>
          <a:xfrm>
            <a:off x="10015515" y="5254600"/>
            <a:ext cx="1084296" cy="234909"/>
          </a:xfrm>
          <a:prstGeom prst="rect">
            <a:avLst/>
          </a:prstGeom>
          <a:ln/>
        </p:spPr>
      </p:sp>
      <p:sp>
        <p:nvSpPr>
          <p:cNvPr id="202" name="Shape 184"/>
          <p:cNvSpPr/>
          <p:nvPr/>
        </p:nvSpPr>
        <p:spPr>
          <a:xfrm>
            <a:off x="10015515" y="5486400"/>
            <a:ext cx="1084296" cy="0"/>
          </a:xfrm>
          <a:prstGeom prst="line">
            <a:avLst/>
          </a:prstGeom>
          <a:noFill/>
          <a:ln w="6350">
            <a:solidFill>
              <a:srgbClr val="24110C">
                <a:alpha val="7000"/>
              </a:srgbClr>
            </a:solidFill>
            <a:prstDash val="solid"/>
          </a:ln>
        </p:spPr>
      </p:sp>
      <p:sp>
        <p:nvSpPr>
          <p:cNvPr id="203" name="Text 185"/>
          <p:cNvSpPr txBox="1"/>
          <p:nvPr/>
        </p:nvSpPr>
        <p:spPr>
          <a:xfrm>
            <a:off x="10432481" y="5321259"/>
            <a:ext cx="629290" cy="101590"/>
          </a:xfrm>
          <a:prstGeom prst="rect">
            <a:avLst/>
          </a:prstGeom>
          <a:noFill/>
          <a:ln/>
        </p:spPr>
        <p:txBody>
          <a:bodyPr wrap="none" lIns="0" tIns="0" rIns="0" bIns="0" rtlCol="0" anchor="t"/>
          <a:lstStyle/>
          <a:p>
            <a:pPr algn="r" indent="0" marL="0">
              <a:buNone/>
            </a:pPr>
            <a:r>
              <a:rPr lang="en-US" sz="650" dirty="0">
                <a:solidFill>
                  <a:srgbClr val="D2601A"/>
                </a:solidFill>
                <a:latin typeface="Inter SemiBold" pitchFamily="34" charset="0"/>
                <a:ea typeface="Inter SemiBold" pitchFamily="34" charset="-122"/>
                <a:cs typeface="Inter SemiBold" pitchFamily="34" charset="-120"/>
              </a:rPr>
              <a:t>Draft reversal</a:t>
            </a:r>
            <a:endParaRPr lang="en-US" sz="650" dirty="0"/>
          </a:p>
        </p:txBody>
      </p:sp>
      <p:sp>
        <p:nvSpPr>
          <p:cNvPr id="204" name="Shape 186"/>
          <p:cNvSpPr/>
          <p:nvPr/>
        </p:nvSpPr>
        <p:spPr>
          <a:xfrm>
            <a:off x="5499110" y="5489600"/>
            <a:ext cx="852404" cy="234909"/>
          </a:xfrm>
          <a:prstGeom prst="rect">
            <a:avLst/>
          </a:prstGeom>
          <a:ln/>
        </p:spPr>
      </p:sp>
      <p:sp>
        <p:nvSpPr>
          <p:cNvPr id="205" name="Shape 187"/>
          <p:cNvSpPr/>
          <p:nvPr/>
        </p:nvSpPr>
        <p:spPr>
          <a:xfrm>
            <a:off x="5499110" y="5721309"/>
            <a:ext cx="852404" cy="0"/>
          </a:xfrm>
          <a:prstGeom prst="line">
            <a:avLst/>
          </a:prstGeom>
          <a:noFill/>
          <a:ln w="6350">
            <a:solidFill>
              <a:srgbClr val="24110C">
                <a:alpha val="7000"/>
              </a:srgbClr>
            </a:solidFill>
            <a:prstDash val="solid"/>
          </a:ln>
        </p:spPr>
      </p:sp>
      <p:sp>
        <p:nvSpPr>
          <p:cNvPr id="206" name="Text 188"/>
          <p:cNvSpPr txBox="1"/>
          <p:nvPr/>
        </p:nvSpPr>
        <p:spPr>
          <a:xfrm>
            <a:off x="5537241" y="5553060"/>
            <a:ext cx="524683" cy="107991"/>
          </a:xfrm>
          <a:prstGeom prst="rect">
            <a:avLst/>
          </a:prstGeom>
          <a:noFill/>
          <a:ln/>
        </p:spPr>
        <p:txBody>
          <a:bodyPr wrap="none" lIns="0" tIns="0" rIns="0" bIns="0" rtlCol="0" anchor="t"/>
          <a:lstStyle/>
          <a:p>
            <a:pPr algn="l"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2025/0915</a:t>
            </a:r>
            <a:endParaRPr lang="en-US" sz="650" dirty="0"/>
          </a:p>
        </p:txBody>
      </p:sp>
      <p:sp>
        <p:nvSpPr>
          <p:cNvPr id="207" name="Shape 189"/>
          <p:cNvSpPr/>
          <p:nvPr/>
        </p:nvSpPr>
        <p:spPr>
          <a:xfrm>
            <a:off x="6351514" y="5489600"/>
            <a:ext cx="1100206" cy="234909"/>
          </a:xfrm>
          <a:prstGeom prst="rect">
            <a:avLst/>
          </a:prstGeom>
          <a:ln/>
        </p:spPr>
      </p:sp>
      <p:sp>
        <p:nvSpPr>
          <p:cNvPr id="208" name="Shape 190"/>
          <p:cNvSpPr/>
          <p:nvPr/>
        </p:nvSpPr>
        <p:spPr>
          <a:xfrm>
            <a:off x="6351514" y="5721309"/>
            <a:ext cx="1100206" cy="0"/>
          </a:xfrm>
          <a:prstGeom prst="line">
            <a:avLst/>
          </a:prstGeom>
          <a:noFill/>
          <a:ln w="6350">
            <a:solidFill>
              <a:srgbClr val="24110C">
                <a:alpha val="7000"/>
              </a:srgbClr>
            </a:solidFill>
            <a:prstDash val="solid"/>
          </a:ln>
        </p:spPr>
      </p:sp>
      <p:sp>
        <p:nvSpPr>
          <p:cNvPr id="209" name="Text 191"/>
          <p:cNvSpPr txBox="1"/>
          <p:nvPr/>
        </p:nvSpPr>
        <p:spPr>
          <a:xfrm>
            <a:off x="6389553" y="5556260"/>
            <a:ext cx="760232" cy="101590"/>
          </a:xfrm>
          <a:prstGeom prst="rect">
            <a:avLst/>
          </a:prstGeom>
          <a:noFill/>
          <a:ln/>
        </p:spPr>
        <p:txBody>
          <a:bodyPr wrap="none" lIns="0" tIns="0" rIns="0" bIns="0" rtlCol="0" anchor="t"/>
          <a:lstStyle/>
          <a:p>
            <a:pPr algn="l" indent="0" marL="0">
              <a:buNone/>
            </a:pPr>
            <a:r>
              <a:rPr lang="en-US" sz="650" dirty="0">
                <a:solidFill>
                  <a:srgbClr val="24110C"/>
                </a:solidFill>
                <a:latin typeface="Inter" pitchFamily="34" charset="0"/>
                <a:ea typeface="Inter" pitchFamily="34" charset="-122"/>
                <a:cs typeface="Inter" pitchFamily="34" charset="-120"/>
              </a:rPr>
              <a:t>Delta Paper Mills</a:t>
            </a:r>
            <a:endParaRPr lang="en-US" sz="650" dirty="0"/>
          </a:p>
        </p:txBody>
      </p:sp>
      <p:sp>
        <p:nvSpPr>
          <p:cNvPr id="210" name="Shape 192"/>
          <p:cNvSpPr/>
          <p:nvPr/>
        </p:nvSpPr>
        <p:spPr>
          <a:xfrm>
            <a:off x="7451720" y="5489600"/>
            <a:ext cx="1413480" cy="234909"/>
          </a:xfrm>
          <a:prstGeom prst="rect">
            <a:avLst/>
          </a:prstGeom>
          <a:ln/>
        </p:spPr>
      </p:sp>
      <p:sp>
        <p:nvSpPr>
          <p:cNvPr id="211" name="Shape 193"/>
          <p:cNvSpPr/>
          <p:nvPr/>
        </p:nvSpPr>
        <p:spPr>
          <a:xfrm>
            <a:off x="7451720" y="5721309"/>
            <a:ext cx="1413480" cy="0"/>
          </a:xfrm>
          <a:prstGeom prst="line">
            <a:avLst/>
          </a:prstGeom>
          <a:noFill/>
          <a:ln w="6350">
            <a:solidFill>
              <a:srgbClr val="24110C">
                <a:alpha val="7000"/>
              </a:srgbClr>
            </a:solidFill>
            <a:prstDash val="solid"/>
          </a:ln>
        </p:spPr>
      </p:sp>
      <p:sp>
        <p:nvSpPr>
          <p:cNvPr id="212" name="Shape 194"/>
          <p:cNvSpPr/>
          <p:nvPr/>
        </p:nvSpPr>
        <p:spPr>
          <a:xfrm>
            <a:off x="7489850" y="5537241"/>
            <a:ext cx="666689" cy="139720"/>
          </a:xfrm>
          <a:prstGeom prst="roundRect">
            <a:avLst>
              <a:gd name="adj" fmla="val 50000"/>
            </a:avLst>
          </a:prstGeom>
          <a:solidFill>
            <a:srgbClr val="FBEFD2"/>
          </a:solidFill>
          <a:ln/>
        </p:spPr>
      </p:sp>
      <p:sp>
        <p:nvSpPr>
          <p:cNvPr id="213" name="Text 195"/>
          <p:cNvSpPr txBox="1"/>
          <p:nvPr/>
        </p:nvSpPr>
        <p:spPr>
          <a:xfrm>
            <a:off x="7553310" y="5556260"/>
            <a:ext cx="629839" cy="101590"/>
          </a:xfrm>
          <a:prstGeom prst="rect">
            <a:avLst/>
          </a:prstGeom>
          <a:noFill/>
          <a:ln/>
        </p:spPr>
        <p:txBody>
          <a:bodyPr wrap="none" lIns="0" tIns="0" rIns="0" bIns="0" rtlCol="0" anchor="t"/>
          <a:lstStyle/>
          <a:p>
            <a:pPr algn="l" indent="0" marL="0">
              <a:buNone/>
            </a:pPr>
            <a:r>
              <a:rPr lang="en-US" sz="650" dirty="0">
                <a:solidFill>
                  <a:srgbClr val="C98A12"/>
                </a:solidFill>
                <a:latin typeface="Inter SemiBold" pitchFamily="34" charset="0"/>
                <a:ea typeface="Inter SemiBold" pitchFamily="34" charset="-122"/>
                <a:cs typeface="Inter SemiBold" pitchFamily="34" charset="-120"/>
              </a:rPr>
              <a:t>Booked twice</a:t>
            </a:r>
            <a:endParaRPr lang="en-US" sz="650" dirty="0"/>
          </a:p>
        </p:txBody>
      </p:sp>
      <p:sp>
        <p:nvSpPr>
          <p:cNvPr id="214" name="Shape 196"/>
          <p:cNvSpPr/>
          <p:nvPr/>
        </p:nvSpPr>
        <p:spPr>
          <a:xfrm>
            <a:off x="8865199" y="5489600"/>
            <a:ext cx="532272" cy="234909"/>
          </a:xfrm>
          <a:prstGeom prst="rect">
            <a:avLst/>
          </a:prstGeom>
          <a:ln/>
        </p:spPr>
      </p:sp>
      <p:sp>
        <p:nvSpPr>
          <p:cNvPr id="215" name="Shape 197"/>
          <p:cNvSpPr/>
          <p:nvPr/>
        </p:nvSpPr>
        <p:spPr>
          <a:xfrm>
            <a:off x="8865199" y="5721309"/>
            <a:ext cx="532272" cy="0"/>
          </a:xfrm>
          <a:prstGeom prst="line">
            <a:avLst/>
          </a:prstGeom>
          <a:noFill/>
          <a:ln w="6350">
            <a:solidFill>
              <a:srgbClr val="24110C">
                <a:alpha val="7000"/>
              </a:srgbClr>
            </a:solidFill>
            <a:prstDash val="solid"/>
          </a:ln>
        </p:spPr>
      </p:sp>
      <p:sp>
        <p:nvSpPr>
          <p:cNvPr id="216" name="Text 198"/>
          <p:cNvSpPr txBox="1"/>
          <p:nvPr/>
        </p:nvSpPr>
        <p:spPr>
          <a:xfrm>
            <a:off x="9005743" y="5553060"/>
            <a:ext cx="353690"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₹9,180</a:t>
            </a:r>
            <a:endParaRPr lang="en-US" sz="650" dirty="0"/>
          </a:p>
        </p:txBody>
      </p:sp>
      <p:sp>
        <p:nvSpPr>
          <p:cNvPr id="217" name="Shape 199"/>
          <p:cNvSpPr/>
          <p:nvPr/>
        </p:nvSpPr>
        <p:spPr>
          <a:xfrm>
            <a:off x="9397472" y="5489600"/>
            <a:ext cx="618043" cy="234909"/>
          </a:xfrm>
          <a:prstGeom prst="rect">
            <a:avLst/>
          </a:prstGeom>
          <a:ln/>
        </p:spPr>
      </p:sp>
      <p:sp>
        <p:nvSpPr>
          <p:cNvPr id="218" name="Shape 200"/>
          <p:cNvSpPr/>
          <p:nvPr/>
        </p:nvSpPr>
        <p:spPr>
          <a:xfrm>
            <a:off x="9397472" y="5721309"/>
            <a:ext cx="618043" cy="0"/>
          </a:xfrm>
          <a:prstGeom prst="line">
            <a:avLst/>
          </a:prstGeom>
          <a:noFill/>
          <a:ln w="6350">
            <a:solidFill>
              <a:srgbClr val="24110C">
                <a:alpha val="7000"/>
              </a:srgbClr>
            </a:solidFill>
            <a:prstDash val="solid"/>
          </a:ln>
        </p:spPr>
      </p:sp>
      <p:sp>
        <p:nvSpPr>
          <p:cNvPr id="219" name="Text 201"/>
          <p:cNvSpPr txBox="1"/>
          <p:nvPr/>
        </p:nvSpPr>
        <p:spPr>
          <a:xfrm>
            <a:off x="9730130" y="5553060"/>
            <a:ext cx="247345" cy="107991"/>
          </a:xfrm>
          <a:prstGeom prst="rect">
            <a:avLst/>
          </a:prstGeom>
          <a:noFill/>
          <a:ln/>
        </p:spPr>
        <p:txBody>
          <a:bodyPr wrap="none" lIns="0" tIns="0" rIns="0" bIns="0" rtlCol="0" anchor="t"/>
          <a:lstStyle/>
          <a:p>
            <a:pPr algn="r" indent="0" marL="0">
              <a:buNone/>
            </a:pPr>
            <a:r>
              <a:rPr lang="en-US" sz="650" dirty="0">
                <a:solidFill>
                  <a:srgbClr val="24110C"/>
                </a:solidFill>
                <a:latin typeface="JetBrains Mono Medium" pitchFamily="34" charset="0"/>
                <a:ea typeface="JetBrains Mono Medium" pitchFamily="34" charset="-122"/>
                <a:cs typeface="JetBrains Mono Medium" pitchFamily="34" charset="-120"/>
              </a:rPr>
              <a:t>0.95</a:t>
            </a:r>
            <a:endParaRPr lang="en-US" sz="650" dirty="0"/>
          </a:p>
        </p:txBody>
      </p:sp>
      <p:sp>
        <p:nvSpPr>
          <p:cNvPr id="220" name="Shape 202"/>
          <p:cNvSpPr/>
          <p:nvPr/>
        </p:nvSpPr>
        <p:spPr>
          <a:xfrm>
            <a:off x="10015515" y="5489600"/>
            <a:ext cx="1084296" cy="234909"/>
          </a:xfrm>
          <a:prstGeom prst="rect">
            <a:avLst/>
          </a:prstGeom>
          <a:ln/>
        </p:spPr>
      </p:sp>
      <p:sp>
        <p:nvSpPr>
          <p:cNvPr id="221" name="Shape 203"/>
          <p:cNvSpPr/>
          <p:nvPr/>
        </p:nvSpPr>
        <p:spPr>
          <a:xfrm>
            <a:off x="10015515" y="5721309"/>
            <a:ext cx="1084296" cy="0"/>
          </a:xfrm>
          <a:prstGeom prst="line">
            <a:avLst/>
          </a:prstGeom>
          <a:noFill/>
          <a:ln w="6350">
            <a:solidFill>
              <a:srgbClr val="24110C">
                <a:alpha val="7000"/>
              </a:srgbClr>
            </a:solidFill>
            <a:prstDash val="solid"/>
          </a:ln>
        </p:spPr>
      </p:sp>
      <p:sp>
        <p:nvSpPr>
          <p:cNvPr id="222" name="Text 204"/>
          <p:cNvSpPr txBox="1"/>
          <p:nvPr/>
        </p:nvSpPr>
        <p:spPr>
          <a:xfrm>
            <a:off x="10415107" y="5556260"/>
            <a:ext cx="646572" cy="101590"/>
          </a:xfrm>
          <a:prstGeom prst="rect">
            <a:avLst/>
          </a:prstGeom>
          <a:noFill/>
          <a:ln/>
        </p:spPr>
        <p:txBody>
          <a:bodyPr wrap="none" lIns="0" tIns="0" rIns="0" bIns="0" rtlCol="0" anchor="t"/>
          <a:lstStyle/>
          <a:p>
            <a:pPr algn="r" indent="0" marL="0">
              <a:buNone/>
            </a:pPr>
            <a:r>
              <a:rPr lang="en-US" sz="650" dirty="0">
                <a:solidFill>
                  <a:srgbClr val="D2601A"/>
                </a:solidFill>
                <a:latin typeface="Inter SemiBold" pitchFamily="34" charset="0"/>
                <a:ea typeface="Inter SemiBold" pitchFamily="34" charset="-122"/>
                <a:cs typeface="Inter SemiBold" pitchFamily="34" charset="-120"/>
              </a:rPr>
              <a:t>Reverse entry</a:t>
            </a:r>
            <a:endParaRPr lang="en-US" sz="650" dirty="0"/>
          </a:p>
        </p:txBody>
      </p:sp>
      <p:sp>
        <p:nvSpPr>
          <p:cNvPr id="223" name="Text 205"/>
          <p:cNvSpPr txBox="1"/>
          <p:nvPr/>
        </p:nvSpPr>
        <p:spPr>
          <a:xfrm>
            <a:off x="4916180" y="6369070"/>
            <a:ext cx="2677089" cy="120609"/>
          </a:xfrm>
          <a:prstGeom prst="rect">
            <a:avLst/>
          </a:prstGeom>
          <a:noFill/>
          <a:ln/>
        </p:spPr>
        <p:txBody>
          <a:bodyPr wrap="none" lIns="0" tIns="0" rIns="0" bIns="0" rtlCol="0" anchor="t"/>
          <a:lstStyle/>
          <a:p>
            <a:pPr algn="ctr" indent="0" marL="0">
              <a:buNone/>
            </a:pPr>
            <a:r>
              <a:rPr lang="en-US" sz="750" dirty="0">
                <a:solidFill>
                  <a:srgbClr val="5B4339"/>
                </a:solidFill>
                <a:latin typeface="Inter SemiBold" pitchFamily="34" charset="0"/>
                <a:ea typeface="Inter SemiBold" pitchFamily="34" charset="-122"/>
                <a:cs typeface="Inter SemiBold" pitchFamily="34" charset="-120"/>
              </a:rPr>
              <a:t>Covers every requirement in the problem statement</a:t>
            </a:r>
            <a:endParaRPr lang="en-US" sz="750" dirty="0"/>
          </a:p>
        </p:txBody>
      </p:sp>
      <p:sp>
        <p:nvSpPr>
          <p:cNvPr id="224" name="Shape 206"/>
          <p:cNvSpPr/>
          <p:nvPr/>
        </p:nvSpPr>
        <p:spPr>
          <a:xfrm>
            <a:off x="2364547" y="6534120"/>
            <a:ext cx="1184057" cy="133320"/>
          </a:xfrm>
          <a:prstGeom prst="roundRect">
            <a:avLst>
              <a:gd name="adj" fmla="val 50000"/>
            </a:avLst>
          </a:prstGeom>
          <a:solidFill>
            <a:srgbClr val="DDF3E8"/>
          </a:solidFill>
          <a:ln/>
        </p:spPr>
      </p:sp>
      <p:sp>
        <p:nvSpPr>
          <p:cNvPr id="225" name="Text 207"/>
          <p:cNvSpPr txBox="1"/>
          <p:nvPr/>
        </p:nvSpPr>
        <p:spPr>
          <a:xfrm>
            <a:off x="2344887" y="6553230"/>
            <a:ext cx="1223559"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Matches bills and payments</a:t>
            </a:r>
            <a:endParaRPr lang="en-US" sz="625" dirty="0"/>
          </a:p>
        </p:txBody>
      </p:sp>
      <p:sp>
        <p:nvSpPr>
          <p:cNvPr id="226" name="Shape 208"/>
          <p:cNvSpPr/>
          <p:nvPr/>
        </p:nvSpPr>
        <p:spPr>
          <a:xfrm>
            <a:off x="3586734" y="6534120"/>
            <a:ext cx="1392265" cy="133320"/>
          </a:xfrm>
          <a:prstGeom prst="roundRect">
            <a:avLst>
              <a:gd name="adj" fmla="val 50000"/>
            </a:avLst>
          </a:prstGeom>
          <a:solidFill>
            <a:srgbClr val="DDF3E8"/>
          </a:solidFill>
          <a:ln/>
        </p:spPr>
      </p:sp>
      <p:sp>
        <p:nvSpPr>
          <p:cNvPr id="227" name="Text 209"/>
          <p:cNvSpPr txBox="1"/>
          <p:nvPr/>
        </p:nvSpPr>
        <p:spPr>
          <a:xfrm>
            <a:off x="3554547" y="6553230"/>
            <a:ext cx="1456731"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Finds duplicates and mismatches</a:t>
            </a:r>
            <a:endParaRPr lang="en-US" sz="625" dirty="0"/>
          </a:p>
        </p:txBody>
      </p:sp>
      <p:sp>
        <p:nvSpPr>
          <p:cNvPr id="228" name="Shape 210"/>
          <p:cNvSpPr/>
          <p:nvPr/>
        </p:nvSpPr>
        <p:spPr>
          <a:xfrm>
            <a:off x="5017130" y="6534120"/>
            <a:ext cx="1171986" cy="133320"/>
          </a:xfrm>
          <a:prstGeom prst="roundRect">
            <a:avLst>
              <a:gd name="adj" fmla="val 50000"/>
            </a:avLst>
          </a:prstGeom>
          <a:solidFill>
            <a:srgbClr val="DDF3E8"/>
          </a:solidFill>
          <a:ln/>
        </p:spPr>
      </p:sp>
      <p:sp>
        <p:nvSpPr>
          <p:cNvPr id="229" name="Text 211"/>
          <p:cNvSpPr txBox="1"/>
          <p:nvPr/>
        </p:nvSpPr>
        <p:spPr>
          <a:xfrm>
            <a:off x="4998110" y="6553230"/>
            <a:ext cx="1210026"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Checks the tax on every bill</a:t>
            </a:r>
            <a:endParaRPr lang="en-US" sz="625" dirty="0"/>
          </a:p>
        </p:txBody>
      </p:sp>
      <p:sp>
        <p:nvSpPr>
          <p:cNvPr id="230" name="Shape 212"/>
          <p:cNvSpPr/>
          <p:nvPr/>
        </p:nvSpPr>
        <p:spPr>
          <a:xfrm>
            <a:off x="6227155" y="6534120"/>
            <a:ext cx="956097" cy="133320"/>
          </a:xfrm>
          <a:prstGeom prst="roundRect">
            <a:avLst>
              <a:gd name="adj" fmla="val 50000"/>
            </a:avLst>
          </a:prstGeom>
          <a:solidFill>
            <a:srgbClr val="DDF3E8"/>
          </a:solidFill>
          <a:ln/>
        </p:spPr>
      </p:sp>
      <p:sp>
        <p:nvSpPr>
          <p:cNvPr id="231" name="Text 213"/>
          <p:cNvSpPr txBox="1"/>
          <p:nvPr/>
        </p:nvSpPr>
        <p:spPr>
          <a:xfrm>
            <a:off x="6221120" y="6553230"/>
            <a:ext cx="968167"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Finds missing records</a:t>
            </a:r>
            <a:endParaRPr lang="en-US" sz="625" dirty="0"/>
          </a:p>
        </p:txBody>
      </p:sp>
      <p:sp>
        <p:nvSpPr>
          <p:cNvPr id="232" name="Shape 214"/>
          <p:cNvSpPr/>
          <p:nvPr/>
        </p:nvSpPr>
        <p:spPr>
          <a:xfrm>
            <a:off x="7221383" y="6534120"/>
            <a:ext cx="1096274" cy="133320"/>
          </a:xfrm>
          <a:prstGeom prst="roundRect">
            <a:avLst>
              <a:gd name="adj" fmla="val 50000"/>
            </a:avLst>
          </a:prstGeom>
          <a:solidFill>
            <a:srgbClr val="DDF3E8"/>
          </a:solidFill>
          <a:ln/>
        </p:spPr>
      </p:sp>
      <p:sp>
        <p:nvSpPr>
          <p:cNvPr id="233" name="Text 215"/>
          <p:cNvSpPr txBox="1"/>
          <p:nvPr/>
        </p:nvSpPr>
        <p:spPr>
          <a:xfrm>
            <a:off x="7206844" y="6553230"/>
            <a:ext cx="1125169"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Flags suspicious patterns</a:t>
            </a:r>
            <a:endParaRPr lang="en-US" sz="625" dirty="0"/>
          </a:p>
        </p:txBody>
      </p:sp>
      <p:sp>
        <p:nvSpPr>
          <p:cNvPr id="234" name="Shape 216"/>
          <p:cNvSpPr/>
          <p:nvPr/>
        </p:nvSpPr>
        <p:spPr>
          <a:xfrm>
            <a:off x="8355696" y="6534120"/>
            <a:ext cx="968807" cy="133320"/>
          </a:xfrm>
          <a:prstGeom prst="roundRect">
            <a:avLst>
              <a:gd name="adj" fmla="val 50000"/>
            </a:avLst>
          </a:prstGeom>
          <a:solidFill>
            <a:srgbClr val="DDF3E8"/>
          </a:solidFill>
          <a:ln/>
        </p:spPr>
      </p:sp>
      <p:sp>
        <p:nvSpPr>
          <p:cNvPr id="235" name="Text 217"/>
          <p:cNvSpPr txBox="1"/>
          <p:nvPr/>
        </p:nvSpPr>
        <p:spPr>
          <a:xfrm>
            <a:off x="8348929" y="6553230"/>
            <a:ext cx="982431"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Works out tax payable</a:t>
            </a:r>
            <a:endParaRPr lang="en-US" sz="625" dirty="0"/>
          </a:p>
        </p:txBody>
      </p:sp>
      <p:sp>
        <p:nvSpPr>
          <p:cNvPr id="236" name="Shape 218"/>
          <p:cNvSpPr/>
          <p:nvPr/>
        </p:nvSpPr>
        <p:spPr>
          <a:xfrm>
            <a:off x="9362542" y="6534120"/>
            <a:ext cx="782269" cy="133320"/>
          </a:xfrm>
          <a:prstGeom prst="roundRect">
            <a:avLst>
              <a:gd name="adj" fmla="val 50000"/>
            </a:avLst>
          </a:prstGeom>
          <a:solidFill>
            <a:srgbClr val="DDF3E8"/>
          </a:solidFill>
          <a:ln/>
        </p:spPr>
      </p:sp>
      <p:sp>
        <p:nvSpPr>
          <p:cNvPr id="237" name="Text 219"/>
          <p:cNvSpPr txBox="1"/>
          <p:nvPr/>
        </p:nvSpPr>
        <p:spPr>
          <a:xfrm>
            <a:off x="9366931" y="6553230"/>
            <a:ext cx="773491" cy="95280"/>
          </a:xfrm>
          <a:prstGeom prst="rect">
            <a:avLst/>
          </a:prstGeom>
          <a:noFill/>
          <a:ln/>
        </p:spPr>
        <p:txBody>
          <a:bodyPr wrap="none" lIns="0" tIns="0" rIns="0" bIns="0" rtlCol="0" anchor="t"/>
          <a:lstStyle/>
          <a:p>
            <a:pPr algn="ctr" indent="0" marL="0">
              <a:buNone/>
            </a:pPr>
            <a:r>
              <a:rPr lang="en-US" sz="625" dirty="0">
                <a:solidFill>
                  <a:srgbClr val="2E9D6A"/>
                </a:solidFill>
                <a:latin typeface="Inter SemiBold" pitchFamily="34" charset="0"/>
                <a:ea typeface="Inter SemiBold" pitchFamily="34" charset="-122"/>
                <a:cs typeface="Inter SemiBold" pitchFamily="34" charset="-120"/>
              </a:rPr>
              <a:t>Visual dashboard</a:t>
            </a:r>
            <a:endParaRPr lang="en-US" sz="6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2222696" y="1423712"/>
            <a:ext cx="7746614" cy="15874"/>
          </a:xfrm>
          <a:custGeom>
            <a:avLst/>
            <a:gdLst/>
            <a:ahLst/>
            <a:cxnLst/>
            <a:rect l="l" t="t" r="r" b="b"/>
            <a:pathLst>
              <a:path w="7746614" h="15874">
                <a:moveTo>
                  <a:pt x="0" y="15874"/>
                </a:moveTo>
                <a:lnTo>
                  <a:pt x="7746614" y="0"/>
                </a:lnTo>
              </a:path>
            </a:pathLst>
          </a:custGeom>
          <a:ln w="6350">
            <a:solidFill>
              <a:srgbClr val="2B0000"/>
            </a:solidFill>
            <a:prstDash val="solid"/>
          </a:ln>
        </p:spPr>
      </p:sp>
      <p:sp>
        <p:nvSpPr>
          <p:cNvPr id="3" name="Shape 1"/>
          <p:cNvSpPr/>
          <p:nvPr/>
        </p:nvSpPr>
        <p:spPr>
          <a:xfrm>
            <a:off x="10673873" y="5689433"/>
            <a:ext cx="2192009" cy="2084832"/>
          </a:xfrm>
          <a:custGeom>
            <a:avLst/>
            <a:gdLst/>
            <a:ahLst/>
            <a:cxnLst/>
            <a:rect l="l" t="t" r="r" b="b"/>
            <a:pathLst>
              <a:path w="2192009" h="2084832">
                <a:moveTo>
                  <a:pt x="5925" y="642960"/>
                </a:moveTo>
                <a:lnTo>
                  <a:pt x="513564" y="642960"/>
                </a:lnTo>
                <a:lnTo>
                  <a:pt x="548155" y="637236"/>
                </a:lnTo>
                <a:cubicBezTo>
                  <a:pt x="593830" y="629711"/>
                  <a:pt x="629665" y="593885"/>
                  <a:pt x="637236" y="548155"/>
                </a:cubicBezTo>
                <a:lnTo>
                  <a:pt x="642960" y="513564"/>
                </a:lnTo>
                <a:lnTo>
                  <a:pt x="642960" y="5925"/>
                </a:lnTo>
                <a:cubicBezTo>
                  <a:pt x="642960" y="2679"/>
                  <a:pt x="645594" y="0"/>
                  <a:pt x="648895" y="0"/>
                </a:cubicBezTo>
                <a:cubicBezTo>
                  <a:pt x="652187" y="0"/>
                  <a:pt x="654820" y="2633"/>
                  <a:pt x="654820" y="5925"/>
                </a:cubicBezTo>
                <a:lnTo>
                  <a:pt x="654820" y="513564"/>
                </a:lnTo>
                <a:lnTo>
                  <a:pt x="660544" y="548155"/>
                </a:lnTo>
                <a:cubicBezTo>
                  <a:pt x="664513" y="572186"/>
                  <a:pt x="676318" y="593418"/>
                  <a:pt x="693225" y="609301"/>
                </a:cubicBezTo>
                <a:cubicBezTo>
                  <a:pt x="697038" y="605379"/>
                  <a:pt x="700860" y="601410"/>
                  <a:pt x="704719" y="597496"/>
                </a:cubicBezTo>
                <a:cubicBezTo>
                  <a:pt x="704929" y="597286"/>
                  <a:pt x="705185" y="597085"/>
                  <a:pt x="705396" y="596820"/>
                </a:cubicBezTo>
                <a:cubicBezTo>
                  <a:pt x="705597" y="596619"/>
                  <a:pt x="705807" y="596363"/>
                  <a:pt x="706063" y="596152"/>
                </a:cubicBezTo>
                <a:cubicBezTo>
                  <a:pt x="706273" y="595951"/>
                  <a:pt x="706529" y="595741"/>
                  <a:pt x="706731" y="595485"/>
                </a:cubicBezTo>
                <a:cubicBezTo>
                  <a:pt x="706941" y="595274"/>
                  <a:pt x="707142" y="595018"/>
                  <a:pt x="707407" y="594817"/>
                </a:cubicBezTo>
                <a:cubicBezTo>
                  <a:pt x="708486" y="593729"/>
                  <a:pt x="709620" y="592650"/>
                  <a:pt x="710699" y="591562"/>
                </a:cubicBezTo>
                <a:cubicBezTo>
                  <a:pt x="711787" y="590428"/>
                  <a:pt x="712866" y="589349"/>
                  <a:pt x="714000" y="588215"/>
                </a:cubicBezTo>
                <a:cubicBezTo>
                  <a:pt x="793242" y="509028"/>
                  <a:pt x="878766" y="442835"/>
                  <a:pt x="966658" y="390302"/>
                </a:cubicBezTo>
                <a:cubicBezTo>
                  <a:pt x="1079202" y="321942"/>
                  <a:pt x="1195861" y="274622"/>
                  <a:pt x="1309384" y="249668"/>
                </a:cubicBezTo>
                <a:cubicBezTo>
                  <a:pt x="1382792" y="232504"/>
                  <a:pt x="1455588" y="223735"/>
                  <a:pt x="1526216" y="223690"/>
                </a:cubicBezTo>
                <a:cubicBezTo>
                  <a:pt x="1711647" y="223690"/>
                  <a:pt x="1882027" y="283848"/>
                  <a:pt x="2006989" y="408810"/>
                </a:cubicBezTo>
                <a:cubicBezTo>
                  <a:pt x="2131850" y="533882"/>
                  <a:pt x="2192009" y="704262"/>
                  <a:pt x="2192009" y="889693"/>
                </a:cubicBezTo>
                <a:cubicBezTo>
                  <a:pt x="2192009" y="1161837"/>
                  <a:pt x="2062722" y="1466670"/>
                  <a:pt x="1818312" y="1711135"/>
                </a:cubicBezTo>
                <a:cubicBezTo>
                  <a:pt x="1573847" y="1955545"/>
                  <a:pt x="1269013" y="2084832"/>
                  <a:pt x="996870" y="2084832"/>
                </a:cubicBezTo>
                <a:cubicBezTo>
                  <a:pt x="811439" y="2084832"/>
                  <a:pt x="641058" y="2024674"/>
                  <a:pt x="516087" y="1899712"/>
                </a:cubicBezTo>
                <a:cubicBezTo>
                  <a:pt x="391125" y="1774750"/>
                  <a:pt x="330967" y="1604370"/>
                  <a:pt x="330967" y="1418929"/>
                </a:cubicBezTo>
                <a:cubicBezTo>
                  <a:pt x="330967" y="1182923"/>
                  <a:pt x="428250" y="922374"/>
                  <a:pt x="613526" y="697870"/>
                </a:cubicBezTo>
                <a:cubicBezTo>
                  <a:pt x="597286" y="678430"/>
                  <a:pt x="574344" y="664769"/>
                  <a:pt x="548155" y="660444"/>
                </a:cubicBezTo>
                <a:lnTo>
                  <a:pt x="513564" y="654720"/>
                </a:lnTo>
                <a:lnTo>
                  <a:pt x="5925" y="654720"/>
                </a:lnTo>
                <a:cubicBezTo>
                  <a:pt x="2679" y="654720"/>
                  <a:pt x="0" y="652086"/>
                  <a:pt x="0" y="648785"/>
                </a:cubicBezTo>
                <a:cubicBezTo>
                  <a:pt x="0" y="645493"/>
                  <a:pt x="2633" y="642860"/>
                  <a:pt x="5925" y="642860"/>
                </a:cubicBezTo>
                <a:lnTo>
                  <a:pt x="5925" y="642960"/>
                </a:lnTo>
                <a:moveTo>
                  <a:pt x="977329" y="398916"/>
                </a:moveTo>
                <a:cubicBezTo>
                  <a:pt x="972693" y="401696"/>
                  <a:pt x="968103" y="404531"/>
                  <a:pt x="963512" y="407365"/>
                </a:cubicBezTo>
                <a:cubicBezTo>
                  <a:pt x="960367" y="409276"/>
                  <a:pt x="957276" y="411178"/>
                  <a:pt x="954131" y="413144"/>
                </a:cubicBezTo>
                <a:cubicBezTo>
                  <a:pt x="871551" y="464954"/>
                  <a:pt x="791797" y="527901"/>
                  <a:pt x="717612" y="601465"/>
                </a:cubicBezTo>
                <a:cubicBezTo>
                  <a:pt x="712455" y="606668"/>
                  <a:pt x="707352" y="611825"/>
                  <a:pt x="702351" y="617083"/>
                </a:cubicBezTo>
                <a:cubicBezTo>
                  <a:pt x="708276" y="621518"/>
                  <a:pt x="714722" y="625331"/>
                  <a:pt x="721526" y="628531"/>
                </a:cubicBezTo>
                <a:cubicBezTo>
                  <a:pt x="725604" y="624352"/>
                  <a:pt x="729627" y="620174"/>
                  <a:pt x="733742" y="616050"/>
                </a:cubicBezTo>
                <a:cubicBezTo>
                  <a:pt x="929597" y="420258"/>
                  <a:pt x="1169316" y="314371"/>
                  <a:pt x="1374233" y="314261"/>
                </a:cubicBezTo>
                <a:cubicBezTo>
                  <a:pt x="1497083" y="314261"/>
                  <a:pt x="1607616" y="352519"/>
                  <a:pt x="1687781" y="432676"/>
                </a:cubicBezTo>
                <a:cubicBezTo>
                  <a:pt x="1767992" y="512896"/>
                  <a:pt x="1806242" y="623374"/>
                  <a:pt x="1806196" y="746224"/>
                </a:cubicBezTo>
                <a:cubicBezTo>
                  <a:pt x="1806141" y="951141"/>
                  <a:pt x="1700254" y="1190814"/>
                  <a:pt x="1504407" y="1386715"/>
                </a:cubicBezTo>
                <a:cubicBezTo>
                  <a:pt x="1308561" y="1582506"/>
                  <a:pt x="1068842" y="1688394"/>
                  <a:pt x="863916" y="1688449"/>
                </a:cubicBezTo>
                <a:cubicBezTo>
                  <a:pt x="741066" y="1688449"/>
                  <a:pt x="630589" y="1650199"/>
                  <a:pt x="550377" y="1570034"/>
                </a:cubicBezTo>
                <a:cubicBezTo>
                  <a:pt x="470157" y="1489814"/>
                  <a:pt x="431908" y="1379290"/>
                  <a:pt x="431963" y="1256486"/>
                </a:cubicBezTo>
                <a:cubicBezTo>
                  <a:pt x="431963" y="1090340"/>
                  <a:pt x="501658" y="901242"/>
                  <a:pt x="632445" y="731218"/>
                </a:cubicBezTo>
                <a:cubicBezTo>
                  <a:pt x="629711" y="723437"/>
                  <a:pt x="626108" y="716067"/>
                  <a:pt x="621774" y="709209"/>
                </a:cubicBezTo>
                <a:cubicBezTo>
                  <a:pt x="465366" y="905622"/>
                  <a:pt x="382265" y="1126422"/>
                  <a:pt x="382311" y="1318665"/>
                </a:cubicBezTo>
                <a:cubicBezTo>
                  <a:pt x="382311" y="1457544"/>
                  <a:pt x="425516" y="1581318"/>
                  <a:pt x="515264" y="1671130"/>
                </a:cubicBezTo>
                <a:cubicBezTo>
                  <a:pt x="605022" y="1760878"/>
                  <a:pt x="728795" y="1804029"/>
                  <a:pt x="867729" y="1804084"/>
                </a:cubicBezTo>
                <a:cubicBezTo>
                  <a:pt x="1097710" y="1804129"/>
                  <a:pt x="1368619" y="1685248"/>
                  <a:pt x="1589721" y="1464092"/>
                </a:cubicBezTo>
                <a:cubicBezTo>
                  <a:pt x="1810887" y="1242980"/>
                  <a:pt x="1929768" y="972071"/>
                  <a:pt x="1929713" y="742100"/>
                </a:cubicBezTo>
                <a:cubicBezTo>
                  <a:pt x="1929713" y="603221"/>
                  <a:pt x="1886508" y="479438"/>
                  <a:pt x="1796759" y="389635"/>
                </a:cubicBezTo>
                <a:cubicBezTo>
                  <a:pt x="1707011" y="299877"/>
                  <a:pt x="1583229" y="256736"/>
                  <a:pt x="1444295" y="256681"/>
                </a:cubicBezTo>
                <a:cubicBezTo>
                  <a:pt x="1337118" y="256681"/>
                  <a:pt x="1221017" y="282504"/>
                  <a:pt x="1105235" y="332467"/>
                </a:cubicBezTo>
                <a:cubicBezTo>
                  <a:pt x="1062240" y="351687"/>
                  <a:pt x="1019501" y="373862"/>
                  <a:pt x="977384" y="398962"/>
                </a:cubicBezTo>
                <a:lnTo>
                  <a:pt x="977329" y="398916"/>
                </a:lnTo>
                <a:moveTo>
                  <a:pt x="733385" y="633268"/>
                </a:moveTo>
                <a:cubicBezTo>
                  <a:pt x="738588" y="634969"/>
                  <a:pt x="744002" y="636313"/>
                  <a:pt x="749525" y="637236"/>
                </a:cubicBezTo>
                <a:lnTo>
                  <a:pt x="784116" y="642960"/>
                </a:lnTo>
                <a:lnTo>
                  <a:pt x="807315" y="642960"/>
                </a:lnTo>
                <a:cubicBezTo>
                  <a:pt x="957587" y="499080"/>
                  <a:pt x="1140239" y="422371"/>
                  <a:pt x="1301136" y="422316"/>
                </a:cubicBezTo>
                <a:cubicBezTo>
                  <a:pt x="1408158" y="422316"/>
                  <a:pt x="1505697" y="456395"/>
                  <a:pt x="1576938" y="527636"/>
                </a:cubicBezTo>
                <a:cubicBezTo>
                  <a:pt x="1648188" y="598831"/>
                  <a:pt x="1682313" y="696425"/>
                  <a:pt x="1682258" y="803447"/>
                </a:cubicBezTo>
                <a:cubicBezTo>
                  <a:pt x="1682258" y="969447"/>
                  <a:pt x="1600547" y="1158591"/>
                  <a:pt x="1447696" y="1311496"/>
                </a:cubicBezTo>
                <a:cubicBezTo>
                  <a:pt x="1294790" y="1464348"/>
                  <a:pt x="1105647" y="1546013"/>
                  <a:pt x="939647" y="1546058"/>
                </a:cubicBezTo>
                <a:cubicBezTo>
                  <a:pt x="832625" y="1546058"/>
                  <a:pt x="735086" y="1511988"/>
                  <a:pt x="663845" y="1440738"/>
                </a:cubicBezTo>
                <a:cubicBezTo>
                  <a:pt x="592595" y="1369497"/>
                  <a:pt x="558470" y="1271958"/>
                  <a:pt x="558516" y="1164936"/>
                </a:cubicBezTo>
                <a:cubicBezTo>
                  <a:pt x="558516" y="1066209"/>
                  <a:pt x="587438" y="959343"/>
                  <a:pt x="642960" y="856802"/>
                </a:cubicBezTo>
                <a:lnTo>
                  <a:pt x="642960" y="784162"/>
                </a:lnTo>
                <a:lnTo>
                  <a:pt x="637236" y="749570"/>
                </a:lnTo>
                <a:cubicBezTo>
                  <a:pt x="637035" y="748235"/>
                  <a:pt x="636669" y="746946"/>
                  <a:pt x="636413" y="745657"/>
                </a:cubicBezTo>
                <a:cubicBezTo>
                  <a:pt x="510528" y="912068"/>
                  <a:pt x="443767" y="1095954"/>
                  <a:pt x="443813" y="1256486"/>
                </a:cubicBezTo>
                <a:cubicBezTo>
                  <a:pt x="443813" y="1376913"/>
                  <a:pt x="481194" y="1484044"/>
                  <a:pt x="558781" y="1561685"/>
                </a:cubicBezTo>
                <a:cubicBezTo>
                  <a:pt x="636413" y="1639263"/>
                  <a:pt x="743489" y="1676644"/>
                  <a:pt x="863971" y="1676644"/>
                </a:cubicBezTo>
                <a:cubicBezTo>
                  <a:pt x="1064819" y="1676690"/>
                  <a:pt x="1302160" y="1572302"/>
                  <a:pt x="1496050" y="1378357"/>
                </a:cubicBezTo>
                <a:cubicBezTo>
                  <a:pt x="1690049" y="1184422"/>
                  <a:pt x="1794391" y="947072"/>
                  <a:pt x="1794336" y="746278"/>
                </a:cubicBezTo>
                <a:cubicBezTo>
                  <a:pt x="1794336" y="625852"/>
                  <a:pt x="1756965" y="518721"/>
                  <a:pt x="1679378" y="441079"/>
                </a:cubicBezTo>
                <a:cubicBezTo>
                  <a:pt x="1601736" y="363492"/>
                  <a:pt x="1494660" y="326121"/>
                  <a:pt x="1374188" y="326121"/>
                </a:cubicBezTo>
                <a:cubicBezTo>
                  <a:pt x="1173331" y="326066"/>
                  <a:pt x="935989" y="430463"/>
                  <a:pt x="742100" y="624407"/>
                </a:cubicBezTo>
                <a:cubicBezTo>
                  <a:pt x="739155" y="627342"/>
                  <a:pt x="736275" y="630332"/>
                  <a:pt x="733385" y="633268"/>
                </a:cubicBezTo>
                <a:lnTo>
                  <a:pt x="733385" y="633268"/>
                </a:lnTo>
                <a:moveTo>
                  <a:pt x="648840" y="1297680"/>
                </a:moveTo>
                <a:cubicBezTo>
                  <a:pt x="645594" y="1297680"/>
                  <a:pt x="642915" y="1295056"/>
                  <a:pt x="642915" y="1291755"/>
                </a:cubicBezTo>
                <a:lnTo>
                  <a:pt x="642915" y="882423"/>
                </a:lnTo>
                <a:cubicBezTo>
                  <a:pt x="595073" y="977283"/>
                  <a:pt x="570275" y="1074923"/>
                  <a:pt x="570320" y="1164936"/>
                </a:cubicBezTo>
                <a:cubicBezTo>
                  <a:pt x="570320" y="1269480"/>
                  <a:pt x="603522" y="1363672"/>
                  <a:pt x="672194" y="1432389"/>
                </a:cubicBezTo>
                <a:cubicBezTo>
                  <a:pt x="740865" y="1501052"/>
                  <a:pt x="835048" y="1534199"/>
                  <a:pt x="939647" y="1534253"/>
                </a:cubicBezTo>
                <a:cubicBezTo>
                  <a:pt x="1101779" y="1534253"/>
                  <a:pt x="1288454" y="1454088"/>
                  <a:pt x="1439348" y="1303148"/>
                </a:cubicBezTo>
                <a:cubicBezTo>
                  <a:pt x="1590288" y="1152254"/>
                  <a:pt x="1670508" y="965579"/>
                  <a:pt x="1670453" y="803447"/>
                </a:cubicBezTo>
                <a:cubicBezTo>
                  <a:pt x="1670453" y="698894"/>
                  <a:pt x="1637261" y="604711"/>
                  <a:pt x="1568589" y="535994"/>
                </a:cubicBezTo>
                <a:cubicBezTo>
                  <a:pt x="1499918" y="467322"/>
                  <a:pt x="1405735" y="434175"/>
                  <a:pt x="1301136" y="434121"/>
                </a:cubicBezTo>
                <a:cubicBezTo>
                  <a:pt x="1147197" y="434121"/>
                  <a:pt x="971193" y="506450"/>
                  <a:pt x="824633" y="642915"/>
                </a:cubicBezTo>
                <a:lnTo>
                  <a:pt x="999503" y="642915"/>
                </a:lnTo>
                <a:cubicBezTo>
                  <a:pt x="1097088" y="580223"/>
                  <a:pt x="1201640" y="547278"/>
                  <a:pt x="1296391" y="547232"/>
                </a:cubicBezTo>
                <a:cubicBezTo>
                  <a:pt x="1382170" y="547232"/>
                  <a:pt x="1460178" y="574344"/>
                  <a:pt x="1516980" y="631210"/>
                </a:cubicBezTo>
                <a:cubicBezTo>
                  <a:pt x="1573792" y="688022"/>
                  <a:pt x="1600968" y="766020"/>
                  <a:pt x="1600913" y="851800"/>
                </a:cubicBezTo>
                <a:cubicBezTo>
                  <a:pt x="1600913" y="988265"/>
                  <a:pt x="1532653" y="1144929"/>
                  <a:pt x="1405579" y="1272058"/>
                </a:cubicBezTo>
                <a:cubicBezTo>
                  <a:pt x="1403156" y="1274482"/>
                  <a:pt x="1400678" y="1276850"/>
                  <a:pt x="1398255" y="1279227"/>
                </a:cubicBezTo>
                <a:cubicBezTo>
                  <a:pt x="1395886" y="1281696"/>
                  <a:pt x="1393518" y="1284174"/>
                  <a:pt x="1391040" y="1286597"/>
                </a:cubicBezTo>
                <a:cubicBezTo>
                  <a:pt x="1385837" y="1291800"/>
                  <a:pt x="1380579" y="1296857"/>
                  <a:pt x="1375267" y="1301804"/>
                </a:cubicBezTo>
                <a:cubicBezTo>
                  <a:pt x="1327480" y="1346865"/>
                  <a:pt x="1276850" y="1382847"/>
                  <a:pt x="1227518" y="1408213"/>
                </a:cubicBezTo>
                <a:cubicBezTo>
                  <a:pt x="1191015" y="1426976"/>
                  <a:pt x="1155290" y="1439970"/>
                  <a:pt x="1121987" y="1446563"/>
                </a:cubicBezTo>
                <a:cubicBezTo>
                  <a:pt x="1120798" y="1446819"/>
                  <a:pt x="1119674" y="1447129"/>
                  <a:pt x="1118485" y="1447385"/>
                </a:cubicBezTo>
                <a:cubicBezTo>
                  <a:pt x="1073112" y="1460589"/>
                  <a:pt x="1028215" y="1467338"/>
                  <a:pt x="985321" y="1467393"/>
                </a:cubicBezTo>
                <a:cubicBezTo>
                  <a:pt x="899541" y="1467393"/>
                  <a:pt x="821543" y="1440271"/>
                  <a:pt x="764731" y="1383460"/>
                </a:cubicBezTo>
                <a:cubicBezTo>
                  <a:pt x="707919" y="1326657"/>
                  <a:pt x="680753" y="1248650"/>
                  <a:pt x="680798" y="1162870"/>
                </a:cubicBezTo>
                <a:cubicBezTo>
                  <a:pt x="680798" y="1026414"/>
                  <a:pt x="749058" y="869741"/>
                  <a:pt x="876132" y="742612"/>
                </a:cubicBezTo>
                <a:cubicBezTo>
                  <a:pt x="909545" y="709209"/>
                  <a:pt x="945060" y="679875"/>
                  <a:pt x="981663" y="654765"/>
                </a:cubicBezTo>
                <a:lnTo>
                  <a:pt x="812106" y="654765"/>
                </a:lnTo>
                <a:cubicBezTo>
                  <a:pt x="808549" y="658222"/>
                  <a:pt x="804937" y="661678"/>
                  <a:pt x="801380" y="665235"/>
                </a:cubicBezTo>
                <a:cubicBezTo>
                  <a:pt x="740911" y="725650"/>
                  <a:pt x="691890" y="791843"/>
                  <a:pt x="654720" y="859847"/>
                </a:cubicBezTo>
                <a:lnTo>
                  <a:pt x="654720" y="1291755"/>
                </a:lnTo>
                <a:cubicBezTo>
                  <a:pt x="654720" y="1295001"/>
                  <a:pt x="652086" y="1297680"/>
                  <a:pt x="648785" y="1297680"/>
                </a:cubicBezTo>
                <a:lnTo>
                  <a:pt x="648840" y="1297680"/>
                </a:lnTo>
                <a:moveTo>
                  <a:pt x="1291755" y="654765"/>
                </a:moveTo>
                <a:lnTo>
                  <a:pt x="1003005" y="654765"/>
                </a:lnTo>
                <a:cubicBezTo>
                  <a:pt x="961812" y="681475"/>
                  <a:pt x="921862" y="713589"/>
                  <a:pt x="884536" y="750969"/>
                </a:cubicBezTo>
                <a:cubicBezTo>
                  <a:pt x="759373" y="876087"/>
                  <a:pt x="692612" y="1030328"/>
                  <a:pt x="692658" y="1162815"/>
                </a:cubicBezTo>
                <a:cubicBezTo>
                  <a:pt x="692658" y="1246181"/>
                  <a:pt x="718901" y="1320778"/>
                  <a:pt x="773134" y="1375056"/>
                </a:cubicBezTo>
                <a:cubicBezTo>
                  <a:pt x="827413" y="1429289"/>
                  <a:pt x="902010" y="1455533"/>
                  <a:pt x="985376" y="1455533"/>
                </a:cubicBezTo>
                <a:cubicBezTo>
                  <a:pt x="993057" y="1455533"/>
                  <a:pt x="1000793" y="1455277"/>
                  <a:pt x="1008574" y="1454865"/>
                </a:cubicBezTo>
                <a:cubicBezTo>
                  <a:pt x="945627" y="1450787"/>
                  <a:pt x="888916" y="1428467"/>
                  <a:pt x="846542" y="1386038"/>
                </a:cubicBezTo>
                <a:cubicBezTo>
                  <a:pt x="799423" y="1338919"/>
                  <a:pt x="777002" y="1274125"/>
                  <a:pt x="777002" y="1202719"/>
                </a:cubicBezTo>
                <a:cubicBezTo>
                  <a:pt x="777048" y="1086106"/>
                  <a:pt x="836283" y="951296"/>
                  <a:pt x="946038" y="841495"/>
                </a:cubicBezTo>
                <a:cubicBezTo>
                  <a:pt x="1055849" y="731739"/>
                  <a:pt x="1190659" y="672505"/>
                  <a:pt x="1307272" y="672450"/>
                </a:cubicBezTo>
                <a:cubicBezTo>
                  <a:pt x="1378723" y="672450"/>
                  <a:pt x="1443527" y="694880"/>
                  <a:pt x="1490591" y="741999"/>
                </a:cubicBezTo>
                <a:cubicBezTo>
                  <a:pt x="1537710" y="789118"/>
                  <a:pt x="1560131" y="853912"/>
                  <a:pt x="1560131" y="925318"/>
                </a:cubicBezTo>
                <a:cubicBezTo>
                  <a:pt x="1560131" y="925830"/>
                  <a:pt x="1560131" y="926397"/>
                  <a:pt x="1560131" y="926964"/>
                </a:cubicBezTo>
                <a:cubicBezTo>
                  <a:pt x="1560387" y="931710"/>
                  <a:pt x="1560542" y="936501"/>
                  <a:pt x="1560542" y="941347"/>
                </a:cubicBezTo>
                <a:cubicBezTo>
                  <a:pt x="1560542" y="965634"/>
                  <a:pt x="1557296" y="991200"/>
                  <a:pt x="1551115" y="1017444"/>
                </a:cubicBezTo>
                <a:cubicBezTo>
                  <a:pt x="1548015" y="1033162"/>
                  <a:pt x="1543434" y="1049402"/>
                  <a:pt x="1537554" y="1065998"/>
                </a:cubicBezTo>
                <a:cubicBezTo>
                  <a:pt x="1571579" y="993468"/>
                  <a:pt x="1589154" y="919749"/>
                  <a:pt x="1589108" y="851754"/>
                </a:cubicBezTo>
                <a:cubicBezTo>
                  <a:pt x="1589108" y="768389"/>
                  <a:pt x="1562865" y="693792"/>
                  <a:pt x="1508632" y="639513"/>
                </a:cubicBezTo>
                <a:cubicBezTo>
                  <a:pt x="1454344" y="585271"/>
                  <a:pt x="1379747" y="559037"/>
                  <a:pt x="1296391" y="559037"/>
                </a:cubicBezTo>
                <a:cubicBezTo>
                  <a:pt x="1209422" y="559037"/>
                  <a:pt x="1113117" y="587749"/>
                  <a:pt x="1021824" y="642860"/>
                </a:cubicBezTo>
                <a:lnTo>
                  <a:pt x="1291755" y="642860"/>
                </a:lnTo>
                <a:cubicBezTo>
                  <a:pt x="1295001" y="642860"/>
                  <a:pt x="1297680" y="645493"/>
                  <a:pt x="1297680" y="648785"/>
                </a:cubicBezTo>
                <a:cubicBezTo>
                  <a:pt x="1297680" y="652086"/>
                  <a:pt x="1295046" y="654720"/>
                  <a:pt x="1291755" y="654720"/>
                </a:cubicBezTo>
                <a:lnTo>
                  <a:pt x="1291755" y="654765"/>
                </a:lnTo>
                <a:moveTo>
                  <a:pt x="788853" y="1202719"/>
                </a:moveTo>
                <a:cubicBezTo>
                  <a:pt x="788853" y="1271748"/>
                  <a:pt x="810405" y="1333149"/>
                  <a:pt x="854946" y="1377690"/>
                </a:cubicBezTo>
                <a:cubicBezTo>
                  <a:pt x="878921" y="1401665"/>
                  <a:pt x="907789" y="1418884"/>
                  <a:pt x="940058" y="1429756"/>
                </a:cubicBezTo>
                <a:cubicBezTo>
                  <a:pt x="928153" y="1422797"/>
                  <a:pt x="917116" y="1414394"/>
                  <a:pt x="907222" y="1404500"/>
                </a:cubicBezTo>
                <a:cubicBezTo>
                  <a:pt x="872219" y="1369497"/>
                  <a:pt x="855723" y="1320723"/>
                  <a:pt x="855723" y="1265822"/>
                </a:cubicBezTo>
                <a:cubicBezTo>
                  <a:pt x="855723" y="1212778"/>
                  <a:pt x="870929" y="1153698"/>
                  <a:pt x="899696" y="1094253"/>
                </a:cubicBezTo>
                <a:cubicBezTo>
                  <a:pt x="928463" y="1034817"/>
                  <a:pt x="970736" y="975016"/>
                  <a:pt x="1025170" y="920627"/>
                </a:cubicBezTo>
                <a:cubicBezTo>
                  <a:pt x="1079614" y="866184"/>
                  <a:pt x="1139416" y="823911"/>
                  <a:pt x="1198806" y="795144"/>
                </a:cubicBezTo>
                <a:cubicBezTo>
                  <a:pt x="1258242" y="766432"/>
                  <a:pt x="1317266" y="751170"/>
                  <a:pt x="1370366" y="751170"/>
                </a:cubicBezTo>
                <a:cubicBezTo>
                  <a:pt x="1425321" y="751170"/>
                  <a:pt x="1474040" y="767621"/>
                  <a:pt x="1509043" y="802669"/>
                </a:cubicBezTo>
                <a:cubicBezTo>
                  <a:pt x="1518946" y="812572"/>
                  <a:pt x="1527295" y="823600"/>
                  <a:pt x="1534308" y="835515"/>
                </a:cubicBezTo>
                <a:cubicBezTo>
                  <a:pt x="1523427" y="803236"/>
                  <a:pt x="1506209" y="774369"/>
                  <a:pt x="1482233" y="750402"/>
                </a:cubicBezTo>
                <a:cubicBezTo>
                  <a:pt x="1437693" y="705853"/>
                  <a:pt x="1376300" y="684355"/>
                  <a:pt x="1307272" y="684310"/>
                </a:cubicBezTo>
                <a:cubicBezTo>
                  <a:pt x="1194682" y="684310"/>
                  <a:pt x="1062295" y="741999"/>
                  <a:pt x="954442" y="849898"/>
                </a:cubicBezTo>
                <a:cubicBezTo>
                  <a:pt x="846542" y="957743"/>
                  <a:pt x="788807" y="1090184"/>
                  <a:pt x="788853" y="1202719"/>
                </a:cubicBezTo>
                <a:lnTo>
                  <a:pt x="788853" y="1202719"/>
                </a:lnTo>
                <a:moveTo>
                  <a:pt x="910367" y="1099465"/>
                </a:moveTo>
                <a:cubicBezTo>
                  <a:pt x="882222" y="1157612"/>
                  <a:pt x="867574" y="1215046"/>
                  <a:pt x="867574" y="1265877"/>
                </a:cubicBezTo>
                <a:cubicBezTo>
                  <a:pt x="867574" y="1318556"/>
                  <a:pt x="883201" y="1363818"/>
                  <a:pt x="915570" y="1396197"/>
                </a:cubicBezTo>
                <a:cubicBezTo>
                  <a:pt x="942326" y="1422953"/>
                  <a:pt x="977896" y="1438214"/>
                  <a:pt x="1019145" y="1442749"/>
                </a:cubicBezTo>
                <a:cubicBezTo>
                  <a:pt x="1003161" y="1436980"/>
                  <a:pt x="988933" y="1428265"/>
                  <a:pt x="977128" y="1416460"/>
                </a:cubicBezTo>
                <a:cubicBezTo>
                  <a:pt x="953052" y="1392384"/>
                  <a:pt x="941859" y="1358515"/>
                  <a:pt x="941914" y="1319644"/>
                </a:cubicBezTo>
                <a:cubicBezTo>
                  <a:pt x="941914" y="1273860"/>
                  <a:pt x="957176" y="1220815"/>
                  <a:pt x="985321" y="1166015"/>
                </a:cubicBezTo>
                <a:cubicBezTo>
                  <a:pt x="1013521" y="1111215"/>
                  <a:pt x="1054660" y="1054760"/>
                  <a:pt x="1106991" y="1002438"/>
                </a:cubicBezTo>
                <a:cubicBezTo>
                  <a:pt x="1159258" y="950162"/>
                  <a:pt x="1215759" y="908978"/>
                  <a:pt x="1270559" y="880778"/>
                </a:cubicBezTo>
                <a:cubicBezTo>
                  <a:pt x="1325359" y="852623"/>
                  <a:pt x="1378412" y="837371"/>
                  <a:pt x="1424187" y="837371"/>
                </a:cubicBezTo>
                <a:cubicBezTo>
                  <a:pt x="1463058" y="837371"/>
                  <a:pt x="1496928" y="848499"/>
                  <a:pt x="1521004" y="872575"/>
                </a:cubicBezTo>
                <a:cubicBezTo>
                  <a:pt x="1532864" y="884380"/>
                  <a:pt x="1541523" y="898608"/>
                  <a:pt x="1547293" y="914592"/>
                </a:cubicBezTo>
                <a:cubicBezTo>
                  <a:pt x="1542757" y="873353"/>
                  <a:pt x="1527496" y="837782"/>
                  <a:pt x="1500741" y="811027"/>
                </a:cubicBezTo>
                <a:cubicBezTo>
                  <a:pt x="1468371" y="778648"/>
                  <a:pt x="1423108" y="763030"/>
                  <a:pt x="1370420" y="763030"/>
                </a:cubicBezTo>
                <a:cubicBezTo>
                  <a:pt x="1319644" y="763030"/>
                  <a:pt x="1262155" y="777670"/>
                  <a:pt x="1204009" y="805815"/>
                </a:cubicBezTo>
                <a:cubicBezTo>
                  <a:pt x="1145862" y="833915"/>
                  <a:pt x="1087084" y="875465"/>
                  <a:pt x="1033574" y="929030"/>
                </a:cubicBezTo>
                <a:cubicBezTo>
                  <a:pt x="980063" y="982541"/>
                  <a:pt x="938513" y="1041310"/>
                  <a:pt x="910367" y="1099456"/>
                </a:cubicBezTo>
                <a:lnTo>
                  <a:pt x="910367" y="1099465"/>
                </a:lnTo>
                <a:moveTo>
                  <a:pt x="1163437" y="1419551"/>
                </a:moveTo>
                <a:cubicBezTo>
                  <a:pt x="1240969" y="1389138"/>
                  <a:pt x="1318455" y="1339898"/>
                  <a:pt x="1387693" y="1273037"/>
                </a:cubicBezTo>
                <a:cubicBezTo>
                  <a:pt x="1391973" y="1268712"/>
                  <a:pt x="1396197" y="1264323"/>
                  <a:pt x="1400266" y="1259943"/>
                </a:cubicBezTo>
                <a:cubicBezTo>
                  <a:pt x="1401967" y="1258141"/>
                  <a:pt x="1403622" y="1256285"/>
                  <a:pt x="1405268" y="1254475"/>
                </a:cubicBezTo>
                <a:cubicBezTo>
                  <a:pt x="1408414" y="1251073"/>
                  <a:pt x="1411404" y="1247571"/>
                  <a:pt x="1414449" y="1244114"/>
                </a:cubicBezTo>
                <a:cubicBezTo>
                  <a:pt x="1486412" y="1161069"/>
                  <a:pt x="1530642" y="1067141"/>
                  <a:pt x="1544001" y="980219"/>
                </a:cubicBezTo>
                <a:cubicBezTo>
                  <a:pt x="1544202" y="976561"/>
                  <a:pt x="1544303" y="972949"/>
                  <a:pt x="1544303" y="969392"/>
                </a:cubicBezTo>
                <a:cubicBezTo>
                  <a:pt x="1544303" y="932688"/>
                  <a:pt x="1533897" y="902321"/>
                  <a:pt x="1512555" y="880979"/>
                </a:cubicBezTo>
                <a:cubicBezTo>
                  <a:pt x="1491213" y="859637"/>
                  <a:pt x="1460845" y="849276"/>
                  <a:pt x="1424141" y="849222"/>
                </a:cubicBezTo>
                <a:cubicBezTo>
                  <a:pt x="1380991" y="849222"/>
                  <a:pt x="1329492" y="863761"/>
                  <a:pt x="1275926" y="891339"/>
                </a:cubicBezTo>
                <a:cubicBezTo>
                  <a:pt x="1222361" y="918871"/>
                  <a:pt x="1166784" y="959343"/>
                  <a:pt x="1115339" y="1010842"/>
                </a:cubicBezTo>
                <a:cubicBezTo>
                  <a:pt x="1063886" y="1062295"/>
                  <a:pt x="1023369" y="1117863"/>
                  <a:pt x="995836" y="1171429"/>
                </a:cubicBezTo>
                <a:cubicBezTo>
                  <a:pt x="968258" y="1224994"/>
                  <a:pt x="953719" y="1276548"/>
                  <a:pt x="953719" y="1319644"/>
                </a:cubicBezTo>
                <a:cubicBezTo>
                  <a:pt x="953719" y="1356348"/>
                  <a:pt x="964134" y="1386715"/>
                  <a:pt x="985476" y="1408057"/>
                </a:cubicBezTo>
                <a:cubicBezTo>
                  <a:pt x="1006818" y="1429399"/>
                  <a:pt x="1037186" y="1439759"/>
                  <a:pt x="1073890" y="1439814"/>
                </a:cubicBezTo>
                <a:cubicBezTo>
                  <a:pt x="1077447" y="1439814"/>
                  <a:pt x="1081059" y="1439659"/>
                  <a:pt x="1084716" y="1439503"/>
                </a:cubicBezTo>
                <a:cubicBezTo>
                  <a:pt x="1110493" y="1435535"/>
                  <a:pt x="1136892" y="1428878"/>
                  <a:pt x="1163437" y="1419551"/>
                </a:cubicBezTo>
                <a:lnTo>
                  <a:pt x="1163437" y="1419551"/>
                </a:lnTo>
                <a:moveTo>
                  <a:pt x="793087" y="656887"/>
                </a:moveTo>
                <a:cubicBezTo>
                  <a:pt x="793809" y="656164"/>
                  <a:pt x="794531" y="655488"/>
                  <a:pt x="795245" y="654765"/>
                </a:cubicBezTo>
                <a:lnTo>
                  <a:pt x="784162" y="654765"/>
                </a:lnTo>
                <a:lnTo>
                  <a:pt x="749570" y="660489"/>
                </a:lnTo>
                <a:cubicBezTo>
                  <a:pt x="703896" y="668015"/>
                  <a:pt x="668070" y="703850"/>
                  <a:pt x="660489" y="749570"/>
                </a:cubicBezTo>
                <a:lnTo>
                  <a:pt x="654765" y="784162"/>
                </a:lnTo>
                <a:lnTo>
                  <a:pt x="654765" y="835826"/>
                </a:lnTo>
                <a:cubicBezTo>
                  <a:pt x="691058" y="773290"/>
                  <a:pt x="737308" y="712665"/>
                  <a:pt x="793087" y="656887"/>
                </a:cubicBezTo>
                <a:lnTo>
                  <a:pt x="793087" y="656887"/>
                </a:lnTo>
                <a:moveTo>
                  <a:pt x="1504819" y="241109"/>
                </a:moveTo>
                <a:cubicBezTo>
                  <a:pt x="1478832" y="241164"/>
                  <a:pt x="1452488" y="242554"/>
                  <a:pt x="1425888" y="245077"/>
                </a:cubicBezTo>
                <a:cubicBezTo>
                  <a:pt x="1432024" y="244922"/>
                  <a:pt x="1438214" y="244767"/>
                  <a:pt x="1444295" y="244767"/>
                </a:cubicBezTo>
                <a:cubicBezTo>
                  <a:pt x="1585597" y="244767"/>
                  <a:pt x="1712781" y="288850"/>
                  <a:pt x="1805108" y="381177"/>
                </a:cubicBezTo>
                <a:cubicBezTo>
                  <a:pt x="1897444" y="473513"/>
                  <a:pt x="1941518" y="600688"/>
                  <a:pt x="1941518" y="741999"/>
                </a:cubicBezTo>
                <a:cubicBezTo>
                  <a:pt x="1941472" y="976040"/>
                  <a:pt x="1821037" y="1249272"/>
                  <a:pt x="1598024" y="1472339"/>
                </a:cubicBezTo>
                <a:cubicBezTo>
                  <a:pt x="1374956" y="1695352"/>
                  <a:pt x="1101678" y="1815779"/>
                  <a:pt x="867683" y="1815834"/>
                </a:cubicBezTo>
                <a:cubicBezTo>
                  <a:pt x="726372" y="1815834"/>
                  <a:pt x="599197" y="1771760"/>
                  <a:pt x="506861" y="1679424"/>
                </a:cubicBezTo>
                <a:cubicBezTo>
                  <a:pt x="414534" y="1587097"/>
                  <a:pt x="370460" y="1459913"/>
                  <a:pt x="370460" y="1318611"/>
                </a:cubicBezTo>
                <a:cubicBezTo>
                  <a:pt x="370460" y="1242103"/>
                  <a:pt x="383444" y="1161425"/>
                  <a:pt x="408554" y="1079714"/>
                </a:cubicBezTo>
                <a:cubicBezTo>
                  <a:pt x="394792" y="1118586"/>
                  <a:pt x="383344" y="1157457"/>
                  <a:pt x="374474" y="1196117"/>
                </a:cubicBezTo>
                <a:cubicBezTo>
                  <a:pt x="374218" y="1197361"/>
                  <a:pt x="373907" y="1198596"/>
                  <a:pt x="373651" y="1199830"/>
                </a:cubicBezTo>
                <a:cubicBezTo>
                  <a:pt x="372572" y="1204521"/>
                  <a:pt x="371594" y="1209267"/>
                  <a:pt x="370615" y="1213957"/>
                </a:cubicBezTo>
                <a:cubicBezTo>
                  <a:pt x="359167" y="1270358"/>
                  <a:pt x="353288" y="1325779"/>
                  <a:pt x="353288" y="1379336"/>
                </a:cubicBezTo>
                <a:cubicBezTo>
                  <a:pt x="353288" y="1534665"/>
                  <a:pt x="402062" y="1673965"/>
                  <a:pt x="503304" y="1775262"/>
                </a:cubicBezTo>
                <a:cubicBezTo>
                  <a:pt x="604610" y="1876513"/>
                  <a:pt x="743855" y="1925278"/>
                  <a:pt x="899230" y="1925278"/>
                </a:cubicBezTo>
                <a:cubicBezTo>
                  <a:pt x="1148797" y="1925278"/>
                  <a:pt x="1439293" y="1799027"/>
                  <a:pt x="1675355" y="1562920"/>
                </a:cubicBezTo>
                <a:cubicBezTo>
                  <a:pt x="1911462" y="1326858"/>
                  <a:pt x="2037768" y="1036363"/>
                  <a:pt x="2037713" y="786795"/>
                </a:cubicBezTo>
                <a:cubicBezTo>
                  <a:pt x="2037713" y="631466"/>
                  <a:pt x="1988948" y="492176"/>
                  <a:pt x="1887697" y="390869"/>
                </a:cubicBezTo>
                <a:cubicBezTo>
                  <a:pt x="1789289" y="292462"/>
                  <a:pt x="1654890" y="243788"/>
                  <a:pt x="1504764" y="241109"/>
                </a:cubicBezTo>
                <a:lnTo>
                  <a:pt x="1504819" y="241109"/>
                </a:lnTo>
                <a:moveTo>
                  <a:pt x="1896100" y="382576"/>
                </a:moveTo>
                <a:cubicBezTo>
                  <a:pt x="1999930" y="486397"/>
                  <a:pt x="2049628" y="629098"/>
                  <a:pt x="2049628" y="786850"/>
                </a:cubicBezTo>
                <a:cubicBezTo>
                  <a:pt x="2049628" y="1040377"/>
                  <a:pt x="1921776" y="1333305"/>
                  <a:pt x="1683758" y="1571323"/>
                </a:cubicBezTo>
                <a:cubicBezTo>
                  <a:pt x="1445740" y="1809287"/>
                  <a:pt x="1152766" y="1937138"/>
                  <a:pt x="899285" y="1937193"/>
                </a:cubicBezTo>
                <a:cubicBezTo>
                  <a:pt x="741533" y="1937193"/>
                  <a:pt x="598831" y="1887541"/>
                  <a:pt x="495010" y="1783665"/>
                </a:cubicBezTo>
                <a:cubicBezTo>
                  <a:pt x="444792" y="1733456"/>
                  <a:pt x="407365" y="1674120"/>
                  <a:pt x="381954" y="1608384"/>
                </a:cubicBezTo>
                <a:cubicBezTo>
                  <a:pt x="409432" y="1695974"/>
                  <a:pt x="455362" y="1774750"/>
                  <a:pt x="520476" y="1839910"/>
                </a:cubicBezTo>
                <a:cubicBezTo>
                  <a:pt x="634813" y="1954256"/>
                  <a:pt x="791230" y="2009467"/>
                  <a:pt x="963467" y="2009522"/>
                </a:cubicBezTo>
                <a:cubicBezTo>
                  <a:pt x="1223028" y="2009522"/>
                  <a:pt x="1518169" y="1883728"/>
                  <a:pt x="1755831" y="1646075"/>
                </a:cubicBezTo>
                <a:cubicBezTo>
                  <a:pt x="1993538" y="1408414"/>
                  <a:pt x="2119378" y="1113273"/>
                  <a:pt x="2119323" y="853711"/>
                </a:cubicBezTo>
                <a:cubicBezTo>
                  <a:pt x="2119323" y="681475"/>
                  <a:pt x="2064057" y="525067"/>
                  <a:pt x="1949711" y="410721"/>
                </a:cubicBezTo>
                <a:cubicBezTo>
                  <a:pt x="1896776" y="357777"/>
                  <a:pt x="1834753" y="317516"/>
                  <a:pt x="1766346" y="289517"/>
                </a:cubicBezTo>
                <a:cubicBezTo>
                  <a:pt x="1814078" y="313337"/>
                  <a:pt x="1857750" y="344217"/>
                  <a:pt x="1896100" y="382576"/>
                </a:cubicBezTo>
                <a:lnTo>
                  <a:pt x="1896100" y="382576"/>
                </a:lnTo>
                <a:moveTo>
                  <a:pt x="524445" y="1891363"/>
                </a:moveTo>
                <a:cubicBezTo>
                  <a:pt x="646883" y="2013792"/>
                  <a:pt x="813907" y="2072981"/>
                  <a:pt x="996815" y="2073027"/>
                </a:cubicBezTo>
                <a:cubicBezTo>
                  <a:pt x="1265200" y="2073027"/>
                  <a:pt x="1567455" y="1945231"/>
                  <a:pt x="1809908" y="1702777"/>
                </a:cubicBezTo>
                <a:cubicBezTo>
                  <a:pt x="2052407" y="1460324"/>
                  <a:pt x="2180204" y="1158078"/>
                  <a:pt x="2180158" y="889693"/>
                </a:cubicBezTo>
                <a:cubicBezTo>
                  <a:pt x="2180158" y="706785"/>
                  <a:pt x="2120923" y="539752"/>
                  <a:pt x="1998485" y="417314"/>
                </a:cubicBezTo>
                <a:cubicBezTo>
                  <a:pt x="1918942" y="337825"/>
                  <a:pt x="1820625" y="284982"/>
                  <a:pt x="1711336" y="257714"/>
                </a:cubicBezTo>
                <a:cubicBezTo>
                  <a:pt x="1804751" y="285293"/>
                  <a:pt x="1888940" y="333180"/>
                  <a:pt x="1958069" y="402363"/>
                </a:cubicBezTo>
                <a:cubicBezTo>
                  <a:pt x="2074993" y="519233"/>
                  <a:pt x="2131128" y="678997"/>
                  <a:pt x="2131128" y="853711"/>
                </a:cubicBezTo>
                <a:cubicBezTo>
                  <a:pt x="2131128" y="1117095"/>
                  <a:pt x="2003798" y="1414760"/>
                  <a:pt x="1764179" y="1654424"/>
                </a:cubicBezTo>
                <a:cubicBezTo>
                  <a:pt x="1524515" y="1894042"/>
                  <a:pt x="1226850" y="2021327"/>
                  <a:pt x="963467" y="2021373"/>
                </a:cubicBezTo>
                <a:cubicBezTo>
                  <a:pt x="788752" y="2021373"/>
                  <a:pt x="628988" y="1965238"/>
                  <a:pt x="512119" y="1848313"/>
                </a:cubicBezTo>
                <a:cubicBezTo>
                  <a:pt x="424839" y="1761034"/>
                  <a:pt x="371384" y="1649788"/>
                  <a:pt x="349941" y="1526316"/>
                </a:cubicBezTo>
                <a:cubicBezTo>
                  <a:pt x="368960" y="1666741"/>
                  <a:pt x="426440" y="1793358"/>
                  <a:pt x="524445" y="1891409"/>
                </a:cubicBezTo>
                <a:lnTo>
                  <a:pt x="524445" y="1891363"/>
                </a:lnTo>
              </a:path>
            </a:pathLst>
          </a:custGeom>
          <a:solidFill>
            <a:srgbClr val="FF8F43"/>
          </a:solidFill>
          <a:ln/>
        </p:spPr>
      </p:sp>
      <p:sp>
        <p:nvSpPr>
          <p:cNvPr id="4" name="Shape 2"/>
          <p:cNvSpPr/>
          <p:nvPr/>
        </p:nvSpPr>
        <p:spPr>
          <a:xfrm>
            <a:off x="10896941" y="6472260"/>
            <a:ext cx="218478" cy="218478"/>
          </a:xfrm>
          <a:custGeom>
            <a:avLst/>
            <a:gdLst/>
            <a:ahLst/>
            <a:cxnLst/>
            <a:rect l="l" t="t" r="r" b="b"/>
            <a:pathLst>
              <a:path w="218478" h="218478">
                <a:moveTo>
                  <a:pt x="44952" y="116659"/>
                </a:moveTo>
                <a:lnTo>
                  <a:pt x="0" y="109243"/>
                </a:lnTo>
                <a:lnTo>
                  <a:pt x="44952" y="101818"/>
                </a:lnTo>
                <a:cubicBezTo>
                  <a:pt x="74130" y="97018"/>
                  <a:pt x="97018" y="74130"/>
                  <a:pt x="101818" y="44952"/>
                </a:cubicBezTo>
                <a:lnTo>
                  <a:pt x="109243" y="0"/>
                </a:lnTo>
                <a:lnTo>
                  <a:pt x="116659" y="44952"/>
                </a:lnTo>
                <a:cubicBezTo>
                  <a:pt x="121460" y="74130"/>
                  <a:pt x="144347" y="97018"/>
                  <a:pt x="173526" y="101818"/>
                </a:cubicBezTo>
                <a:lnTo>
                  <a:pt x="218478" y="109243"/>
                </a:lnTo>
                <a:lnTo>
                  <a:pt x="173526" y="116659"/>
                </a:lnTo>
                <a:cubicBezTo>
                  <a:pt x="144347" y="121460"/>
                  <a:pt x="121460" y="144347"/>
                  <a:pt x="116659" y="173526"/>
                </a:cubicBezTo>
                <a:lnTo>
                  <a:pt x="109243" y="218478"/>
                </a:lnTo>
                <a:lnTo>
                  <a:pt x="101818" y="173526"/>
                </a:lnTo>
                <a:cubicBezTo>
                  <a:pt x="97018" y="144347"/>
                  <a:pt x="74130" y="121460"/>
                  <a:pt x="44952" y="116659"/>
                </a:cubicBezTo>
              </a:path>
            </a:pathLst>
          </a:custGeom>
          <a:solidFill>
            <a:srgbClr val="FF8F43"/>
          </a:solidFill>
          <a:ln/>
        </p:spPr>
      </p:sp>
      <p:sp>
        <p:nvSpPr>
          <p:cNvPr id="5" name="Shape 3"/>
          <p:cNvSpPr/>
          <p:nvPr/>
        </p:nvSpPr>
        <p:spPr>
          <a:xfrm>
            <a:off x="12019139" y="5695414"/>
            <a:ext cx="188686" cy="188686"/>
          </a:xfrm>
          <a:custGeom>
            <a:avLst/>
            <a:gdLst/>
            <a:ahLst/>
            <a:cxnLst/>
            <a:rect l="l" t="t" r="r" b="b"/>
            <a:pathLst>
              <a:path w="188686" h="188686">
                <a:moveTo>
                  <a:pt x="87947" y="38816"/>
                </a:moveTo>
                <a:lnTo>
                  <a:pt x="94339" y="0"/>
                </a:lnTo>
                <a:lnTo>
                  <a:pt x="100730" y="38816"/>
                </a:lnTo>
                <a:cubicBezTo>
                  <a:pt x="104909" y="64026"/>
                  <a:pt x="124651" y="83768"/>
                  <a:pt x="149861" y="87947"/>
                </a:cubicBezTo>
                <a:lnTo>
                  <a:pt x="188686" y="94339"/>
                </a:lnTo>
                <a:lnTo>
                  <a:pt x="149861" y="100730"/>
                </a:lnTo>
                <a:cubicBezTo>
                  <a:pt x="124651" y="104909"/>
                  <a:pt x="104909" y="124651"/>
                  <a:pt x="100730" y="149861"/>
                </a:cubicBezTo>
                <a:lnTo>
                  <a:pt x="94339" y="188686"/>
                </a:lnTo>
                <a:lnTo>
                  <a:pt x="87947" y="149861"/>
                </a:lnTo>
                <a:cubicBezTo>
                  <a:pt x="83768" y="124651"/>
                  <a:pt x="64026" y="104909"/>
                  <a:pt x="38816" y="100730"/>
                </a:cubicBezTo>
                <a:lnTo>
                  <a:pt x="0" y="94339"/>
                </a:lnTo>
                <a:lnTo>
                  <a:pt x="38816" y="87947"/>
                </a:lnTo>
                <a:cubicBezTo>
                  <a:pt x="64026" y="83768"/>
                  <a:pt x="83768" y="64026"/>
                  <a:pt x="87947" y="38816"/>
                </a:cubicBezTo>
                <a:lnTo>
                  <a:pt x="87947" y="38816"/>
                </a:lnTo>
              </a:path>
            </a:pathLst>
          </a:custGeom>
          <a:solidFill>
            <a:srgbClr val="FF8F43"/>
          </a:solidFill>
          <a:ln/>
        </p:spPr>
      </p:sp>
      <p:sp>
        <p:nvSpPr>
          <p:cNvPr id="6" name="Shape 4"/>
          <p:cNvSpPr/>
          <p:nvPr/>
        </p:nvSpPr>
        <p:spPr>
          <a:xfrm>
            <a:off x="11079593" y="6036951"/>
            <a:ext cx="130220" cy="130220"/>
          </a:xfrm>
          <a:custGeom>
            <a:avLst/>
            <a:gdLst/>
            <a:ahLst/>
            <a:cxnLst/>
            <a:rect l="l" t="t" r="r" b="b"/>
            <a:pathLst>
              <a:path w="130220" h="130220">
                <a:moveTo>
                  <a:pt x="60680" y="26810"/>
                </a:moveTo>
                <a:lnTo>
                  <a:pt x="65114" y="0"/>
                </a:lnTo>
                <a:lnTo>
                  <a:pt x="69540" y="26810"/>
                </a:lnTo>
                <a:cubicBezTo>
                  <a:pt x="72430" y="44184"/>
                  <a:pt x="86045" y="57845"/>
                  <a:pt x="103409" y="60680"/>
                </a:cubicBezTo>
                <a:lnTo>
                  <a:pt x="130220" y="65114"/>
                </a:lnTo>
                <a:lnTo>
                  <a:pt x="103409" y="69540"/>
                </a:lnTo>
                <a:cubicBezTo>
                  <a:pt x="86045" y="72430"/>
                  <a:pt x="72384" y="86045"/>
                  <a:pt x="69540" y="103419"/>
                </a:cubicBezTo>
                <a:lnTo>
                  <a:pt x="65114" y="130220"/>
                </a:lnTo>
                <a:lnTo>
                  <a:pt x="60680" y="103419"/>
                </a:lnTo>
                <a:cubicBezTo>
                  <a:pt x="57790" y="86045"/>
                  <a:pt x="44184" y="72384"/>
                  <a:pt x="26810" y="69540"/>
                </a:cubicBezTo>
                <a:lnTo>
                  <a:pt x="0" y="65114"/>
                </a:lnTo>
                <a:lnTo>
                  <a:pt x="26810" y="60680"/>
                </a:lnTo>
                <a:cubicBezTo>
                  <a:pt x="44184" y="57790"/>
                  <a:pt x="57845" y="44184"/>
                  <a:pt x="60680" y="26810"/>
                </a:cubicBezTo>
              </a:path>
            </a:pathLst>
          </a:custGeom>
          <a:solidFill>
            <a:srgbClr val="FF8F43"/>
          </a:solidFill>
          <a:ln/>
        </p:spPr>
      </p:sp>
      <p:sp>
        <p:nvSpPr>
          <p:cNvPr id="7" name="Shape 5"/>
          <p:cNvSpPr/>
          <p:nvPr/>
        </p:nvSpPr>
        <p:spPr>
          <a:xfrm>
            <a:off x="1013100" y="5689479"/>
            <a:ext cx="831647" cy="123087"/>
          </a:xfrm>
          <a:custGeom>
            <a:avLst/>
            <a:gdLst/>
            <a:ahLst/>
            <a:cxnLst/>
            <a:rect l="l" t="t" r="r" b="b"/>
            <a:pathLst>
              <a:path w="831647" h="123087">
                <a:moveTo>
                  <a:pt x="829608" y="45656"/>
                </a:moveTo>
                <a:cubicBezTo>
                  <a:pt x="827578" y="41843"/>
                  <a:pt x="822832" y="40407"/>
                  <a:pt x="819019" y="42437"/>
                </a:cubicBezTo>
                <a:cubicBezTo>
                  <a:pt x="811457" y="46479"/>
                  <a:pt x="803986" y="50667"/>
                  <a:pt x="796762" y="54718"/>
                </a:cubicBezTo>
                <a:cubicBezTo>
                  <a:pt x="748345" y="81821"/>
                  <a:pt x="702607" y="107433"/>
                  <a:pt x="608725" y="107433"/>
                </a:cubicBezTo>
                <a:cubicBezTo>
                  <a:pt x="514835" y="107433"/>
                  <a:pt x="469087" y="81821"/>
                  <a:pt x="420670" y="54718"/>
                </a:cubicBezTo>
                <a:cubicBezTo>
                  <a:pt x="372636" y="27816"/>
                  <a:pt x="322957" y="0"/>
                  <a:pt x="224979" y="0"/>
                </a:cubicBezTo>
                <a:cubicBezTo>
                  <a:pt x="127001" y="0"/>
                  <a:pt x="77331" y="27816"/>
                  <a:pt x="29288" y="54718"/>
                </a:cubicBezTo>
                <a:cubicBezTo>
                  <a:pt x="21479" y="59089"/>
                  <a:pt x="13396" y="63606"/>
                  <a:pt x="5276" y="67912"/>
                </a:cubicBezTo>
                <a:cubicBezTo>
                  <a:pt x="1454" y="69933"/>
                  <a:pt x="0" y="74670"/>
                  <a:pt x="2021" y="78492"/>
                </a:cubicBezTo>
                <a:cubicBezTo>
                  <a:pt x="4051" y="82314"/>
                  <a:pt x="8787" y="83777"/>
                  <a:pt x="12610" y="81747"/>
                </a:cubicBezTo>
                <a:cubicBezTo>
                  <a:pt x="20894" y="77358"/>
                  <a:pt x="29050" y="72795"/>
                  <a:pt x="36933" y="68379"/>
                </a:cubicBezTo>
                <a:cubicBezTo>
                  <a:pt x="85359" y="41258"/>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76" y="64374"/>
                  <a:pt x="818973" y="60213"/>
                  <a:pt x="826398" y="56254"/>
                </a:cubicBezTo>
                <a:cubicBezTo>
                  <a:pt x="830211" y="54215"/>
                  <a:pt x="831647" y="49478"/>
                  <a:pt x="829608" y="45656"/>
                </a:cubicBezTo>
              </a:path>
            </a:pathLst>
          </a:custGeom>
          <a:solidFill>
            <a:srgbClr val="2B0000"/>
          </a:solidFill>
          <a:ln/>
        </p:spPr>
      </p:sp>
      <p:sp>
        <p:nvSpPr>
          <p:cNvPr id="8" name="Shape 6"/>
          <p:cNvSpPr/>
          <p:nvPr/>
        </p:nvSpPr>
        <p:spPr>
          <a:xfrm>
            <a:off x="1013100" y="5849874"/>
            <a:ext cx="831647" cy="123087"/>
          </a:xfrm>
          <a:custGeom>
            <a:avLst/>
            <a:gdLst/>
            <a:ahLst/>
            <a:cxnLst/>
            <a:rect l="l" t="t" r="r" b="b"/>
            <a:pathLst>
              <a:path w="831647" h="123087">
                <a:moveTo>
                  <a:pt x="829608" y="45656"/>
                </a:moveTo>
                <a:cubicBezTo>
                  <a:pt x="827578" y="41843"/>
                  <a:pt x="822832" y="40398"/>
                  <a:pt x="819019" y="42437"/>
                </a:cubicBezTo>
                <a:cubicBezTo>
                  <a:pt x="811457" y="46479"/>
                  <a:pt x="803986" y="50658"/>
                  <a:pt x="796762" y="54709"/>
                </a:cubicBezTo>
                <a:cubicBezTo>
                  <a:pt x="748345" y="81821"/>
                  <a:pt x="702607" y="107424"/>
                  <a:pt x="608725" y="107424"/>
                </a:cubicBezTo>
                <a:cubicBezTo>
                  <a:pt x="514835" y="107424"/>
                  <a:pt x="469087" y="81821"/>
                  <a:pt x="420670" y="54709"/>
                </a:cubicBezTo>
                <a:cubicBezTo>
                  <a:pt x="372636" y="27807"/>
                  <a:pt x="322957" y="0"/>
                  <a:pt x="224979" y="0"/>
                </a:cubicBezTo>
                <a:cubicBezTo>
                  <a:pt x="127001" y="0"/>
                  <a:pt x="77322" y="27807"/>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67"/>
                  <a:pt x="413025" y="68379"/>
                </a:cubicBezTo>
                <a:cubicBezTo>
                  <a:pt x="461068" y="95271"/>
                  <a:pt x="510738" y="123087"/>
                  <a:pt x="608725" y="123087"/>
                </a:cubicBezTo>
                <a:cubicBezTo>
                  <a:pt x="706694" y="123087"/>
                  <a:pt x="756364" y="95271"/>
                  <a:pt x="804407" y="68379"/>
                </a:cubicBezTo>
                <a:cubicBezTo>
                  <a:pt x="811576" y="64365"/>
                  <a:pt x="818973" y="60213"/>
                  <a:pt x="826398" y="56254"/>
                </a:cubicBezTo>
                <a:cubicBezTo>
                  <a:pt x="830211" y="54206"/>
                  <a:pt x="831647" y="49469"/>
                  <a:pt x="829608" y="45656"/>
                </a:cubicBezTo>
              </a:path>
            </a:pathLst>
          </a:custGeom>
          <a:solidFill>
            <a:srgbClr val="2B0000"/>
          </a:solidFill>
          <a:ln/>
        </p:spPr>
      </p:sp>
      <p:sp>
        <p:nvSpPr>
          <p:cNvPr id="9" name="Shape 7"/>
          <p:cNvSpPr/>
          <p:nvPr/>
        </p:nvSpPr>
        <p:spPr>
          <a:xfrm>
            <a:off x="1013100" y="6010260"/>
            <a:ext cx="831647" cy="123087"/>
          </a:xfrm>
          <a:custGeom>
            <a:avLst/>
            <a:gdLst/>
            <a:ahLst/>
            <a:cxnLst/>
            <a:rect l="l" t="t" r="r" b="b"/>
            <a:pathLst>
              <a:path w="831647" h="123087">
                <a:moveTo>
                  <a:pt x="829608" y="45656"/>
                </a:moveTo>
                <a:cubicBezTo>
                  <a:pt x="827578" y="41843"/>
                  <a:pt x="822832" y="40407"/>
                  <a:pt x="819019" y="42446"/>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18"/>
                </a:cubicBezTo>
                <a:cubicBezTo>
                  <a:pt x="21470" y="59089"/>
                  <a:pt x="13396" y="63606"/>
                  <a:pt x="5276" y="67912"/>
                </a:cubicBezTo>
                <a:cubicBezTo>
                  <a:pt x="1454" y="69933"/>
                  <a:pt x="0" y="74670"/>
                  <a:pt x="2021" y="78501"/>
                </a:cubicBezTo>
                <a:cubicBezTo>
                  <a:pt x="4051" y="82314"/>
                  <a:pt x="8787" y="83777"/>
                  <a:pt x="12610" y="81747"/>
                </a:cubicBezTo>
                <a:cubicBezTo>
                  <a:pt x="20894" y="77358"/>
                  <a:pt x="29041" y="72795"/>
                  <a:pt x="36933" y="68379"/>
                </a:cubicBezTo>
                <a:cubicBezTo>
                  <a:pt x="85350" y="41267"/>
                  <a:pt x="131088" y="15664"/>
                  <a:pt x="224979" y="15664"/>
                </a:cubicBezTo>
                <a:cubicBezTo>
                  <a:pt x="318870" y="15664"/>
                  <a:pt x="364608" y="41267"/>
                  <a:pt x="413025" y="68370"/>
                </a:cubicBezTo>
                <a:cubicBezTo>
                  <a:pt x="461068" y="95271"/>
                  <a:pt x="510738" y="123087"/>
                  <a:pt x="608725" y="123087"/>
                </a:cubicBezTo>
                <a:cubicBezTo>
                  <a:pt x="706694" y="123087"/>
                  <a:pt x="756364" y="95271"/>
                  <a:pt x="804407" y="68370"/>
                </a:cubicBezTo>
                <a:cubicBezTo>
                  <a:pt x="811567" y="64365"/>
                  <a:pt x="818973" y="60222"/>
                  <a:pt x="826398" y="56254"/>
                </a:cubicBezTo>
                <a:cubicBezTo>
                  <a:pt x="830211" y="54215"/>
                  <a:pt x="831647" y="49469"/>
                  <a:pt x="829608" y="45656"/>
                </a:cubicBezTo>
              </a:path>
            </a:pathLst>
          </a:custGeom>
          <a:solidFill>
            <a:srgbClr val="2B0000"/>
          </a:solidFill>
          <a:ln/>
        </p:spPr>
      </p:sp>
      <p:sp>
        <p:nvSpPr>
          <p:cNvPr id="10" name="Shape 8"/>
          <p:cNvSpPr/>
          <p:nvPr/>
        </p:nvSpPr>
        <p:spPr>
          <a:xfrm>
            <a:off x="1013100" y="6170655"/>
            <a:ext cx="831647" cy="123087"/>
          </a:xfrm>
          <a:custGeom>
            <a:avLst/>
            <a:gdLst/>
            <a:ahLst/>
            <a:cxnLst/>
            <a:rect l="l" t="t" r="r" b="b"/>
            <a:pathLst>
              <a:path w="831647" h="123087">
                <a:moveTo>
                  <a:pt x="826398" y="56254"/>
                </a:moveTo>
                <a:cubicBezTo>
                  <a:pt x="830211" y="54215"/>
                  <a:pt x="831647" y="49469"/>
                  <a:pt x="829608" y="45656"/>
                </a:cubicBezTo>
                <a:cubicBezTo>
                  <a:pt x="827578" y="41843"/>
                  <a:pt x="822832" y="40398"/>
                  <a:pt x="819019" y="42437"/>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67" y="64365"/>
                  <a:pt x="818973" y="60213"/>
                  <a:pt x="826398" y="56254"/>
                </a:cubicBezTo>
              </a:path>
            </a:pathLst>
          </a:custGeom>
          <a:solidFill>
            <a:srgbClr val="2B0000"/>
          </a:solidFill>
          <a:ln/>
        </p:spPr>
      </p:sp>
      <p:sp>
        <p:nvSpPr>
          <p:cNvPr id="11" name="Shape 9"/>
          <p:cNvSpPr/>
          <p:nvPr/>
        </p:nvSpPr>
        <p:spPr>
          <a:xfrm>
            <a:off x="925611" y="2878211"/>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pic>
        <p:nvPicPr>
          <p:cNvPr id="12" name="Image 0" descr="D:\Projects\20. fintechthon\deck\out\template_assets\p5_x47.png">    </p:cNvPr>
          <p:cNvPicPr>
            <a:picLocks noChangeAspect="1"/>
          </p:cNvPicPr>
          <p:nvPr/>
        </p:nvPicPr>
        <p:blipFill>
          <a:blip r:embed="rId1"/>
          <a:stretch>
            <a:fillRect/>
          </a:stretch>
        </p:blipFill>
        <p:spPr>
          <a:xfrm>
            <a:off x="544734" y="278171"/>
            <a:ext cx="901700" cy="901700"/>
          </a:xfrm>
          <a:prstGeom prst="rect">
            <a:avLst/>
          </a:prstGeom>
        </p:spPr>
      </p:pic>
      <p:sp>
        <p:nvSpPr>
          <p:cNvPr id="13" name="Text 10"/>
          <p:cNvSpPr txBox="1"/>
          <p:nvPr/>
        </p:nvSpPr>
        <p:spPr>
          <a:xfrm>
            <a:off x="3344979" y="276353"/>
            <a:ext cx="5501891" cy="875744"/>
          </a:xfrm>
          <a:prstGeom prst="rect">
            <a:avLst/>
          </a:prstGeom>
          <a:noFill/>
          <a:ln/>
        </p:spPr>
        <p:txBody>
          <a:bodyPr wrap="none" lIns="0" tIns="0" rIns="0" bIns="0" rtlCol="0" anchor="t"/>
          <a:lstStyle/>
          <a:p>
            <a:pPr algn="ctr" indent="0" marL="0">
              <a:buNone/>
            </a:pPr>
            <a:r>
              <a:rPr lang="en-US" sz="6968" b="1" spc="-376" kern="0" dirty="0">
                <a:solidFill>
                  <a:srgbClr val="000000"/>
                </a:solidFill>
                <a:latin typeface="League Spartan" pitchFamily="34" charset="0"/>
                <a:ea typeface="League Spartan" pitchFamily="34" charset="-122"/>
                <a:cs typeface="League Spartan" pitchFamily="34" charset="-120"/>
              </a:rPr>
              <a:t>Architecture</a:t>
            </a:r>
            <a:endParaRPr lang="en-US" sz="6968" dirty="0"/>
          </a:p>
        </p:txBody>
      </p:sp>
      <p:sp>
        <p:nvSpPr>
          <p:cNvPr id="14" name="Shape 11"/>
          <p:cNvSpPr/>
          <p:nvPr/>
        </p:nvSpPr>
        <p:spPr>
          <a:xfrm>
            <a:off x="888980" y="1663659"/>
            <a:ext cx="1892259" cy="3352830"/>
          </a:xfrm>
          <a:prstGeom prst="roundRect">
            <a:avLst>
              <a:gd name="adj" fmla="val 6040"/>
            </a:avLst>
          </a:prstGeom>
          <a:solidFill>
            <a:srgbClr val="EAF1F9"/>
          </a:solidFill>
          <a:ln w="6350">
            <a:solidFill>
              <a:srgbClr val="C7D9EE"/>
            </a:solidFill>
            <a:prstDash val="solid"/>
          </a:ln>
        </p:spPr>
      </p:sp>
      <p:sp>
        <p:nvSpPr>
          <p:cNvPr id="15" name="Text 12"/>
          <p:cNvSpPr txBox="1"/>
          <p:nvPr/>
        </p:nvSpPr>
        <p:spPr>
          <a:xfrm>
            <a:off x="984260" y="1758940"/>
            <a:ext cx="294071" cy="101590"/>
          </a:xfrm>
          <a:prstGeom prst="rect">
            <a:avLst/>
          </a:prstGeom>
          <a:noFill/>
          <a:ln/>
        </p:spPr>
        <p:txBody>
          <a:bodyPr wrap="none" lIns="0" tIns="0" rIns="0" bIns="0" rtlCol="0" anchor="t"/>
          <a:lstStyle/>
          <a:p>
            <a:pPr algn="l" indent="0" marL="0">
              <a:buNone/>
            </a:pPr>
            <a:r>
              <a:rPr lang="en-US" sz="650" b="1" dirty="0">
                <a:solidFill>
                  <a:srgbClr val="8C7368"/>
                </a:solidFill>
                <a:latin typeface="Inter" pitchFamily="34" charset="0"/>
                <a:ea typeface="Inter" pitchFamily="34" charset="-122"/>
                <a:cs typeface="Inter" pitchFamily="34" charset="-120"/>
              </a:rPr>
              <a:t>Step 1</a:t>
            </a:r>
            <a:endParaRPr lang="en-US" sz="650" dirty="0"/>
          </a:p>
        </p:txBody>
      </p:sp>
      <p:sp>
        <p:nvSpPr>
          <p:cNvPr id="16" name="Text 13"/>
          <p:cNvSpPr txBox="1"/>
          <p:nvPr/>
        </p:nvSpPr>
        <p:spPr>
          <a:xfrm>
            <a:off x="1181130" y="1852940"/>
            <a:ext cx="841614"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Your records</a:t>
            </a:r>
            <a:endParaRPr lang="en-US" sz="1050" dirty="0"/>
          </a:p>
        </p:txBody>
      </p:sp>
      <p:pic>
        <p:nvPicPr>
          <p:cNvPr id="17" name="Image 1" descr="D:\Projects\20. fintechthon\deck\out\assets\s5_img036.png">    </p:cNvPr>
          <p:cNvPicPr>
            <a:picLocks noChangeAspect="1"/>
          </p:cNvPicPr>
          <p:nvPr/>
        </p:nvPicPr>
        <p:blipFill>
          <a:blip r:embed="rId2"/>
          <a:stretch>
            <a:fillRect/>
          </a:stretch>
        </p:blipFill>
        <p:spPr>
          <a:xfrm>
            <a:off x="977859" y="1866930"/>
            <a:ext cx="152430" cy="152430"/>
          </a:xfrm>
          <a:prstGeom prst="rect">
            <a:avLst/>
          </a:prstGeom>
        </p:spPr>
      </p:pic>
      <p:sp>
        <p:nvSpPr>
          <p:cNvPr id="18" name="Text 14"/>
          <p:cNvSpPr txBox="1"/>
          <p:nvPr/>
        </p:nvSpPr>
        <p:spPr>
          <a:xfrm>
            <a:off x="984260" y="2025670"/>
            <a:ext cx="1415766" cy="120609"/>
          </a:xfrm>
          <a:prstGeom prst="rect">
            <a:avLst/>
          </a:prstGeom>
          <a:noFill/>
          <a:ln/>
        </p:spPr>
        <p:txBody>
          <a:bodyPr wrap="none" lIns="0" tIns="0" rIns="0" bIns="0" rtlCol="0" anchor="t"/>
          <a:lstStyle/>
          <a:p>
            <a:pPr algn="l" indent="0" marL="0">
              <a:buNone/>
            </a:pPr>
            <a:r>
              <a:rPr lang="en-US" sz="750" dirty="0">
                <a:solidFill>
                  <a:srgbClr val="5B4339"/>
                </a:solidFill>
                <a:latin typeface="Inter" pitchFamily="34" charset="0"/>
                <a:ea typeface="Inter" pitchFamily="34" charset="-122"/>
                <a:cs typeface="Inter" pitchFamily="34" charset="-120"/>
              </a:rPr>
              <a:t>files a business already has</a:t>
            </a:r>
            <a:endParaRPr lang="en-US" sz="750" dirty="0"/>
          </a:p>
        </p:txBody>
      </p:sp>
      <p:sp>
        <p:nvSpPr>
          <p:cNvPr id="19" name="Shape 15"/>
          <p:cNvSpPr/>
          <p:nvPr/>
        </p:nvSpPr>
        <p:spPr>
          <a:xfrm>
            <a:off x="984260" y="2235159"/>
            <a:ext cx="1701790" cy="417149"/>
          </a:xfrm>
          <a:prstGeom prst="roundRect">
            <a:avLst>
              <a:gd name="adj" fmla="val 16747"/>
            </a:avLst>
          </a:prstGeom>
          <a:solidFill>
            <a:srgbClr val="FFFFFF"/>
          </a:solidFill>
          <a:ln w="6350">
            <a:solidFill>
              <a:srgbClr val="24110C">
                <a:alpha val="13000"/>
              </a:srgbClr>
            </a:solidFill>
            <a:prstDash val="solid"/>
          </a:ln>
        </p:spPr>
      </p:sp>
      <p:pic>
        <p:nvPicPr>
          <p:cNvPr id="20" name="Image 2" descr="D:\Projects\20. fintechthon\deck\out\assets\s5_img037.png">    </p:cNvPr>
          <p:cNvPicPr>
            <a:picLocks noChangeAspect="1"/>
          </p:cNvPicPr>
          <p:nvPr/>
        </p:nvPicPr>
        <p:blipFill>
          <a:blip r:embed="rId3"/>
          <a:stretch>
            <a:fillRect/>
          </a:stretch>
        </p:blipFill>
        <p:spPr>
          <a:xfrm>
            <a:off x="1060430" y="2311420"/>
            <a:ext cx="127010" cy="127010"/>
          </a:xfrm>
          <a:prstGeom prst="rect">
            <a:avLst/>
          </a:prstGeom>
        </p:spPr>
      </p:pic>
      <p:sp>
        <p:nvSpPr>
          <p:cNvPr id="21" name="Text 16"/>
          <p:cNvSpPr txBox="1"/>
          <p:nvPr/>
        </p:nvSpPr>
        <p:spPr>
          <a:xfrm>
            <a:off x="1244590" y="2317730"/>
            <a:ext cx="968715"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Accounting books</a:t>
            </a:r>
            <a:endParaRPr lang="en-US" sz="775" dirty="0"/>
          </a:p>
        </p:txBody>
      </p:sp>
      <p:sp>
        <p:nvSpPr>
          <p:cNvPr id="22" name="Text 17"/>
          <p:cNvSpPr txBox="1"/>
          <p:nvPr/>
        </p:nvSpPr>
        <p:spPr>
          <a:xfrm>
            <a:off x="1244590" y="2458364"/>
            <a:ext cx="873435"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Tally, Excel or CSV</a:t>
            </a:r>
            <a:endParaRPr lang="en-US" sz="675" dirty="0"/>
          </a:p>
        </p:txBody>
      </p:sp>
      <p:sp>
        <p:nvSpPr>
          <p:cNvPr id="23" name="Shape 18"/>
          <p:cNvSpPr/>
          <p:nvPr/>
        </p:nvSpPr>
        <p:spPr>
          <a:xfrm>
            <a:off x="984260" y="2715859"/>
            <a:ext cx="1701790" cy="417149"/>
          </a:xfrm>
          <a:prstGeom prst="roundRect">
            <a:avLst>
              <a:gd name="adj" fmla="val 16747"/>
            </a:avLst>
          </a:prstGeom>
          <a:solidFill>
            <a:srgbClr val="FFFFFF"/>
          </a:solidFill>
          <a:ln w="6350">
            <a:solidFill>
              <a:srgbClr val="24110C">
                <a:alpha val="13000"/>
              </a:srgbClr>
            </a:solidFill>
            <a:prstDash val="solid"/>
          </a:ln>
        </p:spPr>
      </p:sp>
      <p:pic>
        <p:nvPicPr>
          <p:cNvPr id="24" name="Image 3" descr="D:\Projects\20. fintechthon\deck\out\assets\s5_img038.png">    </p:cNvPr>
          <p:cNvPicPr>
            <a:picLocks noChangeAspect="1"/>
          </p:cNvPicPr>
          <p:nvPr/>
        </p:nvPicPr>
        <p:blipFill>
          <a:blip r:embed="rId4"/>
          <a:stretch>
            <a:fillRect/>
          </a:stretch>
        </p:blipFill>
        <p:spPr>
          <a:xfrm>
            <a:off x="1060430" y="2792029"/>
            <a:ext cx="127010" cy="127010"/>
          </a:xfrm>
          <a:prstGeom prst="rect">
            <a:avLst/>
          </a:prstGeom>
        </p:spPr>
      </p:pic>
      <p:sp>
        <p:nvSpPr>
          <p:cNvPr id="25" name="Text 19"/>
          <p:cNvSpPr txBox="1"/>
          <p:nvPr/>
        </p:nvSpPr>
        <p:spPr>
          <a:xfrm>
            <a:off x="1244590" y="2798338"/>
            <a:ext cx="840974"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GST portal data</a:t>
            </a:r>
            <a:endParaRPr lang="en-US" sz="775" dirty="0"/>
          </a:p>
        </p:txBody>
      </p:sp>
      <p:sp>
        <p:nvSpPr>
          <p:cNvPr id="26" name="Text 20"/>
          <p:cNvSpPr txBox="1"/>
          <p:nvPr/>
        </p:nvSpPr>
        <p:spPr>
          <a:xfrm>
            <a:off x="1244590" y="2938973"/>
            <a:ext cx="1007486"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GSTR-2B and GSTR-1</a:t>
            </a:r>
            <a:endParaRPr lang="en-US" sz="675" dirty="0"/>
          </a:p>
        </p:txBody>
      </p:sp>
      <p:sp>
        <p:nvSpPr>
          <p:cNvPr id="27" name="Shape 21"/>
          <p:cNvSpPr/>
          <p:nvPr/>
        </p:nvSpPr>
        <p:spPr>
          <a:xfrm>
            <a:off x="984260" y="3196468"/>
            <a:ext cx="1701790" cy="417149"/>
          </a:xfrm>
          <a:prstGeom prst="roundRect">
            <a:avLst>
              <a:gd name="adj" fmla="val 16747"/>
            </a:avLst>
          </a:prstGeom>
          <a:solidFill>
            <a:srgbClr val="FFFFFF"/>
          </a:solidFill>
          <a:ln w="6350">
            <a:solidFill>
              <a:srgbClr val="24110C">
                <a:alpha val="13000"/>
              </a:srgbClr>
            </a:solidFill>
            <a:prstDash val="solid"/>
          </a:ln>
        </p:spPr>
      </p:sp>
      <p:pic>
        <p:nvPicPr>
          <p:cNvPr id="28" name="Image 4" descr="D:\Projects\20. fintechthon\deck\out\assets\s5_img039.png">    </p:cNvPr>
          <p:cNvPicPr>
            <a:picLocks noChangeAspect="1"/>
          </p:cNvPicPr>
          <p:nvPr/>
        </p:nvPicPr>
        <p:blipFill>
          <a:blip r:embed="rId5"/>
          <a:stretch>
            <a:fillRect/>
          </a:stretch>
        </p:blipFill>
        <p:spPr>
          <a:xfrm>
            <a:off x="1060430" y="3272638"/>
            <a:ext cx="127010" cy="127010"/>
          </a:xfrm>
          <a:prstGeom prst="rect">
            <a:avLst/>
          </a:prstGeom>
        </p:spPr>
      </p:pic>
      <p:sp>
        <p:nvSpPr>
          <p:cNvPr id="29" name="Text 22"/>
          <p:cNvSpPr txBox="1"/>
          <p:nvPr/>
        </p:nvSpPr>
        <p:spPr>
          <a:xfrm>
            <a:off x="1244590" y="3278947"/>
            <a:ext cx="834024"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Bank statement</a:t>
            </a:r>
            <a:endParaRPr lang="en-US" sz="775" dirty="0"/>
          </a:p>
        </p:txBody>
      </p:sp>
      <p:sp>
        <p:nvSpPr>
          <p:cNvPr id="30" name="Text 23"/>
          <p:cNvSpPr txBox="1"/>
          <p:nvPr/>
        </p:nvSpPr>
        <p:spPr>
          <a:xfrm>
            <a:off x="1244590" y="3419582"/>
            <a:ext cx="694853"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CSV download</a:t>
            </a:r>
            <a:endParaRPr lang="en-US" sz="675" dirty="0"/>
          </a:p>
        </p:txBody>
      </p:sp>
      <p:sp>
        <p:nvSpPr>
          <p:cNvPr id="31" name="Shape 24"/>
          <p:cNvSpPr/>
          <p:nvPr/>
        </p:nvSpPr>
        <p:spPr>
          <a:xfrm>
            <a:off x="984260" y="3677077"/>
            <a:ext cx="1701790" cy="417149"/>
          </a:xfrm>
          <a:prstGeom prst="roundRect">
            <a:avLst>
              <a:gd name="adj" fmla="val 16747"/>
            </a:avLst>
          </a:prstGeom>
          <a:solidFill>
            <a:srgbClr val="FFFFFF"/>
          </a:solidFill>
          <a:ln w="6350">
            <a:solidFill>
              <a:srgbClr val="24110C">
                <a:alpha val="13000"/>
              </a:srgbClr>
            </a:solidFill>
            <a:prstDash val="solid"/>
          </a:ln>
        </p:spPr>
      </p:sp>
      <p:pic>
        <p:nvPicPr>
          <p:cNvPr id="32" name="Image 5" descr="D:\Projects\20. fintechthon\deck\out\assets\s5_img040.png">    </p:cNvPr>
          <p:cNvPicPr>
            <a:picLocks noChangeAspect="1"/>
          </p:cNvPicPr>
          <p:nvPr/>
        </p:nvPicPr>
        <p:blipFill>
          <a:blip r:embed="rId6"/>
          <a:stretch>
            <a:fillRect/>
          </a:stretch>
        </p:blipFill>
        <p:spPr>
          <a:xfrm>
            <a:off x="1060430" y="3753246"/>
            <a:ext cx="127010" cy="127010"/>
          </a:xfrm>
          <a:prstGeom prst="rect">
            <a:avLst/>
          </a:prstGeom>
        </p:spPr>
      </p:pic>
      <p:sp>
        <p:nvSpPr>
          <p:cNvPr id="33" name="Text 25"/>
          <p:cNvSpPr txBox="1"/>
          <p:nvPr/>
        </p:nvSpPr>
        <p:spPr>
          <a:xfrm>
            <a:off x="1244590" y="3759556"/>
            <a:ext cx="570677"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E-invoices</a:t>
            </a:r>
            <a:endParaRPr lang="en-US" sz="775" dirty="0"/>
          </a:p>
        </p:txBody>
      </p:sp>
      <p:sp>
        <p:nvSpPr>
          <p:cNvPr id="34" name="Text 26"/>
          <p:cNvSpPr txBox="1"/>
          <p:nvPr/>
        </p:nvSpPr>
        <p:spPr>
          <a:xfrm>
            <a:off x="1244590" y="3900190"/>
            <a:ext cx="1298997"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government invoice ID (IRN)</a:t>
            </a:r>
            <a:endParaRPr lang="en-US" sz="675" dirty="0"/>
          </a:p>
        </p:txBody>
      </p:sp>
      <p:sp>
        <p:nvSpPr>
          <p:cNvPr id="35" name="Shape 27"/>
          <p:cNvSpPr/>
          <p:nvPr/>
        </p:nvSpPr>
        <p:spPr>
          <a:xfrm>
            <a:off x="984260" y="4157685"/>
            <a:ext cx="1701790" cy="417149"/>
          </a:xfrm>
          <a:prstGeom prst="roundRect">
            <a:avLst>
              <a:gd name="adj" fmla="val 16747"/>
            </a:avLst>
          </a:prstGeom>
          <a:solidFill>
            <a:srgbClr val="FFFFFF"/>
          </a:solidFill>
          <a:ln w="6350">
            <a:solidFill>
              <a:srgbClr val="24110C">
                <a:alpha val="13000"/>
              </a:srgbClr>
            </a:solidFill>
            <a:prstDash val="solid"/>
          </a:ln>
        </p:spPr>
      </p:sp>
      <p:pic>
        <p:nvPicPr>
          <p:cNvPr id="36" name="Image 6" descr="D:\Projects\20. fintechthon\deck\out\assets\s5_img041.png">    </p:cNvPr>
          <p:cNvPicPr>
            <a:picLocks noChangeAspect="1"/>
          </p:cNvPicPr>
          <p:nvPr/>
        </p:nvPicPr>
        <p:blipFill>
          <a:blip r:embed="rId7"/>
          <a:stretch>
            <a:fillRect/>
          </a:stretch>
        </p:blipFill>
        <p:spPr>
          <a:xfrm>
            <a:off x="1060430" y="4233855"/>
            <a:ext cx="127010" cy="127010"/>
          </a:xfrm>
          <a:prstGeom prst="rect">
            <a:avLst/>
          </a:prstGeom>
        </p:spPr>
      </p:pic>
      <p:sp>
        <p:nvSpPr>
          <p:cNvPr id="37" name="Text 28"/>
          <p:cNvSpPr txBox="1"/>
          <p:nvPr/>
        </p:nvSpPr>
        <p:spPr>
          <a:xfrm>
            <a:off x="1244590" y="4240256"/>
            <a:ext cx="802569"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Supplier status</a:t>
            </a:r>
            <a:endParaRPr lang="en-US" sz="775" dirty="0"/>
          </a:p>
        </p:txBody>
      </p:sp>
      <p:sp>
        <p:nvSpPr>
          <p:cNvPr id="38" name="Text 29"/>
          <p:cNvSpPr txBox="1"/>
          <p:nvPr/>
        </p:nvSpPr>
        <p:spPr>
          <a:xfrm>
            <a:off x="1244590" y="4380799"/>
            <a:ext cx="1203076"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active or cancelled GSTIN</a:t>
            </a:r>
            <a:endParaRPr lang="en-US" sz="675" dirty="0"/>
          </a:p>
        </p:txBody>
      </p:sp>
      <p:pic>
        <p:nvPicPr>
          <p:cNvPr id="39" name="Image 7" descr="D:\Projects\20. fintechthon\deck\out\assets\s5_img042.png">    </p:cNvPr>
          <p:cNvPicPr>
            <a:picLocks noChangeAspect="1"/>
          </p:cNvPicPr>
          <p:nvPr/>
        </p:nvPicPr>
        <p:blipFill>
          <a:blip r:embed="rId8"/>
          <a:stretch>
            <a:fillRect/>
          </a:stretch>
        </p:blipFill>
        <p:spPr>
          <a:xfrm>
            <a:off x="2800350" y="3168670"/>
            <a:ext cx="228600" cy="165141"/>
          </a:xfrm>
          <a:prstGeom prst="rect">
            <a:avLst/>
          </a:prstGeom>
        </p:spPr>
      </p:pic>
      <p:sp>
        <p:nvSpPr>
          <p:cNvPr id="40" name="Shape 30"/>
          <p:cNvSpPr/>
          <p:nvPr/>
        </p:nvSpPr>
        <p:spPr>
          <a:xfrm>
            <a:off x="3035259" y="1663659"/>
            <a:ext cx="1892259" cy="3352830"/>
          </a:xfrm>
          <a:prstGeom prst="roundRect">
            <a:avLst>
              <a:gd name="adj" fmla="val 6040"/>
            </a:avLst>
          </a:prstGeom>
          <a:solidFill>
            <a:srgbClr val="F1ECFB"/>
          </a:solidFill>
          <a:ln w="6350">
            <a:solidFill>
              <a:srgbClr val="D8CDF3"/>
            </a:solidFill>
            <a:prstDash val="solid"/>
          </a:ln>
        </p:spPr>
      </p:sp>
      <p:sp>
        <p:nvSpPr>
          <p:cNvPr id="41" name="Text 31"/>
          <p:cNvSpPr txBox="1"/>
          <p:nvPr/>
        </p:nvSpPr>
        <p:spPr>
          <a:xfrm>
            <a:off x="3130540" y="1758940"/>
            <a:ext cx="312450" cy="101590"/>
          </a:xfrm>
          <a:prstGeom prst="rect">
            <a:avLst/>
          </a:prstGeom>
          <a:noFill/>
          <a:ln/>
        </p:spPr>
        <p:txBody>
          <a:bodyPr wrap="none" lIns="0" tIns="0" rIns="0" bIns="0" rtlCol="0" anchor="t"/>
          <a:lstStyle/>
          <a:p>
            <a:pPr algn="l" indent="0" marL="0">
              <a:buNone/>
            </a:pPr>
            <a:r>
              <a:rPr lang="en-US" sz="650" b="1" dirty="0">
                <a:solidFill>
                  <a:srgbClr val="8C7368"/>
                </a:solidFill>
                <a:latin typeface="Inter" pitchFamily="34" charset="0"/>
                <a:ea typeface="Inter" pitchFamily="34" charset="-122"/>
                <a:cs typeface="Inter" pitchFamily="34" charset="-120"/>
              </a:rPr>
              <a:t>Step 2</a:t>
            </a:r>
            <a:endParaRPr lang="en-US" sz="650" dirty="0"/>
          </a:p>
        </p:txBody>
      </p:sp>
      <p:sp>
        <p:nvSpPr>
          <p:cNvPr id="42" name="Text 32"/>
          <p:cNvSpPr txBox="1"/>
          <p:nvPr/>
        </p:nvSpPr>
        <p:spPr>
          <a:xfrm>
            <a:off x="3327410" y="1852940"/>
            <a:ext cx="605699"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Clean up</a:t>
            </a:r>
            <a:endParaRPr lang="en-US" sz="1050" dirty="0"/>
          </a:p>
        </p:txBody>
      </p:sp>
      <p:pic>
        <p:nvPicPr>
          <p:cNvPr id="43" name="Image 8" descr="D:\Projects\20. fintechthon\deck\out\assets\s5_img043.png">    </p:cNvPr>
          <p:cNvPicPr>
            <a:picLocks noChangeAspect="1"/>
          </p:cNvPicPr>
          <p:nvPr/>
        </p:nvPicPr>
        <p:blipFill>
          <a:blip r:embed="rId9"/>
          <a:stretch>
            <a:fillRect/>
          </a:stretch>
        </p:blipFill>
        <p:spPr>
          <a:xfrm>
            <a:off x="3124230" y="1866930"/>
            <a:ext cx="152430" cy="152430"/>
          </a:xfrm>
          <a:prstGeom prst="rect">
            <a:avLst/>
          </a:prstGeom>
        </p:spPr>
      </p:pic>
      <p:sp>
        <p:nvSpPr>
          <p:cNvPr id="44" name="Text 33"/>
          <p:cNvSpPr txBox="1"/>
          <p:nvPr/>
        </p:nvSpPr>
        <p:spPr>
          <a:xfrm>
            <a:off x="3130540" y="2025670"/>
            <a:ext cx="1594348" cy="120609"/>
          </a:xfrm>
          <a:prstGeom prst="rect">
            <a:avLst/>
          </a:prstGeom>
          <a:noFill/>
          <a:ln/>
        </p:spPr>
        <p:txBody>
          <a:bodyPr wrap="none" lIns="0" tIns="0" rIns="0" bIns="0" rtlCol="0" anchor="t"/>
          <a:lstStyle/>
          <a:p>
            <a:pPr algn="l" indent="0" marL="0">
              <a:buNone/>
            </a:pPr>
            <a:r>
              <a:rPr lang="en-US" sz="750" dirty="0">
                <a:solidFill>
                  <a:srgbClr val="5B4339"/>
                </a:solidFill>
                <a:latin typeface="Inter" pitchFamily="34" charset="0"/>
                <a:ea typeface="Inter" pitchFamily="34" charset="-122"/>
                <a:cs typeface="Inter" pitchFamily="34" charset="-120"/>
              </a:rPr>
              <a:t>every file speaks one language</a:t>
            </a:r>
            <a:endParaRPr lang="en-US" sz="750" dirty="0"/>
          </a:p>
        </p:txBody>
      </p:sp>
      <p:sp>
        <p:nvSpPr>
          <p:cNvPr id="45" name="Shape 34"/>
          <p:cNvSpPr/>
          <p:nvPr/>
        </p:nvSpPr>
        <p:spPr>
          <a:xfrm>
            <a:off x="3130540" y="2235159"/>
            <a:ext cx="1701790" cy="417149"/>
          </a:xfrm>
          <a:prstGeom prst="roundRect">
            <a:avLst>
              <a:gd name="adj" fmla="val 16747"/>
            </a:avLst>
          </a:prstGeom>
          <a:solidFill>
            <a:srgbClr val="FFFFFF"/>
          </a:solidFill>
          <a:ln w="6350">
            <a:solidFill>
              <a:srgbClr val="24110C">
                <a:alpha val="13000"/>
              </a:srgbClr>
            </a:solidFill>
            <a:prstDash val="solid"/>
          </a:ln>
        </p:spPr>
      </p:sp>
      <p:pic>
        <p:nvPicPr>
          <p:cNvPr id="46" name="Image 9" descr="D:\Projects\20. fintechthon\deck\out\assets\s5_img044.png">    </p:cNvPr>
          <p:cNvPicPr>
            <a:picLocks noChangeAspect="1"/>
          </p:cNvPicPr>
          <p:nvPr/>
        </p:nvPicPr>
        <p:blipFill>
          <a:blip r:embed="rId10"/>
          <a:stretch>
            <a:fillRect/>
          </a:stretch>
        </p:blipFill>
        <p:spPr>
          <a:xfrm>
            <a:off x="3206709" y="2311420"/>
            <a:ext cx="127010" cy="127010"/>
          </a:xfrm>
          <a:prstGeom prst="rect">
            <a:avLst/>
          </a:prstGeom>
        </p:spPr>
      </p:pic>
      <p:sp>
        <p:nvSpPr>
          <p:cNvPr id="47" name="Text 35"/>
          <p:cNvSpPr txBox="1"/>
          <p:nvPr/>
        </p:nvSpPr>
        <p:spPr>
          <a:xfrm>
            <a:off x="3390870" y="2317730"/>
            <a:ext cx="938540"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Reads any format</a:t>
            </a:r>
            <a:endParaRPr lang="en-US" sz="775" dirty="0"/>
          </a:p>
        </p:txBody>
      </p:sp>
      <p:sp>
        <p:nvSpPr>
          <p:cNvPr id="48" name="Text 36"/>
          <p:cNvSpPr txBox="1"/>
          <p:nvPr/>
        </p:nvSpPr>
        <p:spPr>
          <a:xfrm>
            <a:off x="3390870" y="2458364"/>
            <a:ext cx="1411285"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broken rows set aside, not lost</a:t>
            </a:r>
            <a:endParaRPr lang="en-US" sz="675" dirty="0"/>
          </a:p>
        </p:txBody>
      </p:sp>
      <p:sp>
        <p:nvSpPr>
          <p:cNvPr id="49" name="Shape 37"/>
          <p:cNvSpPr/>
          <p:nvPr/>
        </p:nvSpPr>
        <p:spPr>
          <a:xfrm>
            <a:off x="3130540" y="2715859"/>
            <a:ext cx="1701790" cy="544982"/>
          </a:xfrm>
          <a:prstGeom prst="roundRect">
            <a:avLst>
              <a:gd name="adj" fmla="val 12819"/>
            </a:avLst>
          </a:prstGeom>
          <a:solidFill>
            <a:srgbClr val="FFFFFF"/>
          </a:solidFill>
          <a:ln w="6350">
            <a:solidFill>
              <a:srgbClr val="24110C">
                <a:alpha val="13000"/>
              </a:srgbClr>
            </a:solidFill>
            <a:prstDash val="solid"/>
          </a:ln>
        </p:spPr>
      </p:sp>
      <p:pic>
        <p:nvPicPr>
          <p:cNvPr id="50" name="Image 10" descr="D:\Projects\20. fintechthon\deck\out\assets\s5_img045.png">    </p:cNvPr>
          <p:cNvPicPr>
            <a:picLocks noChangeAspect="1"/>
          </p:cNvPicPr>
          <p:nvPr/>
        </p:nvPicPr>
        <p:blipFill>
          <a:blip r:embed="rId11"/>
          <a:stretch>
            <a:fillRect/>
          </a:stretch>
        </p:blipFill>
        <p:spPr>
          <a:xfrm>
            <a:off x="3206709" y="2792029"/>
            <a:ext cx="127010" cy="127010"/>
          </a:xfrm>
          <a:prstGeom prst="rect">
            <a:avLst/>
          </a:prstGeom>
        </p:spPr>
      </p:pic>
      <p:sp>
        <p:nvSpPr>
          <p:cNvPr id="51" name="Text 38"/>
          <p:cNvSpPr txBox="1"/>
          <p:nvPr/>
        </p:nvSpPr>
        <p:spPr>
          <a:xfrm>
            <a:off x="3390870" y="2794681"/>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Money kept to the exact paisa</a:t>
            </a:r>
            <a:endParaRPr lang="en-US" sz="775" dirty="0"/>
          </a:p>
        </p:txBody>
      </p:sp>
      <p:sp>
        <p:nvSpPr>
          <p:cNvPr id="52" name="Text 39"/>
          <p:cNvSpPr txBox="1"/>
          <p:nvPr/>
        </p:nvSpPr>
        <p:spPr>
          <a:xfrm>
            <a:off x="3390870" y="3066806"/>
            <a:ext cx="1161562"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no rounding drift in totals</a:t>
            </a:r>
            <a:endParaRPr lang="en-US" sz="675" dirty="0"/>
          </a:p>
        </p:txBody>
      </p:sp>
      <p:sp>
        <p:nvSpPr>
          <p:cNvPr id="53" name="Shape 40"/>
          <p:cNvSpPr/>
          <p:nvPr/>
        </p:nvSpPr>
        <p:spPr>
          <a:xfrm>
            <a:off x="3130540" y="3324301"/>
            <a:ext cx="1701790" cy="544982"/>
          </a:xfrm>
          <a:prstGeom prst="roundRect">
            <a:avLst>
              <a:gd name="adj" fmla="val 12819"/>
            </a:avLst>
          </a:prstGeom>
          <a:solidFill>
            <a:srgbClr val="FFFFFF"/>
          </a:solidFill>
          <a:ln w="6350">
            <a:solidFill>
              <a:srgbClr val="24110C">
                <a:alpha val="13000"/>
              </a:srgbClr>
            </a:solidFill>
            <a:prstDash val="solid"/>
          </a:ln>
        </p:spPr>
      </p:sp>
      <p:pic>
        <p:nvPicPr>
          <p:cNvPr id="54" name="Image 11" descr="D:\Projects\20. fintechthon\deck\out\assets\s5_img046.png">    </p:cNvPr>
          <p:cNvPicPr>
            <a:picLocks noChangeAspect="1"/>
          </p:cNvPicPr>
          <p:nvPr/>
        </p:nvPicPr>
        <p:blipFill>
          <a:blip r:embed="rId12"/>
          <a:stretch>
            <a:fillRect/>
          </a:stretch>
        </p:blipFill>
        <p:spPr>
          <a:xfrm>
            <a:off x="3206709" y="3400562"/>
            <a:ext cx="127010" cy="127010"/>
          </a:xfrm>
          <a:prstGeom prst="rect">
            <a:avLst/>
          </a:prstGeom>
        </p:spPr>
      </p:pic>
      <p:sp>
        <p:nvSpPr>
          <p:cNvPr id="55" name="Text 41"/>
          <p:cNvSpPr txBox="1"/>
          <p:nvPr/>
        </p:nvSpPr>
        <p:spPr>
          <a:xfrm>
            <a:off x="3390870" y="3403214"/>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Checks every GSTIN is genuine</a:t>
            </a:r>
            <a:endParaRPr lang="en-US" sz="775" dirty="0"/>
          </a:p>
        </p:txBody>
      </p:sp>
      <p:sp>
        <p:nvSpPr>
          <p:cNvPr id="56" name="Text 42"/>
          <p:cNvSpPr txBox="1"/>
          <p:nvPr/>
        </p:nvSpPr>
        <p:spPr>
          <a:xfrm>
            <a:off x="3390870" y="3675339"/>
            <a:ext cx="1329080"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check digit and owner's PAN</a:t>
            </a:r>
            <a:endParaRPr lang="en-US" sz="675" dirty="0"/>
          </a:p>
        </p:txBody>
      </p:sp>
      <p:sp>
        <p:nvSpPr>
          <p:cNvPr id="57" name="Shape 43"/>
          <p:cNvSpPr/>
          <p:nvPr/>
        </p:nvSpPr>
        <p:spPr>
          <a:xfrm>
            <a:off x="3130540" y="3932834"/>
            <a:ext cx="1701790" cy="417149"/>
          </a:xfrm>
          <a:prstGeom prst="roundRect">
            <a:avLst>
              <a:gd name="adj" fmla="val 16747"/>
            </a:avLst>
          </a:prstGeom>
          <a:solidFill>
            <a:srgbClr val="FFFFFF"/>
          </a:solidFill>
          <a:ln w="6350">
            <a:solidFill>
              <a:srgbClr val="24110C">
                <a:alpha val="13000"/>
              </a:srgbClr>
            </a:solidFill>
            <a:prstDash val="solid"/>
          </a:ln>
        </p:spPr>
      </p:sp>
      <p:pic>
        <p:nvPicPr>
          <p:cNvPr id="58" name="Image 12" descr="D:\Projects\20. fintechthon\deck\out\assets\s5_img047.png">    </p:cNvPr>
          <p:cNvPicPr>
            <a:picLocks noChangeAspect="1"/>
          </p:cNvPicPr>
          <p:nvPr/>
        </p:nvPicPr>
        <p:blipFill>
          <a:blip r:embed="rId13"/>
          <a:stretch>
            <a:fillRect/>
          </a:stretch>
        </p:blipFill>
        <p:spPr>
          <a:xfrm>
            <a:off x="3206709" y="4009004"/>
            <a:ext cx="127010" cy="127010"/>
          </a:xfrm>
          <a:prstGeom prst="rect">
            <a:avLst/>
          </a:prstGeom>
        </p:spPr>
      </p:pic>
      <p:sp>
        <p:nvSpPr>
          <p:cNvPr id="59" name="Text 44"/>
          <p:cNvSpPr txBox="1"/>
          <p:nvPr/>
        </p:nvSpPr>
        <p:spPr>
          <a:xfrm>
            <a:off x="3390870" y="4015405"/>
            <a:ext cx="1431676"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Same bill, different spelling</a:t>
            </a:r>
            <a:endParaRPr lang="en-US" sz="775" dirty="0"/>
          </a:p>
        </p:txBody>
      </p:sp>
      <p:sp>
        <p:nvSpPr>
          <p:cNvPr id="60" name="Text 45"/>
          <p:cNvSpPr txBox="1"/>
          <p:nvPr/>
        </p:nvSpPr>
        <p:spPr>
          <a:xfrm>
            <a:off x="3390870" y="4155948"/>
            <a:ext cx="1114105"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INV/25-26/042 is bill 42</a:t>
            </a:r>
            <a:endParaRPr lang="en-US" sz="675" dirty="0"/>
          </a:p>
        </p:txBody>
      </p:sp>
      <p:sp>
        <p:nvSpPr>
          <p:cNvPr id="61" name="Shape 46"/>
          <p:cNvSpPr/>
          <p:nvPr/>
        </p:nvSpPr>
        <p:spPr>
          <a:xfrm>
            <a:off x="3130540" y="4413443"/>
            <a:ext cx="1701790" cy="417149"/>
          </a:xfrm>
          <a:prstGeom prst="roundRect">
            <a:avLst>
              <a:gd name="adj" fmla="val 16747"/>
            </a:avLst>
          </a:prstGeom>
          <a:solidFill>
            <a:srgbClr val="FFFFFF"/>
          </a:solidFill>
          <a:ln w="6350">
            <a:solidFill>
              <a:srgbClr val="24110C">
                <a:alpha val="13000"/>
              </a:srgbClr>
            </a:solidFill>
            <a:prstDash val="solid"/>
          </a:ln>
        </p:spPr>
      </p:sp>
      <p:pic>
        <p:nvPicPr>
          <p:cNvPr id="62" name="Image 13" descr="D:\Projects\20. fintechthon\deck\out\assets\s5_img048.png">    </p:cNvPr>
          <p:cNvPicPr>
            <a:picLocks noChangeAspect="1"/>
          </p:cNvPicPr>
          <p:nvPr/>
        </p:nvPicPr>
        <p:blipFill>
          <a:blip r:embed="rId14"/>
          <a:stretch>
            <a:fillRect/>
          </a:stretch>
        </p:blipFill>
        <p:spPr>
          <a:xfrm>
            <a:off x="3206709" y="4489613"/>
            <a:ext cx="127010" cy="127010"/>
          </a:xfrm>
          <a:prstGeom prst="rect">
            <a:avLst/>
          </a:prstGeom>
        </p:spPr>
      </p:pic>
      <p:sp>
        <p:nvSpPr>
          <p:cNvPr id="63" name="Text 47"/>
          <p:cNvSpPr txBox="1"/>
          <p:nvPr/>
        </p:nvSpPr>
        <p:spPr>
          <a:xfrm>
            <a:off x="3390870" y="4496013"/>
            <a:ext cx="1355598"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Right tax rate on any date</a:t>
            </a:r>
            <a:endParaRPr lang="en-US" sz="775" dirty="0"/>
          </a:p>
        </p:txBody>
      </p:sp>
      <p:sp>
        <p:nvSpPr>
          <p:cNvPr id="64" name="Text 48"/>
          <p:cNvSpPr txBox="1"/>
          <p:nvPr/>
        </p:nvSpPr>
        <p:spPr>
          <a:xfrm>
            <a:off x="3390870" y="4636557"/>
            <a:ext cx="1464320"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knows the 22 Sep 2025 change</a:t>
            </a:r>
            <a:endParaRPr lang="en-US" sz="675" dirty="0"/>
          </a:p>
        </p:txBody>
      </p:sp>
      <p:pic>
        <p:nvPicPr>
          <p:cNvPr id="65" name="Image 14" descr="D:\Projects\20. fintechthon\deck\out\assets\s5_img049.png">    </p:cNvPr>
          <p:cNvPicPr>
            <a:picLocks noChangeAspect="1"/>
          </p:cNvPicPr>
          <p:nvPr/>
        </p:nvPicPr>
        <p:blipFill>
          <a:blip r:embed="rId15"/>
          <a:stretch>
            <a:fillRect/>
          </a:stretch>
        </p:blipFill>
        <p:spPr>
          <a:xfrm>
            <a:off x="4946630" y="3168670"/>
            <a:ext cx="228600" cy="165141"/>
          </a:xfrm>
          <a:prstGeom prst="rect">
            <a:avLst/>
          </a:prstGeom>
        </p:spPr>
      </p:pic>
      <p:sp>
        <p:nvSpPr>
          <p:cNvPr id="66" name="Shape 49"/>
          <p:cNvSpPr/>
          <p:nvPr/>
        </p:nvSpPr>
        <p:spPr>
          <a:xfrm>
            <a:off x="5181630" y="1663659"/>
            <a:ext cx="1892259" cy="3352830"/>
          </a:xfrm>
          <a:prstGeom prst="roundRect">
            <a:avLst>
              <a:gd name="adj" fmla="val 6040"/>
            </a:avLst>
          </a:prstGeom>
          <a:solidFill>
            <a:srgbClr val="E5F4EC"/>
          </a:solidFill>
          <a:ln w="6350">
            <a:solidFill>
              <a:srgbClr val="BFE3CF"/>
            </a:solidFill>
            <a:prstDash val="solid"/>
          </a:ln>
        </p:spPr>
      </p:sp>
      <p:sp>
        <p:nvSpPr>
          <p:cNvPr id="67" name="Text 50"/>
          <p:cNvSpPr txBox="1"/>
          <p:nvPr/>
        </p:nvSpPr>
        <p:spPr>
          <a:xfrm>
            <a:off x="5276820" y="1758940"/>
            <a:ext cx="313914" cy="101590"/>
          </a:xfrm>
          <a:prstGeom prst="rect">
            <a:avLst/>
          </a:prstGeom>
          <a:noFill/>
          <a:ln/>
        </p:spPr>
        <p:txBody>
          <a:bodyPr wrap="none" lIns="0" tIns="0" rIns="0" bIns="0" rtlCol="0" anchor="t"/>
          <a:lstStyle/>
          <a:p>
            <a:pPr algn="l" indent="0" marL="0">
              <a:buNone/>
            </a:pPr>
            <a:r>
              <a:rPr lang="en-US" sz="650" b="1" dirty="0">
                <a:solidFill>
                  <a:srgbClr val="8C7368"/>
                </a:solidFill>
                <a:latin typeface="Inter" pitchFamily="34" charset="0"/>
                <a:ea typeface="Inter" pitchFamily="34" charset="-122"/>
                <a:cs typeface="Inter" pitchFamily="34" charset="-120"/>
              </a:rPr>
              <a:t>Step 3</a:t>
            </a:r>
            <a:endParaRPr lang="en-US" sz="650" dirty="0"/>
          </a:p>
        </p:txBody>
      </p:sp>
      <p:sp>
        <p:nvSpPr>
          <p:cNvPr id="68" name="Text 51"/>
          <p:cNvSpPr txBox="1"/>
          <p:nvPr/>
        </p:nvSpPr>
        <p:spPr>
          <a:xfrm>
            <a:off x="5473690" y="1852940"/>
            <a:ext cx="1181862"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Match everything</a:t>
            </a:r>
            <a:endParaRPr lang="en-US" sz="1050" dirty="0"/>
          </a:p>
        </p:txBody>
      </p:sp>
      <p:pic>
        <p:nvPicPr>
          <p:cNvPr id="69" name="Image 15" descr="D:\Projects\20. fintechthon\deck\out\assets\s5_img050.png">    </p:cNvPr>
          <p:cNvPicPr>
            <a:picLocks noChangeAspect="1"/>
          </p:cNvPicPr>
          <p:nvPr/>
        </p:nvPicPr>
        <p:blipFill>
          <a:blip r:embed="rId16"/>
          <a:stretch>
            <a:fillRect/>
          </a:stretch>
        </p:blipFill>
        <p:spPr>
          <a:xfrm>
            <a:off x="5270510" y="1866930"/>
            <a:ext cx="152430" cy="152430"/>
          </a:xfrm>
          <a:prstGeom prst="rect">
            <a:avLst/>
          </a:prstGeom>
        </p:spPr>
      </p:pic>
      <p:sp>
        <p:nvSpPr>
          <p:cNvPr id="70" name="Text 52"/>
          <p:cNvSpPr txBox="1"/>
          <p:nvPr/>
        </p:nvSpPr>
        <p:spPr>
          <a:xfrm>
            <a:off x="5276820" y="2025670"/>
            <a:ext cx="1358798" cy="120609"/>
          </a:xfrm>
          <a:prstGeom prst="rect">
            <a:avLst/>
          </a:prstGeom>
          <a:noFill/>
          <a:ln/>
        </p:spPr>
        <p:txBody>
          <a:bodyPr wrap="none" lIns="0" tIns="0" rIns="0" bIns="0" rtlCol="0" anchor="t"/>
          <a:lstStyle/>
          <a:p>
            <a:pPr algn="l" indent="0" marL="0">
              <a:buNone/>
            </a:pPr>
            <a:r>
              <a:rPr lang="en-US" sz="750" dirty="0">
                <a:solidFill>
                  <a:srgbClr val="5B4339"/>
                </a:solidFill>
                <a:latin typeface="Inter" pitchFamily="34" charset="0"/>
                <a:ea typeface="Inter" pitchFamily="34" charset="-122"/>
                <a:cs typeface="Inter" pitchFamily="34" charset="-120"/>
              </a:rPr>
              <a:t>clear rules, not guesswork</a:t>
            </a:r>
            <a:endParaRPr lang="en-US" sz="750" dirty="0"/>
          </a:p>
        </p:txBody>
      </p:sp>
      <p:sp>
        <p:nvSpPr>
          <p:cNvPr id="71" name="Shape 53"/>
          <p:cNvSpPr/>
          <p:nvPr/>
        </p:nvSpPr>
        <p:spPr>
          <a:xfrm>
            <a:off x="5276820" y="2235159"/>
            <a:ext cx="1701790" cy="544982"/>
          </a:xfrm>
          <a:prstGeom prst="roundRect">
            <a:avLst>
              <a:gd name="adj" fmla="val 12819"/>
            </a:avLst>
          </a:prstGeom>
          <a:solidFill>
            <a:srgbClr val="FFFFFF"/>
          </a:solidFill>
          <a:ln w="6350">
            <a:solidFill>
              <a:srgbClr val="24110C">
                <a:alpha val="13000"/>
              </a:srgbClr>
            </a:solidFill>
            <a:prstDash val="solid"/>
          </a:ln>
        </p:spPr>
      </p:sp>
      <p:pic>
        <p:nvPicPr>
          <p:cNvPr id="72" name="Image 16" descr="D:\Projects\20. fintechthon\deck\out\assets\s5_img051.png">    </p:cNvPr>
          <p:cNvPicPr>
            <a:picLocks noChangeAspect="1"/>
          </p:cNvPicPr>
          <p:nvPr/>
        </p:nvPicPr>
        <p:blipFill>
          <a:blip r:embed="rId17"/>
          <a:stretch>
            <a:fillRect/>
          </a:stretch>
        </p:blipFill>
        <p:spPr>
          <a:xfrm>
            <a:off x="5353080" y="2311420"/>
            <a:ext cx="127010" cy="127010"/>
          </a:xfrm>
          <a:prstGeom prst="rect">
            <a:avLst/>
          </a:prstGeom>
        </p:spPr>
      </p:pic>
      <p:sp>
        <p:nvSpPr>
          <p:cNvPr id="73" name="Text 54"/>
          <p:cNvSpPr txBox="1"/>
          <p:nvPr/>
        </p:nvSpPr>
        <p:spPr>
          <a:xfrm>
            <a:off x="5537241" y="2314072"/>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Only same-supplier bills compared</a:t>
            </a:r>
            <a:endParaRPr lang="en-US" sz="775" dirty="0"/>
          </a:p>
        </p:txBody>
      </p:sp>
      <p:sp>
        <p:nvSpPr>
          <p:cNvPr id="74" name="Text 55"/>
          <p:cNvSpPr txBox="1"/>
          <p:nvPr/>
        </p:nvSpPr>
        <p:spPr>
          <a:xfrm>
            <a:off x="5537241" y="2586198"/>
            <a:ext cx="1226576"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GSTIN must match exactly</a:t>
            </a:r>
            <a:endParaRPr lang="en-US" sz="675" dirty="0"/>
          </a:p>
        </p:txBody>
      </p:sp>
      <p:sp>
        <p:nvSpPr>
          <p:cNvPr id="75" name="Shape 56"/>
          <p:cNvSpPr/>
          <p:nvPr/>
        </p:nvSpPr>
        <p:spPr>
          <a:xfrm>
            <a:off x="5276820" y="2843693"/>
            <a:ext cx="1701790" cy="544982"/>
          </a:xfrm>
          <a:prstGeom prst="roundRect">
            <a:avLst>
              <a:gd name="adj" fmla="val 12819"/>
            </a:avLst>
          </a:prstGeom>
          <a:solidFill>
            <a:srgbClr val="FFFFFF"/>
          </a:solidFill>
          <a:ln w="6350">
            <a:solidFill>
              <a:srgbClr val="24110C">
                <a:alpha val="13000"/>
              </a:srgbClr>
            </a:solidFill>
            <a:prstDash val="solid"/>
          </a:ln>
        </p:spPr>
      </p:sp>
      <p:pic>
        <p:nvPicPr>
          <p:cNvPr id="76" name="Image 17" descr="D:\Projects\20. fintechthon\deck\out\assets\s5_img052.png">    </p:cNvPr>
          <p:cNvPicPr>
            <a:picLocks noChangeAspect="1"/>
          </p:cNvPicPr>
          <p:nvPr/>
        </p:nvPicPr>
        <p:blipFill>
          <a:blip r:embed="rId18"/>
          <a:stretch>
            <a:fillRect/>
          </a:stretch>
        </p:blipFill>
        <p:spPr>
          <a:xfrm>
            <a:off x="5353080" y="2919954"/>
            <a:ext cx="127010" cy="127010"/>
          </a:xfrm>
          <a:prstGeom prst="rect">
            <a:avLst/>
          </a:prstGeom>
        </p:spPr>
      </p:pic>
      <p:sp>
        <p:nvSpPr>
          <p:cNvPr id="77" name="Text 57"/>
          <p:cNvSpPr txBox="1"/>
          <p:nvPr/>
        </p:nvSpPr>
        <p:spPr>
          <a:xfrm>
            <a:off x="5537241" y="2922605"/>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Three passes, each explained</a:t>
            </a:r>
            <a:endParaRPr lang="en-US" sz="775" dirty="0"/>
          </a:p>
        </p:txBody>
      </p:sp>
      <p:sp>
        <p:nvSpPr>
          <p:cNvPr id="78" name="Text 58"/>
          <p:cNvSpPr txBox="1"/>
          <p:nvPr/>
        </p:nvSpPr>
        <p:spPr>
          <a:xfrm>
            <a:off x="5537241" y="3194731"/>
            <a:ext cx="1433596"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exact, cleaned up, close match</a:t>
            </a:r>
            <a:endParaRPr lang="en-US" sz="675" dirty="0"/>
          </a:p>
        </p:txBody>
      </p:sp>
      <p:sp>
        <p:nvSpPr>
          <p:cNvPr id="79" name="Shape 59"/>
          <p:cNvSpPr/>
          <p:nvPr/>
        </p:nvSpPr>
        <p:spPr>
          <a:xfrm>
            <a:off x="5276820" y="3452226"/>
            <a:ext cx="1701790" cy="417149"/>
          </a:xfrm>
          <a:prstGeom prst="roundRect">
            <a:avLst>
              <a:gd name="adj" fmla="val 16747"/>
            </a:avLst>
          </a:prstGeom>
          <a:solidFill>
            <a:srgbClr val="FFFFFF"/>
          </a:solidFill>
          <a:ln w="6350">
            <a:solidFill>
              <a:srgbClr val="24110C">
                <a:alpha val="13000"/>
              </a:srgbClr>
            </a:solidFill>
            <a:prstDash val="solid"/>
          </a:ln>
        </p:spPr>
      </p:sp>
      <p:pic>
        <p:nvPicPr>
          <p:cNvPr id="80" name="Image 18" descr="D:\Projects\20. fintechthon\deck\out\assets\s5_img053.png">    </p:cNvPr>
          <p:cNvPicPr>
            <a:picLocks noChangeAspect="1"/>
          </p:cNvPicPr>
          <p:nvPr/>
        </p:nvPicPr>
        <p:blipFill>
          <a:blip r:embed="rId19"/>
          <a:stretch>
            <a:fillRect/>
          </a:stretch>
        </p:blipFill>
        <p:spPr>
          <a:xfrm>
            <a:off x="5353080" y="3528395"/>
            <a:ext cx="127010" cy="127010"/>
          </a:xfrm>
          <a:prstGeom prst="rect">
            <a:avLst/>
          </a:prstGeom>
        </p:spPr>
      </p:pic>
      <p:sp>
        <p:nvSpPr>
          <p:cNvPr id="81" name="Text 60"/>
          <p:cNvSpPr txBox="1"/>
          <p:nvPr/>
        </p:nvSpPr>
        <p:spPr>
          <a:xfrm>
            <a:off x="5537241" y="3534796"/>
            <a:ext cx="1144737"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No record used twice</a:t>
            </a:r>
            <a:endParaRPr lang="en-US" sz="775" dirty="0"/>
          </a:p>
        </p:txBody>
      </p:sp>
      <p:sp>
        <p:nvSpPr>
          <p:cNvPr id="82" name="Text 61"/>
          <p:cNvSpPr txBox="1"/>
          <p:nvPr/>
        </p:nvSpPr>
        <p:spPr>
          <a:xfrm>
            <a:off x="5537241" y="3675339"/>
            <a:ext cx="1106058"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best one-to-one pairing</a:t>
            </a:r>
            <a:endParaRPr lang="en-US" sz="675" dirty="0"/>
          </a:p>
        </p:txBody>
      </p:sp>
      <p:sp>
        <p:nvSpPr>
          <p:cNvPr id="83" name="Shape 62"/>
          <p:cNvSpPr/>
          <p:nvPr/>
        </p:nvSpPr>
        <p:spPr>
          <a:xfrm>
            <a:off x="5276820" y="3932834"/>
            <a:ext cx="1701790" cy="417149"/>
          </a:xfrm>
          <a:prstGeom prst="roundRect">
            <a:avLst>
              <a:gd name="adj" fmla="val 16747"/>
            </a:avLst>
          </a:prstGeom>
          <a:solidFill>
            <a:srgbClr val="FFFFFF"/>
          </a:solidFill>
          <a:ln w="6350">
            <a:solidFill>
              <a:srgbClr val="24110C">
                <a:alpha val="13000"/>
              </a:srgbClr>
            </a:solidFill>
            <a:prstDash val="solid"/>
          </a:ln>
        </p:spPr>
      </p:sp>
      <p:pic>
        <p:nvPicPr>
          <p:cNvPr id="84" name="Image 19" descr="D:\Projects\20. fintechthon\deck\out\assets\s5_img054.png">    </p:cNvPr>
          <p:cNvPicPr>
            <a:picLocks noChangeAspect="1"/>
          </p:cNvPicPr>
          <p:nvPr/>
        </p:nvPicPr>
        <p:blipFill>
          <a:blip r:embed="rId20"/>
          <a:stretch>
            <a:fillRect/>
          </a:stretch>
        </p:blipFill>
        <p:spPr>
          <a:xfrm>
            <a:off x="5353080" y="4009004"/>
            <a:ext cx="127010" cy="127010"/>
          </a:xfrm>
          <a:prstGeom prst="rect">
            <a:avLst/>
          </a:prstGeom>
        </p:spPr>
      </p:pic>
      <p:sp>
        <p:nvSpPr>
          <p:cNvPr id="85" name="Text 63"/>
          <p:cNvSpPr txBox="1"/>
          <p:nvPr/>
        </p:nvSpPr>
        <p:spPr>
          <a:xfrm>
            <a:off x="5537241" y="4015405"/>
            <a:ext cx="1306403"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One payment, many bills</a:t>
            </a:r>
            <a:endParaRPr lang="en-US" sz="775" dirty="0"/>
          </a:p>
        </p:txBody>
      </p:sp>
      <p:sp>
        <p:nvSpPr>
          <p:cNvPr id="86" name="Text 64"/>
          <p:cNvSpPr txBox="1"/>
          <p:nvPr/>
        </p:nvSpPr>
        <p:spPr>
          <a:xfrm>
            <a:off x="5537241" y="4155948"/>
            <a:ext cx="990204"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and bills paid in parts</a:t>
            </a:r>
            <a:endParaRPr lang="en-US" sz="675" dirty="0"/>
          </a:p>
        </p:txBody>
      </p:sp>
      <p:sp>
        <p:nvSpPr>
          <p:cNvPr id="87" name="Shape 65"/>
          <p:cNvSpPr/>
          <p:nvPr/>
        </p:nvSpPr>
        <p:spPr>
          <a:xfrm>
            <a:off x="5276820" y="4413443"/>
            <a:ext cx="1701790" cy="528523"/>
          </a:xfrm>
          <a:prstGeom prst="roundRect">
            <a:avLst>
              <a:gd name="adj" fmla="val 13218"/>
            </a:avLst>
          </a:prstGeom>
          <a:solidFill>
            <a:srgbClr val="FFFFFF"/>
          </a:solidFill>
          <a:ln w="6350">
            <a:solidFill>
              <a:srgbClr val="24110C">
                <a:alpha val="13000"/>
              </a:srgbClr>
            </a:solidFill>
            <a:prstDash val="solid"/>
          </a:ln>
        </p:spPr>
      </p:sp>
      <p:pic>
        <p:nvPicPr>
          <p:cNvPr id="88" name="Image 20" descr="D:\Projects\20. fintechthon\deck\out\assets\s5_img055.png">    </p:cNvPr>
          <p:cNvPicPr>
            <a:picLocks noChangeAspect="1"/>
          </p:cNvPicPr>
          <p:nvPr/>
        </p:nvPicPr>
        <p:blipFill>
          <a:blip r:embed="rId21"/>
          <a:stretch>
            <a:fillRect/>
          </a:stretch>
        </p:blipFill>
        <p:spPr>
          <a:xfrm>
            <a:off x="5353080" y="4489613"/>
            <a:ext cx="127010" cy="127010"/>
          </a:xfrm>
          <a:prstGeom prst="rect">
            <a:avLst/>
          </a:prstGeom>
        </p:spPr>
      </p:pic>
      <p:sp>
        <p:nvSpPr>
          <p:cNvPr id="89" name="Text 66"/>
          <p:cNvSpPr txBox="1"/>
          <p:nvPr/>
        </p:nvSpPr>
        <p:spPr>
          <a:xfrm>
            <a:off x="5537241" y="4496013"/>
            <a:ext cx="1022482"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Sorted by certainty</a:t>
            </a:r>
            <a:endParaRPr lang="en-US" sz="775" dirty="0"/>
          </a:p>
        </p:txBody>
      </p:sp>
      <p:sp>
        <p:nvSpPr>
          <p:cNvPr id="90" name="Text 67"/>
          <p:cNvSpPr txBox="1"/>
          <p:nvPr/>
        </p:nvSpPr>
        <p:spPr>
          <a:xfrm>
            <a:off x="5537241" y="4631710"/>
            <a:ext cx="1358890" cy="222839"/>
          </a:xfrm>
          <a:prstGeom prst="rect">
            <a:avLst/>
          </a:prstGeom>
          <a:noFill/>
          <a:ln/>
        </p:spPr>
        <p:txBody>
          <a:bodyPr wrap="square" lIns="0" tIns="0" rIns="0" bIns="0" rtlCol="0" anchor="t"/>
          <a:lstStyle/>
          <a:p>
            <a:pPr algn="l" indent="0" marL="0">
              <a:lnSpc>
                <a:spcPts val="878"/>
              </a:lnSpc>
              <a:buNone/>
            </a:pPr>
            <a:r>
              <a:rPr lang="en-US" sz="675" dirty="0">
                <a:solidFill>
                  <a:srgbClr val="8C7368"/>
                </a:solidFill>
                <a:latin typeface="Inter" pitchFamily="34" charset="0"/>
                <a:ea typeface="Inter" pitchFamily="34" charset="-122"/>
                <a:cs typeface="Inter" pitchFamily="34" charset="-120"/>
              </a:rPr>
              <a:t>matched, needs review, unmatched</a:t>
            </a:r>
            <a:endParaRPr lang="en-US" sz="675" dirty="0"/>
          </a:p>
        </p:txBody>
      </p:sp>
      <p:pic>
        <p:nvPicPr>
          <p:cNvPr id="91" name="Image 21" descr="D:\Projects\20. fintechthon\deck\out\assets\s5_img056.png">    </p:cNvPr>
          <p:cNvPicPr>
            <a:picLocks noChangeAspect="1"/>
          </p:cNvPicPr>
          <p:nvPr/>
        </p:nvPicPr>
        <p:blipFill>
          <a:blip r:embed="rId22"/>
          <a:stretch>
            <a:fillRect/>
          </a:stretch>
        </p:blipFill>
        <p:spPr>
          <a:xfrm>
            <a:off x="7092909" y="3168670"/>
            <a:ext cx="228600" cy="165141"/>
          </a:xfrm>
          <a:prstGeom prst="rect">
            <a:avLst/>
          </a:prstGeom>
        </p:spPr>
      </p:pic>
      <p:sp>
        <p:nvSpPr>
          <p:cNvPr id="92" name="Shape 68"/>
          <p:cNvSpPr/>
          <p:nvPr/>
        </p:nvSpPr>
        <p:spPr>
          <a:xfrm>
            <a:off x="7327910" y="1663659"/>
            <a:ext cx="1892259" cy="3352830"/>
          </a:xfrm>
          <a:prstGeom prst="roundRect">
            <a:avLst>
              <a:gd name="adj" fmla="val 6040"/>
            </a:avLst>
          </a:prstGeom>
          <a:solidFill>
            <a:srgbClr val="FDEBDC"/>
          </a:solidFill>
          <a:ln w="6350">
            <a:solidFill>
              <a:srgbClr val="F5C9A4"/>
            </a:solidFill>
            <a:prstDash val="solid"/>
          </a:ln>
        </p:spPr>
      </p:sp>
      <p:sp>
        <p:nvSpPr>
          <p:cNvPr id="93" name="Text 69"/>
          <p:cNvSpPr txBox="1"/>
          <p:nvPr/>
        </p:nvSpPr>
        <p:spPr>
          <a:xfrm>
            <a:off x="7423191" y="1758940"/>
            <a:ext cx="316748" cy="101590"/>
          </a:xfrm>
          <a:prstGeom prst="rect">
            <a:avLst/>
          </a:prstGeom>
          <a:noFill/>
          <a:ln/>
        </p:spPr>
        <p:txBody>
          <a:bodyPr wrap="none" lIns="0" tIns="0" rIns="0" bIns="0" rtlCol="0" anchor="t"/>
          <a:lstStyle/>
          <a:p>
            <a:pPr algn="l" indent="0" marL="0">
              <a:buNone/>
            </a:pPr>
            <a:r>
              <a:rPr lang="en-US" sz="650" b="1" dirty="0">
                <a:solidFill>
                  <a:srgbClr val="8C7368"/>
                </a:solidFill>
                <a:latin typeface="Inter" pitchFamily="34" charset="0"/>
                <a:ea typeface="Inter" pitchFamily="34" charset="-122"/>
                <a:cs typeface="Inter" pitchFamily="34" charset="-120"/>
              </a:rPr>
              <a:t>Step 4</a:t>
            </a:r>
            <a:endParaRPr lang="en-US" sz="650" dirty="0"/>
          </a:p>
        </p:txBody>
      </p:sp>
      <p:sp>
        <p:nvSpPr>
          <p:cNvPr id="94" name="Text 70"/>
          <p:cNvSpPr txBox="1"/>
          <p:nvPr/>
        </p:nvSpPr>
        <p:spPr>
          <a:xfrm>
            <a:off x="7619970" y="1852940"/>
            <a:ext cx="1143457"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Find risk, explain</a:t>
            </a:r>
            <a:endParaRPr lang="en-US" sz="1050" dirty="0"/>
          </a:p>
        </p:txBody>
      </p:sp>
      <p:pic>
        <p:nvPicPr>
          <p:cNvPr id="95" name="Image 22" descr="D:\Projects\20. fintechthon\deck\out\assets\s5_img057.png">    </p:cNvPr>
          <p:cNvPicPr>
            <a:picLocks noChangeAspect="1"/>
          </p:cNvPicPr>
          <p:nvPr/>
        </p:nvPicPr>
        <p:blipFill>
          <a:blip r:embed="rId23"/>
          <a:stretch>
            <a:fillRect/>
          </a:stretch>
        </p:blipFill>
        <p:spPr>
          <a:xfrm>
            <a:off x="7416790" y="1866930"/>
            <a:ext cx="152430" cy="152430"/>
          </a:xfrm>
          <a:prstGeom prst="rect">
            <a:avLst/>
          </a:prstGeom>
        </p:spPr>
      </p:pic>
      <p:sp>
        <p:nvSpPr>
          <p:cNvPr id="96" name="Text 71"/>
          <p:cNvSpPr txBox="1"/>
          <p:nvPr/>
        </p:nvSpPr>
        <p:spPr>
          <a:xfrm>
            <a:off x="7423191" y="2025670"/>
            <a:ext cx="1367211" cy="120609"/>
          </a:xfrm>
          <a:prstGeom prst="rect">
            <a:avLst/>
          </a:prstGeom>
          <a:noFill/>
          <a:ln/>
        </p:spPr>
        <p:txBody>
          <a:bodyPr wrap="none" lIns="0" tIns="0" rIns="0" bIns="0" rtlCol="0" anchor="t"/>
          <a:lstStyle/>
          <a:p>
            <a:pPr algn="l" indent="0" marL="0">
              <a:buNone/>
            </a:pPr>
            <a:r>
              <a:rPr lang="en-US" sz="750" dirty="0">
                <a:solidFill>
                  <a:srgbClr val="5B4339"/>
                </a:solidFill>
                <a:latin typeface="Inter" pitchFamily="34" charset="0"/>
                <a:ea typeface="Inter" pitchFamily="34" charset="-122"/>
                <a:cs typeface="Inter" pitchFamily="34" charset="-120"/>
              </a:rPr>
              <a:t>how much, why, what next</a:t>
            </a:r>
            <a:endParaRPr lang="en-US" sz="750" dirty="0"/>
          </a:p>
        </p:txBody>
      </p:sp>
      <p:sp>
        <p:nvSpPr>
          <p:cNvPr id="97" name="Shape 72"/>
          <p:cNvSpPr/>
          <p:nvPr/>
        </p:nvSpPr>
        <p:spPr>
          <a:xfrm>
            <a:off x="7423191" y="2235159"/>
            <a:ext cx="1701790" cy="417149"/>
          </a:xfrm>
          <a:prstGeom prst="roundRect">
            <a:avLst>
              <a:gd name="adj" fmla="val 16747"/>
            </a:avLst>
          </a:prstGeom>
          <a:solidFill>
            <a:srgbClr val="FFFFFF"/>
          </a:solidFill>
          <a:ln w="6350">
            <a:solidFill>
              <a:srgbClr val="24110C">
                <a:alpha val="13000"/>
              </a:srgbClr>
            </a:solidFill>
            <a:prstDash val="solid"/>
          </a:ln>
        </p:spPr>
      </p:sp>
      <p:pic>
        <p:nvPicPr>
          <p:cNvPr id="98" name="Image 23" descr="D:\Projects\20. fintechthon\deck\out\assets\s5_img058.png">    </p:cNvPr>
          <p:cNvPicPr>
            <a:picLocks noChangeAspect="1"/>
          </p:cNvPicPr>
          <p:nvPr/>
        </p:nvPicPr>
        <p:blipFill>
          <a:blip r:embed="rId24"/>
          <a:stretch>
            <a:fillRect/>
          </a:stretch>
        </p:blipFill>
        <p:spPr>
          <a:xfrm>
            <a:off x="7499360" y="2311420"/>
            <a:ext cx="127010" cy="127010"/>
          </a:xfrm>
          <a:prstGeom prst="rect">
            <a:avLst/>
          </a:prstGeom>
        </p:spPr>
      </p:pic>
      <p:sp>
        <p:nvSpPr>
          <p:cNvPr id="99" name="Text 73"/>
          <p:cNvSpPr txBox="1"/>
          <p:nvPr/>
        </p:nvSpPr>
        <p:spPr>
          <a:xfrm>
            <a:off x="7683520" y="2317730"/>
            <a:ext cx="1466515"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Checks the tax on every bill</a:t>
            </a:r>
            <a:endParaRPr lang="en-US" sz="775" dirty="0"/>
          </a:p>
        </p:txBody>
      </p:sp>
      <p:sp>
        <p:nvSpPr>
          <p:cNvPr id="100" name="Text 74"/>
          <p:cNvSpPr txBox="1"/>
          <p:nvPr/>
        </p:nvSpPr>
        <p:spPr>
          <a:xfrm>
            <a:off x="7683520" y="2458364"/>
            <a:ext cx="1412474"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rate, type, maths, 180-day rule</a:t>
            </a:r>
            <a:endParaRPr lang="en-US" sz="675" dirty="0"/>
          </a:p>
        </p:txBody>
      </p:sp>
      <p:sp>
        <p:nvSpPr>
          <p:cNvPr id="101" name="Shape 75"/>
          <p:cNvSpPr/>
          <p:nvPr/>
        </p:nvSpPr>
        <p:spPr>
          <a:xfrm>
            <a:off x="7423191" y="2715859"/>
            <a:ext cx="1701790" cy="544982"/>
          </a:xfrm>
          <a:prstGeom prst="roundRect">
            <a:avLst>
              <a:gd name="adj" fmla="val 12819"/>
            </a:avLst>
          </a:prstGeom>
          <a:solidFill>
            <a:srgbClr val="FFFFFF"/>
          </a:solidFill>
          <a:ln w="6350">
            <a:solidFill>
              <a:srgbClr val="24110C">
                <a:alpha val="13000"/>
              </a:srgbClr>
            </a:solidFill>
            <a:prstDash val="solid"/>
          </a:ln>
        </p:spPr>
      </p:sp>
      <p:pic>
        <p:nvPicPr>
          <p:cNvPr id="102" name="Image 24" descr="D:\Projects\20. fintechthon\deck\out\assets\s5_img059.png">    </p:cNvPr>
          <p:cNvPicPr>
            <a:picLocks noChangeAspect="1"/>
          </p:cNvPicPr>
          <p:nvPr/>
        </p:nvPicPr>
        <p:blipFill>
          <a:blip r:embed="rId25"/>
          <a:stretch>
            <a:fillRect/>
          </a:stretch>
        </p:blipFill>
        <p:spPr>
          <a:xfrm>
            <a:off x="7499360" y="2792029"/>
            <a:ext cx="127010" cy="127010"/>
          </a:xfrm>
          <a:prstGeom prst="rect">
            <a:avLst/>
          </a:prstGeom>
        </p:spPr>
      </p:pic>
      <p:sp>
        <p:nvSpPr>
          <p:cNvPr id="103" name="Text 76"/>
          <p:cNvSpPr txBox="1"/>
          <p:nvPr/>
        </p:nvSpPr>
        <p:spPr>
          <a:xfrm>
            <a:off x="7683520" y="2794681"/>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Money at risk and tax payable</a:t>
            </a:r>
            <a:endParaRPr lang="en-US" sz="775" dirty="0"/>
          </a:p>
        </p:txBody>
      </p:sp>
      <p:sp>
        <p:nvSpPr>
          <p:cNvPr id="104" name="Text 77"/>
          <p:cNvSpPr txBox="1"/>
          <p:nvPr/>
        </p:nvSpPr>
        <p:spPr>
          <a:xfrm>
            <a:off x="7683520" y="3066806"/>
            <a:ext cx="1176741"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what you owe after credit</a:t>
            </a:r>
            <a:endParaRPr lang="en-US" sz="675" dirty="0"/>
          </a:p>
        </p:txBody>
      </p:sp>
      <p:sp>
        <p:nvSpPr>
          <p:cNvPr id="105" name="Shape 78"/>
          <p:cNvSpPr/>
          <p:nvPr/>
        </p:nvSpPr>
        <p:spPr>
          <a:xfrm>
            <a:off x="7423191" y="3324301"/>
            <a:ext cx="1701790" cy="417149"/>
          </a:xfrm>
          <a:prstGeom prst="roundRect">
            <a:avLst>
              <a:gd name="adj" fmla="val 16747"/>
            </a:avLst>
          </a:prstGeom>
          <a:solidFill>
            <a:srgbClr val="FFFFFF"/>
          </a:solidFill>
          <a:ln w="6350">
            <a:solidFill>
              <a:srgbClr val="24110C">
                <a:alpha val="13000"/>
              </a:srgbClr>
            </a:solidFill>
            <a:prstDash val="solid"/>
          </a:ln>
        </p:spPr>
      </p:sp>
      <p:pic>
        <p:nvPicPr>
          <p:cNvPr id="106" name="Image 25" descr="D:\Projects\20. fintechthon\deck\out\assets\s5_img060.png">    </p:cNvPr>
          <p:cNvPicPr>
            <a:picLocks noChangeAspect="1"/>
          </p:cNvPicPr>
          <p:nvPr/>
        </p:nvPicPr>
        <p:blipFill>
          <a:blip r:embed="rId26"/>
          <a:stretch>
            <a:fillRect/>
          </a:stretch>
        </p:blipFill>
        <p:spPr>
          <a:xfrm>
            <a:off x="7499360" y="3400562"/>
            <a:ext cx="127010" cy="127010"/>
          </a:xfrm>
          <a:prstGeom prst="rect">
            <a:avLst/>
          </a:prstGeom>
        </p:spPr>
      </p:pic>
      <p:sp>
        <p:nvSpPr>
          <p:cNvPr id="107" name="Text 79"/>
          <p:cNvSpPr txBox="1"/>
          <p:nvPr/>
        </p:nvSpPr>
        <p:spPr>
          <a:xfrm>
            <a:off x="7683520" y="3406872"/>
            <a:ext cx="1224747" cy="120609"/>
          </a:xfrm>
          <a:prstGeom prst="rect">
            <a:avLst/>
          </a:prstGeom>
          <a:noFill/>
          <a:ln/>
        </p:spPr>
        <p:txBody>
          <a:bodyPr wrap="none" lIns="0" tIns="0" rIns="0" bIns="0" rtlCol="0" anchor="t"/>
          <a:lstStyle/>
          <a:p>
            <a:pPr algn="l" indent="0" marL="0">
              <a:buNone/>
            </a:pPr>
            <a:r>
              <a:rPr lang="en-US" sz="775" dirty="0">
                <a:solidFill>
                  <a:srgbClr val="24110C"/>
                </a:solidFill>
                <a:latin typeface="Inter" pitchFamily="34" charset="0"/>
                <a:ea typeface="Inter" pitchFamily="34" charset="-122"/>
                <a:cs typeface="Inter" pitchFamily="34" charset="-120"/>
              </a:rPr>
              <a:t>Spots unusual patterns</a:t>
            </a:r>
            <a:endParaRPr lang="en-US" sz="775" dirty="0"/>
          </a:p>
        </p:txBody>
      </p:sp>
      <p:sp>
        <p:nvSpPr>
          <p:cNvPr id="108" name="Text 80"/>
          <p:cNvSpPr txBox="1"/>
          <p:nvPr/>
        </p:nvSpPr>
        <p:spPr>
          <a:xfrm>
            <a:off x="7683520" y="3547506"/>
            <a:ext cx="1399946"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outlier and Benford's law tests</a:t>
            </a:r>
            <a:endParaRPr lang="en-US" sz="675" dirty="0"/>
          </a:p>
        </p:txBody>
      </p:sp>
      <p:sp>
        <p:nvSpPr>
          <p:cNvPr id="109" name="Shape 81"/>
          <p:cNvSpPr/>
          <p:nvPr/>
        </p:nvSpPr>
        <p:spPr>
          <a:xfrm>
            <a:off x="7423191" y="3804910"/>
            <a:ext cx="1701790" cy="544982"/>
          </a:xfrm>
          <a:prstGeom prst="roundRect">
            <a:avLst>
              <a:gd name="adj" fmla="val 12819"/>
            </a:avLst>
          </a:prstGeom>
          <a:solidFill>
            <a:srgbClr val="FFFFFF"/>
          </a:solidFill>
          <a:ln w="6350">
            <a:solidFill>
              <a:srgbClr val="24110C">
                <a:alpha val="13000"/>
              </a:srgbClr>
            </a:solidFill>
            <a:prstDash val="solid"/>
          </a:ln>
        </p:spPr>
      </p:sp>
      <p:pic>
        <p:nvPicPr>
          <p:cNvPr id="110" name="Image 26" descr="D:\Projects\20. fintechthon\deck\out\assets\s5_img061.png">    </p:cNvPr>
          <p:cNvPicPr>
            <a:picLocks noChangeAspect="1"/>
          </p:cNvPicPr>
          <p:nvPr/>
        </p:nvPicPr>
        <p:blipFill>
          <a:blip r:embed="rId27"/>
          <a:stretch>
            <a:fillRect/>
          </a:stretch>
        </p:blipFill>
        <p:spPr>
          <a:xfrm>
            <a:off x="7499360" y="3881171"/>
            <a:ext cx="127010" cy="127010"/>
          </a:xfrm>
          <a:prstGeom prst="rect">
            <a:avLst/>
          </a:prstGeom>
        </p:spPr>
      </p:pic>
      <p:sp>
        <p:nvSpPr>
          <p:cNvPr id="111" name="Text 82"/>
          <p:cNvSpPr txBox="1"/>
          <p:nvPr/>
        </p:nvSpPr>
        <p:spPr>
          <a:xfrm>
            <a:off x="7683520" y="3883823"/>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Rates suppliers, finds fake ones</a:t>
            </a:r>
            <a:endParaRPr lang="en-US" sz="775" dirty="0"/>
          </a:p>
        </p:txBody>
      </p:sp>
      <p:sp>
        <p:nvSpPr>
          <p:cNvPr id="112" name="Text 83"/>
          <p:cNvSpPr txBox="1"/>
          <p:nvPr/>
        </p:nvSpPr>
        <p:spPr>
          <a:xfrm>
            <a:off x="7683520" y="4155948"/>
            <a:ext cx="1429207"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shared owner, bank or address</a:t>
            </a:r>
            <a:endParaRPr lang="en-US" sz="675" dirty="0"/>
          </a:p>
        </p:txBody>
      </p:sp>
      <p:sp>
        <p:nvSpPr>
          <p:cNvPr id="113" name="Shape 84"/>
          <p:cNvSpPr/>
          <p:nvPr/>
        </p:nvSpPr>
        <p:spPr>
          <a:xfrm>
            <a:off x="7423191" y="4413443"/>
            <a:ext cx="1701790" cy="544982"/>
          </a:xfrm>
          <a:prstGeom prst="roundRect">
            <a:avLst>
              <a:gd name="adj" fmla="val 12819"/>
            </a:avLst>
          </a:prstGeom>
          <a:solidFill>
            <a:srgbClr val="FFF6EE"/>
          </a:solidFill>
          <a:ln w="6350">
            <a:solidFill>
              <a:srgbClr val="F0B07C"/>
            </a:solidFill>
            <a:prstDash val="solid"/>
          </a:ln>
        </p:spPr>
      </p:sp>
      <p:pic>
        <p:nvPicPr>
          <p:cNvPr id="114" name="Image 27" descr="D:\Projects\20. fintechthon\deck\out\assets\s5_img062.png">    </p:cNvPr>
          <p:cNvPicPr>
            <a:picLocks noChangeAspect="1"/>
          </p:cNvPicPr>
          <p:nvPr/>
        </p:nvPicPr>
        <p:blipFill>
          <a:blip r:embed="rId28"/>
          <a:stretch>
            <a:fillRect/>
          </a:stretch>
        </p:blipFill>
        <p:spPr>
          <a:xfrm>
            <a:off x="7499360" y="4489613"/>
            <a:ext cx="127010" cy="127010"/>
          </a:xfrm>
          <a:prstGeom prst="rect">
            <a:avLst/>
          </a:prstGeom>
        </p:spPr>
      </p:pic>
      <p:sp>
        <p:nvSpPr>
          <p:cNvPr id="115" name="Text 85"/>
          <p:cNvSpPr txBox="1"/>
          <p:nvPr/>
        </p:nvSpPr>
        <p:spPr>
          <a:xfrm>
            <a:off x="7683520" y="4492356"/>
            <a:ext cx="1358890" cy="255941"/>
          </a:xfrm>
          <a:prstGeom prst="rect">
            <a:avLst/>
          </a:prstGeom>
          <a:noFill/>
          <a:ln/>
        </p:spPr>
        <p:txBody>
          <a:bodyPr wrap="square" lIns="0" tIns="0" rIns="0" bIns="0" rtlCol="0" anchor="t"/>
          <a:lstStyle/>
          <a:p>
            <a:pPr algn="l" indent="0" marL="0">
              <a:lnSpc>
                <a:spcPts val="1007"/>
              </a:lnSpc>
              <a:buNone/>
            </a:pPr>
            <a:r>
              <a:rPr lang="en-US" sz="775" dirty="0">
                <a:solidFill>
                  <a:srgbClr val="24110C"/>
                </a:solidFill>
                <a:latin typeface="Inter" pitchFamily="34" charset="0"/>
                <a:ea typeface="Inter" pitchFamily="34" charset="-122"/>
                <a:cs typeface="Inter" pitchFamily="34" charset="-120"/>
              </a:rPr>
              <a:t>AI writes the reason and the fix</a:t>
            </a:r>
            <a:endParaRPr lang="en-US" sz="775" dirty="0"/>
          </a:p>
        </p:txBody>
      </p:sp>
      <p:sp>
        <p:nvSpPr>
          <p:cNvPr id="116" name="Text 86"/>
          <p:cNvSpPr txBox="1"/>
          <p:nvPr/>
        </p:nvSpPr>
        <p:spPr>
          <a:xfrm>
            <a:off x="7683520" y="4764481"/>
            <a:ext cx="1348374" cy="101590"/>
          </a:xfrm>
          <a:prstGeom prst="rect">
            <a:avLst/>
          </a:prstGeom>
          <a:noFill/>
          <a:ln/>
        </p:spPr>
        <p:txBody>
          <a:bodyPr wrap="none" lIns="0" tIns="0" rIns="0" bIns="0" rtlCol="0" anchor="t"/>
          <a:lstStyle/>
          <a:p>
            <a:pPr algn="l" indent="0" marL="0">
              <a:buNone/>
            </a:pPr>
            <a:r>
              <a:rPr lang="en-US" sz="675" dirty="0">
                <a:solidFill>
                  <a:srgbClr val="8C7368"/>
                </a:solidFill>
                <a:latin typeface="Inter" pitchFamily="34" charset="0"/>
                <a:ea typeface="Inter" pitchFamily="34" charset="-122"/>
                <a:cs typeface="Inter" pitchFamily="34" charset="-120"/>
              </a:rPr>
              <a:t>Claude, checked by a person</a:t>
            </a:r>
            <a:endParaRPr lang="en-US" sz="675" dirty="0"/>
          </a:p>
        </p:txBody>
      </p:sp>
      <p:pic>
        <p:nvPicPr>
          <p:cNvPr id="117" name="Image 28" descr="D:\Projects\20. fintechthon\deck\out\assets\s5_img063.png">    </p:cNvPr>
          <p:cNvPicPr>
            <a:picLocks noChangeAspect="1"/>
          </p:cNvPicPr>
          <p:nvPr/>
        </p:nvPicPr>
        <p:blipFill>
          <a:blip r:embed="rId29"/>
          <a:stretch>
            <a:fillRect/>
          </a:stretch>
        </p:blipFill>
        <p:spPr>
          <a:xfrm>
            <a:off x="9239280" y="3168670"/>
            <a:ext cx="228600" cy="165141"/>
          </a:xfrm>
          <a:prstGeom prst="rect">
            <a:avLst/>
          </a:prstGeom>
        </p:spPr>
      </p:pic>
      <p:sp>
        <p:nvSpPr>
          <p:cNvPr id="118" name="Shape 87"/>
          <p:cNvSpPr/>
          <p:nvPr/>
        </p:nvSpPr>
        <p:spPr>
          <a:xfrm>
            <a:off x="9474190" y="1663659"/>
            <a:ext cx="1828800" cy="3352830"/>
          </a:xfrm>
          <a:prstGeom prst="roundRect">
            <a:avLst>
              <a:gd name="adj" fmla="val 6250"/>
            </a:avLst>
          </a:prstGeom>
          <a:solidFill>
            <a:srgbClr val="2A1C17"/>
          </a:solidFill>
          <a:ln w="6350">
            <a:solidFill>
              <a:srgbClr val="2A1C17"/>
            </a:solidFill>
            <a:prstDash val="solid"/>
          </a:ln>
        </p:spPr>
      </p:sp>
      <p:sp>
        <p:nvSpPr>
          <p:cNvPr id="119" name="Text 88"/>
          <p:cNvSpPr txBox="1"/>
          <p:nvPr/>
        </p:nvSpPr>
        <p:spPr>
          <a:xfrm>
            <a:off x="9569470" y="1758940"/>
            <a:ext cx="311810" cy="101590"/>
          </a:xfrm>
          <a:prstGeom prst="rect">
            <a:avLst/>
          </a:prstGeom>
          <a:noFill/>
          <a:ln/>
        </p:spPr>
        <p:txBody>
          <a:bodyPr wrap="none" lIns="0" tIns="0" rIns="0" bIns="0" rtlCol="0" anchor="t"/>
          <a:lstStyle/>
          <a:p>
            <a:pPr algn="l" indent="0" marL="0">
              <a:buNone/>
            </a:pPr>
            <a:r>
              <a:rPr lang="en-US" sz="650" b="1" dirty="0">
                <a:solidFill>
                  <a:srgbClr val="BFA89D"/>
                </a:solidFill>
                <a:latin typeface="Inter" pitchFamily="34" charset="0"/>
                <a:ea typeface="Inter" pitchFamily="34" charset="-122"/>
                <a:cs typeface="Inter" pitchFamily="34" charset="-120"/>
              </a:rPr>
              <a:t>Step 5</a:t>
            </a:r>
            <a:endParaRPr lang="en-US" sz="650" dirty="0"/>
          </a:p>
        </p:txBody>
      </p:sp>
      <p:sp>
        <p:nvSpPr>
          <p:cNvPr id="120" name="Text 89"/>
          <p:cNvSpPr txBox="1"/>
          <p:nvPr/>
        </p:nvSpPr>
        <p:spPr>
          <a:xfrm>
            <a:off x="9766341" y="1852940"/>
            <a:ext cx="1025225" cy="127010"/>
          </a:xfrm>
          <a:prstGeom prst="rect">
            <a:avLst/>
          </a:prstGeom>
          <a:noFill/>
          <a:ln/>
        </p:spPr>
        <p:txBody>
          <a:bodyPr wrap="none" lIns="0" tIns="0" rIns="0" bIns="0" rtlCol="0" anchor="t"/>
          <a:lstStyle/>
          <a:p>
            <a:pPr algn="l" indent="0" marL="0">
              <a:buNone/>
            </a:pPr>
            <a:r>
              <a:rPr lang="en-US" sz="1050" b="1" dirty="0">
                <a:solidFill>
                  <a:srgbClr val="FFFFFF"/>
                </a:solidFill>
                <a:latin typeface="League Spartan" pitchFamily="34" charset="0"/>
                <a:ea typeface="League Spartan" pitchFamily="34" charset="-122"/>
                <a:cs typeface="League Spartan" pitchFamily="34" charset="-120"/>
              </a:rPr>
              <a:t>You review, act</a:t>
            </a:r>
            <a:endParaRPr lang="en-US" sz="1050" dirty="0"/>
          </a:p>
        </p:txBody>
      </p:sp>
      <p:pic>
        <p:nvPicPr>
          <p:cNvPr id="121" name="Image 29" descr="D:\Projects\20. fintechthon\deck\out\assets\s5_img064.png">    </p:cNvPr>
          <p:cNvPicPr>
            <a:picLocks noChangeAspect="1"/>
          </p:cNvPicPr>
          <p:nvPr/>
        </p:nvPicPr>
        <p:blipFill>
          <a:blip r:embed="rId30"/>
          <a:stretch>
            <a:fillRect/>
          </a:stretch>
        </p:blipFill>
        <p:spPr>
          <a:xfrm>
            <a:off x="9563070" y="1866930"/>
            <a:ext cx="152430" cy="152430"/>
          </a:xfrm>
          <a:prstGeom prst="rect">
            <a:avLst/>
          </a:prstGeom>
        </p:spPr>
      </p:pic>
      <p:sp>
        <p:nvSpPr>
          <p:cNvPr id="122" name="Text 90"/>
          <p:cNvSpPr txBox="1"/>
          <p:nvPr/>
        </p:nvSpPr>
        <p:spPr>
          <a:xfrm>
            <a:off x="9569470" y="2025670"/>
            <a:ext cx="1099749" cy="120609"/>
          </a:xfrm>
          <a:prstGeom prst="rect">
            <a:avLst/>
          </a:prstGeom>
          <a:noFill/>
          <a:ln/>
        </p:spPr>
        <p:txBody>
          <a:bodyPr wrap="none" lIns="0" tIns="0" rIns="0" bIns="0" rtlCol="0" anchor="t"/>
          <a:lstStyle/>
          <a:p>
            <a:pPr algn="l" indent="0" marL="0">
              <a:buNone/>
            </a:pPr>
            <a:r>
              <a:rPr lang="en-US" sz="750" dirty="0">
                <a:solidFill>
                  <a:srgbClr val="D6C3B9"/>
                </a:solidFill>
                <a:latin typeface="Inter" pitchFamily="34" charset="0"/>
                <a:ea typeface="Inter" pitchFamily="34" charset="-122"/>
                <a:cs typeface="Inter" pitchFamily="34" charset="-120"/>
              </a:rPr>
              <a:t>one screen, one click</a:t>
            </a:r>
            <a:endParaRPr lang="en-US" sz="750" dirty="0"/>
          </a:p>
        </p:txBody>
      </p:sp>
      <p:sp>
        <p:nvSpPr>
          <p:cNvPr id="123" name="Shape 91"/>
          <p:cNvSpPr/>
          <p:nvPr/>
        </p:nvSpPr>
        <p:spPr>
          <a:xfrm>
            <a:off x="9569470" y="2235159"/>
            <a:ext cx="1638330" cy="417149"/>
          </a:xfrm>
          <a:prstGeom prst="roundRect">
            <a:avLst>
              <a:gd name="adj" fmla="val 16747"/>
            </a:avLst>
          </a:prstGeom>
          <a:solidFill>
            <a:srgbClr val="3A2A23"/>
          </a:solidFill>
          <a:ln w="6350">
            <a:solidFill>
              <a:srgbClr val="4C3830"/>
            </a:solidFill>
            <a:prstDash val="solid"/>
          </a:ln>
        </p:spPr>
      </p:sp>
      <p:sp>
        <p:nvSpPr>
          <p:cNvPr id="124" name="Text 92"/>
          <p:cNvSpPr txBox="1"/>
          <p:nvPr/>
        </p:nvSpPr>
        <p:spPr>
          <a:xfrm>
            <a:off x="9652041" y="2317730"/>
            <a:ext cx="593994" cy="120609"/>
          </a:xfrm>
          <a:prstGeom prst="rect">
            <a:avLst/>
          </a:prstGeom>
          <a:noFill/>
          <a:ln/>
        </p:spPr>
        <p:txBody>
          <a:bodyPr wrap="none" lIns="0" tIns="0" rIns="0" bIns="0" rtlCol="0" anchor="t"/>
          <a:lstStyle/>
          <a:p>
            <a:pPr algn="l" indent="0" marL="0">
              <a:buNone/>
            </a:pPr>
            <a:r>
              <a:rPr lang="en-US" sz="775" dirty="0">
                <a:solidFill>
                  <a:srgbClr val="FFFFFF"/>
                </a:solidFill>
                <a:latin typeface="Inter" pitchFamily="34" charset="0"/>
                <a:ea typeface="Inter" pitchFamily="34" charset="-122"/>
                <a:cs typeface="Inter" pitchFamily="34" charset="-120"/>
              </a:rPr>
              <a:t>Dashboard</a:t>
            </a:r>
            <a:endParaRPr lang="en-US" sz="775" dirty="0"/>
          </a:p>
        </p:txBody>
      </p:sp>
      <p:sp>
        <p:nvSpPr>
          <p:cNvPr id="125" name="Text 93"/>
          <p:cNvSpPr txBox="1"/>
          <p:nvPr/>
        </p:nvSpPr>
        <p:spPr>
          <a:xfrm>
            <a:off x="9652041" y="2458364"/>
            <a:ext cx="1186434" cy="101590"/>
          </a:xfrm>
          <a:prstGeom prst="rect">
            <a:avLst/>
          </a:prstGeom>
          <a:noFill/>
          <a:ln/>
        </p:spPr>
        <p:txBody>
          <a:bodyPr wrap="none" lIns="0" tIns="0" rIns="0" bIns="0" rtlCol="0" anchor="t"/>
          <a:lstStyle/>
          <a:p>
            <a:pPr algn="l" indent="0" marL="0">
              <a:buNone/>
            </a:pPr>
            <a:r>
              <a:rPr lang="en-US" sz="675" dirty="0">
                <a:solidFill>
                  <a:srgbClr val="BFA89D"/>
                </a:solidFill>
                <a:latin typeface="Inter" pitchFamily="34" charset="0"/>
                <a:ea typeface="Inter" pitchFamily="34" charset="-122"/>
                <a:cs typeface="Inter" pitchFamily="34" charset="-120"/>
              </a:rPr>
              <a:t>money at risk, at a glance</a:t>
            </a:r>
            <a:endParaRPr lang="en-US" sz="675" dirty="0"/>
          </a:p>
        </p:txBody>
      </p:sp>
      <p:sp>
        <p:nvSpPr>
          <p:cNvPr id="126" name="Shape 94"/>
          <p:cNvSpPr/>
          <p:nvPr/>
        </p:nvSpPr>
        <p:spPr>
          <a:xfrm>
            <a:off x="9569470" y="2715859"/>
            <a:ext cx="1638330" cy="417149"/>
          </a:xfrm>
          <a:prstGeom prst="roundRect">
            <a:avLst>
              <a:gd name="adj" fmla="val 16747"/>
            </a:avLst>
          </a:prstGeom>
          <a:solidFill>
            <a:srgbClr val="3A2A23"/>
          </a:solidFill>
          <a:ln w="6350">
            <a:solidFill>
              <a:srgbClr val="4C3830"/>
            </a:solidFill>
            <a:prstDash val="solid"/>
          </a:ln>
        </p:spPr>
      </p:sp>
      <p:sp>
        <p:nvSpPr>
          <p:cNvPr id="127" name="Text 95"/>
          <p:cNvSpPr txBox="1"/>
          <p:nvPr/>
        </p:nvSpPr>
        <p:spPr>
          <a:xfrm>
            <a:off x="9652041" y="2798338"/>
            <a:ext cx="1389797" cy="120609"/>
          </a:xfrm>
          <a:prstGeom prst="rect">
            <a:avLst/>
          </a:prstGeom>
          <a:noFill/>
          <a:ln/>
        </p:spPr>
        <p:txBody>
          <a:bodyPr wrap="none" lIns="0" tIns="0" rIns="0" bIns="0" rtlCol="0" anchor="t"/>
          <a:lstStyle/>
          <a:p>
            <a:pPr algn="l" indent="0" marL="0">
              <a:buNone/>
            </a:pPr>
            <a:r>
              <a:rPr lang="en-US" sz="775" dirty="0">
                <a:solidFill>
                  <a:srgbClr val="FFFFFF"/>
                </a:solidFill>
                <a:latin typeface="Inter" pitchFamily="34" charset="0"/>
                <a:ea typeface="Inter" pitchFamily="34" charset="-122"/>
                <a:cs typeface="Inter" pitchFamily="34" charset="-120"/>
              </a:rPr>
              <a:t>Problem details with proof</a:t>
            </a:r>
            <a:endParaRPr lang="en-US" sz="775" dirty="0"/>
          </a:p>
        </p:txBody>
      </p:sp>
      <p:sp>
        <p:nvSpPr>
          <p:cNvPr id="128" name="Text 96"/>
          <p:cNvSpPr txBox="1"/>
          <p:nvPr/>
        </p:nvSpPr>
        <p:spPr>
          <a:xfrm>
            <a:off x="9652041" y="2938973"/>
            <a:ext cx="1108527" cy="101590"/>
          </a:xfrm>
          <a:prstGeom prst="rect">
            <a:avLst/>
          </a:prstGeom>
          <a:noFill/>
          <a:ln/>
        </p:spPr>
        <p:txBody>
          <a:bodyPr wrap="none" lIns="0" tIns="0" rIns="0" bIns="0" rtlCol="0" anchor="t"/>
          <a:lstStyle/>
          <a:p>
            <a:pPr algn="l" indent="0" marL="0">
              <a:buNone/>
            </a:pPr>
            <a:r>
              <a:rPr lang="en-US" sz="675" dirty="0">
                <a:solidFill>
                  <a:srgbClr val="BFA89D"/>
                </a:solidFill>
                <a:latin typeface="Inter" pitchFamily="34" charset="0"/>
                <a:ea typeface="Inter" pitchFamily="34" charset="-122"/>
                <a:cs typeface="Inter" pitchFamily="34" charset="-120"/>
              </a:rPr>
              <a:t>approve, edit or dismiss</a:t>
            </a:r>
            <a:endParaRPr lang="en-US" sz="675" dirty="0"/>
          </a:p>
        </p:txBody>
      </p:sp>
      <p:sp>
        <p:nvSpPr>
          <p:cNvPr id="129" name="Shape 97"/>
          <p:cNvSpPr/>
          <p:nvPr/>
        </p:nvSpPr>
        <p:spPr>
          <a:xfrm>
            <a:off x="9569470" y="3196468"/>
            <a:ext cx="1638330" cy="417149"/>
          </a:xfrm>
          <a:prstGeom prst="roundRect">
            <a:avLst>
              <a:gd name="adj" fmla="val 16747"/>
            </a:avLst>
          </a:prstGeom>
          <a:solidFill>
            <a:srgbClr val="3A2A23"/>
          </a:solidFill>
          <a:ln w="6350">
            <a:solidFill>
              <a:srgbClr val="4C3830"/>
            </a:solidFill>
            <a:prstDash val="solid"/>
          </a:ln>
        </p:spPr>
      </p:sp>
      <p:sp>
        <p:nvSpPr>
          <p:cNvPr id="130" name="Text 98"/>
          <p:cNvSpPr txBox="1"/>
          <p:nvPr/>
        </p:nvSpPr>
        <p:spPr>
          <a:xfrm>
            <a:off x="9652041" y="3278947"/>
            <a:ext cx="1168695" cy="120609"/>
          </a:xfrm>
          <a:prstGeom prst="rect">
            <a:avLst/>
          </a:prstGeom>
          <a:noFill/>
          <a:ln/>
        </p:spPr>
        <p:txBody>
          <a:bodyPr wrap="none" lIns="0" tIns="0" rIns="0" bIns="0" rtlCol="0" anchor="t"/>
          <a:lstStyle/>
          <a:p>
            <a:pPr algn="l" indent="0" marL="0">
              <a:buNone/>
            </a:pPr>
            <a:r>
              <a:rPr lang="en-US" sz="775" dirty="0">
                <a:solidFill>
                  <a:srgbClr val="FFFFFF"/>
                </a:solidFill>
                <a:latin typeface="Inter" pitchFamily="34" charset="0"/>
                <a:ea typeface="Inter" pitchFamily="34" charset="-122"/>
                <a:cs typeface="Inter" pitchFamily="34" charset="-120"/>
              </a:rPr>
              <a:t>Supplier network map</a:t>
            </a:r>
            <a:endParaRPr lang="en-US" sz="775" dirty="0"/>
          </a:p>
        </p:txBody>
      </p:sp>
      <p:sp>
        <p:nvSpPr>
          <p:cNvPr id="131" name="Text 99"/>
          <p:cNvSpPr txBox="1"/>
          <p:nvPr/>
        </p:nvSpPr>
        <p:spPr>
          <a:xfrm>
            <a:off x="9652041" y="3419582"/>
            <a:ext cx="963320" cy="101590"/>
          </a:xfrm>
          <a:prstGeom prst="rect">
            <a:avLst/>
          </a:prstGeom>
          <a:noFill/>
          <a:ln/>
        </p:spPr>
        <p:txBody>
          <a:bodyPr wrap="none" lIns="0" tIns="0" rIns="0" bIns="0" rtlCol="0" anchor="t"/>
          <a:lstStyle/>
          <a:p>
            <a:pPr algn="l" indent="0" marL="0">
              <a:buNone/>
            </a:pPr>
            <a:r>
              <a:rPr lang="en-US" sz="675" dirty="0">
                <a:solidFill>
                  <a:srgbClr val="BFA89D"/>
                </a:solidFill>
                <a:latin typeface="Inter" pitchFamily="34" charset="0"/>
                <a:ea typeface="Inter" pitchFamily="34" charset="-122"/>
                <a:cs typeface="Inter" pitchFamily="34" charset="-120"/>
              </a:rPr>
              <a:t>see linked fake firms</a:t>
            </a:r>
            <a:endParaRPr lang="en-US" sz="675" dirty="0"/>
          </a:p>
        </p:txBody>
      </p:sp>
      <p:sp>
        <p:nvSpPr>
          <p:cNvPr id="132" name="Shape 100"/>
          <p:cNvSpPr/>
          <p:nvPr/>
        </p:nvSpPr>
        <p:spPr>
          <a:xfrm>
            <a:off x="9569470" y="3677077"/>
            <a:ext cx="1638330" cy="417149"/>
          </a:xfrm>
          <a:prstGeom prst="roundRect">
            <a:avLst>
              <a:gd name="adj" fmla="val 16747"/>
            </a:avLst>
          </a:prstGeom>
          <a:solidFill>
            <a:srgbClr val="3A2A23"/>
          </a:solidFill>
          <a:ln w="6350">
            <a:solidFill>
              <a:srgbClr val="4C3830"/>
            </a:solidFill>
            <a:prstDash val="solid"/>
          </a:ln>
        </p:spPr>
      </p:sp>
      <p:sp>
        <p:nvSpPr>
          <p:cNvPr id="133" name="Text 101"/>
          <p:cNvSpPr txBox="1"/>
          <p:nvPr/>
        </p:nvSpPr>
        <p:spPr>
          <a:xfrm>
            <a:off x="9652041" y="3759556"/>
            <a:ext cx="1028791" cy="120609"/>
          </a:xfrm>
          <a:prstGeom prst="rect">
            <a:avLst/>
          </a:prstGeom>
          <a:noFill/>
          <a:ln/>
        </p:spPr>
        <p:txBody>
          <a:bodyPr wrap="none" lIns="0" tIns="0" rIns="0" bIns="0" rtlCol="0" anchor="t"/>
          <a:lstStyle/>
          <a:p>
            <a:pPr algn="l" indent="0" marL="0">
              <a:buNone/>
            </a:pPr>
            <a:r>
              <a:rPr lang="en-US" sz="775" dirty="0">
                <a:solidFill>
                  <a:srgbClr val="FFFFFF"/>
                </a:solidFill>
                <a:latin typeface="Inter" pitchFamily="34" charset="0"/>
                <a:ea typeface="Inter" pitchFamily="34" charset="-122"/>
                <a:cs typeface="Inter" pitchFamily="34" charset="-120"/>
              </a:rPr>
              <a:t>Ask in plain English</a:t>
            </a:r>
            <a:endParaRPr lang="en-US" sz="775" dirty="0"/>
          </a:p>
        </p:txBody>
      </p:sp>
      <p:sp>
        <p:nvSpPr>
          <p:cNvPr id="134" name="Text 102"/>
          <p:cNvSpPr txBox="1"/>
          <p:nvPr/>
        </p:nvSpPr>
        <p:spPr>
          <a:xfrm>
            <a:off x="9652041" y="3900190"/>
            <a:ext cx="1177290" cy="101590"/>
          </a:xfrm>
          <a:prstGeom prst="rect">
            <a:avLst/>
          </a:prstGeom>
          <a:noFill/>
          <a:ln/>
        </p:spPr>
        <p:txBody>
          <a:bodyPr wrap="none" lIns="0" tIns="0" rIns="0" bIns="0" rtlCol="0" anchor="t"/>
          <a:lstStyle/>
          <a:p>
            <a:pPr algn="l" indent="0" marL="0">
              <a:buNone/>
            </a:pPr>
            <a:r>
              <a:rPr lang="en-US" sz="675" dirty="0">
                <a:solidFill>
                  <a:srgbClr val="BFA89D"/>
                </a:solidFill>
                <a:latin typeface="Inter" pitchFamily="34" charset="0"/>
                <a:ea typeface="Inter" pitchFamily="34" charset="-122"/>
                <a:cs typeface="Inter" pitchFamily="34" charset="-120"/>
              </a:rPr>
              <a:t>"why is my credit lower?"</a:t>
            </a:r>
            <a:endParaRPr lang="en-US" sz="675" dirty="0"/>
          </a:p>
        </p:txBody>
      </p:sp>
      <p:sp>
        <p:nvSpPr>
          <p:cNvPr id="135" name="Shape 103"/>
          <p:cNvSpPr/>
          <p:nvPr/>
        </p:nvSpPr>
        <p:spPr>
          <a:xfrm>
            <a:off x="9569470" y="4157685"/>
            <a:ext cx="1638330" cy="417149"/>
          </a:xfrm>
          <a:prstGeom prst="roundRect">
            <a:avLst>
              <a:gd name="adj" fmla="val 16747"/>
            </a:avLst>
          </a:prstGeom>
          <a:solidFill>
            <a:srgbClr val="3A2A23"/>
          </a:solidFill>
          <a:ln w="6350">
            <a:solidFill>
              <a:srgbClr val="4C3830"/>
            </a:solidFill>
            <a:prstDash val="solid"/>
          </a:ln>
        </p:spPr>
      </p:sp>
      <p:sp>
        <p:nvSpPr>
          <p:cNvPr id="136" name="Text 104"/>
          <p:cNvSpPr txBox="1"/>
          <p:nvPr/>
        </p:nvSpPr>
        <p:spPr>
          <a:xfrm>
            <a:off x="9652041" y="4240256"/>
            <a:ext cx="364754" cy="120609"/>
          </a:xfrm>
          <a:prstGeom prst="rect">
            <a:avLst/>
          </a:prstGeom>
          <a:noFill/>
          <a:ln/>
        </p:spPr>
        <p:txBody>
          <a:bodyPr wrap="none" lIns="0" tIns="0" rIns="0" bIns="0" rtlCol="0" anchor="t"/>
          <a:lstStyle/>
          <a:p>
            <a:pPr algn="l" indent="0" marL="0">
              <a:buNone/>
            </a:pPr>
            <a:r>
              <a:rPr lang="en-US" sz="775" dirty="0">
                <a:solidFill>
                  <a:srgbClr val="FFFFFF"/>
                </a:solidFill>
                <a:latin typeface="Inter" pitchFamily="34" charset="0"/>
                <a:ea typeface="Inter" pitchFamily="34" charset="-122"/>
                <a:cs typeface="Inter" pitchFamily="34" charset="-120"/>
              </a:rPr>
              <a:t>Export</a:t>
            </a:r>
            <a:endParaRPr lang="en-US" sz="775" dirty="0"/>
          </a:p>
        </p:txBody>
      </p:sp>
      <p:sp>
        <p:nvSpPr>
          <p:cNvPr id="137" name="Text 105"/>
          <p:cNvSpPr txBox="1"/>
          <p:nvPr/>
        </p:nvSpPr>
        <p:spPr>
          <a:xfrm>
            <a:off x="9652041" y="4380799"/>
            <a:ext cx="1266627" cy="101590"/>
          </a:xfrm>
          <a:prstGeom prst="rect">
            <a:avLst/>
          </a:prstGeom>
          <a:noFill/>
          <a:ln/>
        </p:spPr>
        <p:txBody>
          <a:bodyPr wrap="none" lIns="0" tIns="0" rIns="0" bIns="0" rtlCol="0" anchor="t"/>
          <a:lstStyle/>
          <a:p>
            <a:pPr algn="l" indent="0" marL="0">
              <a:buNone/>
            </a:pPr>
            <a:r>
              <a:rPr lang="en-US" sz="675" dirty="0">
                <a:solidFill>
                  <a:srgbClr val="BFA89D"/>
                </a:solidFill>
                <a:latin typeface="Inter" pitchFamily="34" charset="0"/>
                <a:ea typeface="Inter" pitchFamily="34" charset="-122"/>
                <a:cs typeface="Inter" pitchFamily="34" charset="-120"/>
              </a:rPr>
              <a:t>Excel workpaper, GST draft</a:t>
            </a:r>
            <a:endParaRPr lang="en-US" sz="675" dirty="0"/>
          </a:p>
        </p:txBody>
      </p:sp>
      <p:sp>
        <p:nvSpPr>
          <p:cNvPr id="138" name="Shape 106"/>
          <p:cNvSpPr/>
          <p:nvPr/>
        </p:nvSpPr>
        <p:spPr>
          <a:xfrm>
            <a:off x="3035259" y="5092659"/>
            <a:ext cx="8267730" cy="292059"/>
          </a:xfrm>
          <a:prstGeom prst="roundRect">
            <a:avLst>
              <a:gd name="adj" fmla="val 26080"/>
            </a:avLst>
          </a:prstGeom>
          <a:solidFill>
            <a:srgbClr val="FFFFFF"/>
          </a:solidFill>
          <a:ln w="6350">
            <a:solidFill>
              <a:srgbClr val="24110C">
                <a:alpha val="13000"/>
              </a:srgbClr>
            </a:solidFill>
            <a:prstDash val="solid"/>
          </a:ln>
        </p:spPr>
      </p:sp>
      <p:pic>
        <p:nvPicPr>
          <p:cNvPr id="139" name="Image 30" descr="D:\Projects\20. fintechthon\deck\out\assets\s5_img065.png">    </p:cNvPr>
          <p:cNvPicPr>
            <a:picLocks noChangeAspect="1"/>
          </p:cNvPicPr>
          <p:nvPr/>
        </p:nvPicPr>
        <p:blipFill>
          <a:blip r:embed="rId31"/>
          <a:stretch>
            <a:fillRect/>
          </a:stretch>
        </p:blipFill>
        <p:spPr>
          <a:xfrm>
            <a:off x="3149559" y="5168920"/>
            <a:ext cx="139720" cy="139720"/>
          </a:xfrm>
          <a:prstGeom prst="rect">
            <a:avLst/>
          </a:prstGeom>
        </p:spPr>
      </p:pic>
      <p:sp>
        <p:nvSpPr>
          <p:cNvPr id="140" name="Text 107"/>
          <p:cNvSpPr txBox="1"/>
          <p:nvPr/>
        </p:nvSpPr>
        <p:spPr>
          <a:xfrm>
            <a:off x="3359140" y="5178430"/>
            <a:ext cx="1053114" cy="120609"/>
          </a:xfrm>
          <a:prstGeom prst="rect">
            <a:avLst/>
          </a:prstGeom>
          <a:noFill/>
          <a:ln/>
        </p:spPr>
        <p:txBody>
          <a:bodyPr wrap="none" lIns="0" tIns="0" rIns="0" bIns="0" rtlCol="0" anchor="t"/>
          <a:lstStyle/>
          <a:p>
            <a:pPr algn="l" indent="0" marL="0">
              <a:buNone/>
            </a:pPr>
            <a:r>
              <a:rPr lang="en-US" sz="775" b="1" dirty="0">
                <a:solidFill>
                  <a:srgbClr val="24110C"/>
                </a:solidFill>
                <a:latin typeface="Inter" pitchFamily="34" charset="0"/>
                <a:ea typeface="Inter" pitchFamily="34" charset="-122"/>
                <a:cs typeface="Inter" pitchFamily="34" charset="-120"/>
              </a:rPr>
              <a:t>Runs on one laptop</a:t>
            </a:r>
            <a:endParaRPr lang="en-US" sz="775" dirty="0"/>
          </a:p>
        </p:txBody>
      </p:sp>
      <p:sp>
        <p:nvSpPr>
          <p:cNvPr id="141" name="Text 108"/>
          <p:cNvSpPr txBox="1"/>
          <p:nvPr/>
        </p:nvSpPr>
        <p:spPr>
          <a:xfrm>
            <a:off x="4352910" y="5178430"/>
            <a:ext cx="4908225" cy="120609"/>
          </a:xfrm>
          <a:prstGeom prst="rect">
            <a:avLst/>
          </a:prstGeom>
          <a:noFill/>
          <a:ln/>
        </p:spPr>
        <p:txBody>
          <a:bodyPr wrap="none" lIns="0" tIns="0" rIns="0" bIns="0" rtlCol="0" anchor="t"/>
          <a:lstStyle/>
          <a:p>
            <a:pPr algn="l" indent="0" marL="0">
              <a:buNone/>
            </a:pPr>
            <a:r>
              <a:rPr lang="en-US" sz="775" dirty="0">
                <a:solidFill>
                  <a:srgbClr val="5B4339"/>
                </a:solidFill>
                <a:latin typeface="Inter" pitchFamily="34" charset="0"/>
                <a:ea typeface="Inter" pitchFamily="34" charset="-122"/>
                <a:cs typeface="Inter" pitchFamily="34" charset="-120"/>
              </a:rPr>
              <a:t>a local database (SQLite) keeps everything together, so the demo works even without internet</a:t>
            </a:r>
            <a:endParaRPr lang="en-US" sz="775" dirty="0"/>
          </a:p>
        </p:txBody>
      </p:sp>
      <p:sp>
        <p:nvSpPr>
          <p:cNvPr id="142" name="Shape 109"/>
          <p:cNvSpPr/>
          <p:nvPr/>
        </p:nvSpPr>
        <p:spPr>
          <a:xfrm>
            <a:off x="2095530" y="5511820"/>
            <a:ext cx="3949659" cy="812810"/>
          </a:xfrm>
          <a:prstGeom prst="roundRect">
            <a:avLst>
              <a:gd name="adj" fmla="val 10935"/>
            </a:avLst>
          </a:prstGeom>
          <a:solidFill>
            <a:srgbClr val="24110C"/>
          </a:solidFill>
          <a:ln/>
        </p:spPr>
      </p:sp>
      <p:pic>
        <p:nvPicPr>
          <p:cNvPr id="143" name="Image 31" descr="D:\Projects\20. fintechthon\deck\out\assets\s5_img066.png">    </p:cNvPr>
          <p:cNvPicPr>
            <a:picLocks noChangeAspect="1"/>
          </p:cNvPicPr>
          <p:nvPr/>
        </p:nvPicPr>
        <p:blipFill>
          <a:blip r:embed="rId32"/>
          <a:stretch>
            <a:fillRect/>
          </a:stretch>
        </p:blipFill>
        <p:spPr>
          <a:xfrm>
            <a:off x="2216140" y="5619720"/>
            <a:ext cx="203180" cy="203180"/>
          </a:xfrm>
          <a:prstGeom prst="rect">
            <a:avLst/>
          </a:prstGeom>
        </p:spPr>
      </p:pic>
      <p:sp>
        <p:nvSpPr>
          <p:cNvPr id="144" name="Text 110"/>
          <p:cNvSpPr txBox="1"/>
          <p:nvPr/>
        </p:nvSpPr>
        <p:spPr>
          <a:xfrm>
            <a:off x="2501890" y="5586710"/>
            <a:ext cx="1826697" cy="127010"/>
          </a:xfrm>
          <a:prstGeom prst="rect">
            <a:avLst/>
          </a:prstGeom>
          <a:noFill/>
          <a:ln/>
        </p:spPr>
        <p:txBody>
          <a:bodyPr wrap="none" lIns="0" tIns="0" rIns="0" bIns="0" rtlCol="0" anchor="t"/>
          <a:lstStyle/>
          <a:p>
            <a:pPr algn="l" indent="0" marL="0">
              <a:buNone/>
            </a:pPr>
            <a:r>
              <a:rPr lang="en-US" sz="1050" b="1" dirty="0">
                <a:solidFill>
                  <a:srgbClr val="FFFFFF"/>
                </a:solidFill>
                <a:latin typeface="League Spartan" pitchFamily="34" charset="0"/>
                <a:ea typeface="League Spartan" pitchFamily="34" charset="-122"/>
                <a:cs typeface="League Spartan" pitchFamily="34" charset="-120"/>
              </a:rPr>
              <a:t>Maths by code, words by AI</a:t>
            </a:r>
            <a:endParaRPr lang="en-US" sz="1050" dirty="0"/>
          </a:p>
        </p:txBody>
      </p:sp>
      <p:sp>
        <p:nvSpPr>
          <p:cNvPr id="145" name="Text 111"/>
          <p:cNvSpPr txBox="1"/>
          <p:nvPr/>
        </p:nvSpPr>
        <p:spPr>
          <a:xfrm>
            <a:off x="2501890" y="5761086"/>
            <a:ext cx="3416290" cy="285476"/>
          </a:xfrm>
          <a:prstGeom prst="rect">
            <a:avLst/>
          </a:prstGeom>
          <a:noFill/>
          <a:ln/>
        </p:spPr>
        <p:txBody>
          <a:bodyPr wrap="square" lIns="0" tIns="0" rIns="0" bIns="0" rtlCol="0" anchor="t"/>
          <a:lstStyle/>
          <a:p>
            <a:pPr algn="l" indent="0" marL="0">
              <a:lnSpc>
                <a:spcPts val="1124"/>
              </a:lnSpc>
              <a:buNone/>
            </a:pPr>
            <a:r>
              <a:rPr lang="en-US" sz="775" dirty="0">
                <a:solidFill>
                  <a:srgbClr val="E8D9D1"/>
                </a:solidFill>
                <a:latin typeface="Inter" pitchFamily="34" charset="0"/>
                <a:ea typeface="Inter" pitchFamily="34" charset="-122"/>
                <a:cs typeface="Inter" pitchFamily="34" charset="-120"/>
              </a:rPr>
              <a:t>Every rupee figure comes from tested rules. The AI only explains and drafts. It can never change a number.</a:t>
            </a:r>
            <a:endParaRPr lang="en-US" sz="775" dirty="0"/>
          </a:p>
        </p:txBody>
      </p:sp>
      <p:sp>
        <p:nvSpPr>
          <p:cNvPr id="146" name="Shape 112"/>
          <p:cNvSpPr/>
          <p:nvPr/>
        </p:nvSpPr>
        <p:spPr>
          <a:xfrm>
            <a:off x="6146780" y="5511820"/>
            <a:ext cx="3949659" cy="812810"/>
          </a:xfrm>
          <a:prstGeom prst="roundRect">
            <a:avLst>
              <a:gd name="adj" fmla="val 10935"/>
            </a:avLst>
          </a:prstGeom>
          <a:solidFill>
            <a:srgbClr val="FFFFFF"/>
          </a:solidFill>
          <a:ln w="6350">
            <a:solidFill>
              <a:srgbClr val="24110C">
                <a:alpha val="13000"/>
              </a:srgbClr>
            </a:solidFill>
            <a:prstDash val="solid"/>
          </a:ln>
        </p:spPr>
      </p:sp>
      <p:pic>
        <p:nvPicPr>
          <p:cNvPr id="147" name="Image 32" descr="D:\Projects\20. fintechthon\deck\out\assets\s5_img067.png">    </p:cNvPr>
          <p:cNvPicPr>
            <a:picLocks noChangeAspect="1"/>
          </p:cNvPicPr>
          <p:nvPr/>
        </p:nvPicPr>
        <p:blipFill>
          <a:blip r:embed="rId33"/>
          <a:stretch>
            <a:fillRect/>
          </a:stretch>
        </p:blipFill>
        <p:spPr>
          <a:xfrm>
            <a:off x="6273790" y="5626120"/>
            <a:ext cx="203180" cy="203180"/>
          </a:xfrm>
          <a:prstGeom prst="rect">
            <a:avLst/>
          </a:prstGeom>
        </p:spPr>
      </p:pic>
      <p:sp>
        <p:nvSpPr>
          <p:cNvPr id="148" name="Text 113"/>
          <p:cNvSpPr txBox="1"/>
          <p:nvPr/>
        </p:nvSpPr>
        <p:spPr>
          <a:xfrm>
            <a:off x="6559540" y="5593110"/>
            <a:ext cx="1308232" cy="127010"/>
          </a:xfrm>
          <a:prstGeom prst="rect">
            <a:avLst/>
          </a:prstGeom>
          <a:noFill/>
          <a:ln/>
        </p:spPr>
        <p:txBody>
          <a:bodyPr wrap="none" lIns="0" tIns="0" rIns="0" bIns="0" rtlCol="0" anchor="t"/>
          <a:lstStyle/>
          <a:p>
            <a:pPr algn="l" indent="0" marL="0">
              <a:buNone/>
            </a:pPr>
            <a:r>
              <a:rPr lang="en-US" sz="1050" b="1" dirty="0">
                <a:solidFill>
                  <a:srgbClr val="24110C"/>
                </a:solidFill>
                <a:latin typeface="League Spartan" pitchFamily="34" charset="0"/>
                <a:ea typeface="League Spartan" pitchFamily="34" charset="-122"/>
                <a:cs typeface="League Spartan" pitchFamily="34" charset="-120"/>
              </a:rPr>
              <a:t>Proven on test data</a:t>
            </a:r>
            <a:endParaRPr lang="en-US" sz="1050" dirty="0"/>
          </a:p>
        </p:txBody>
      </p:sp>
      <p:sp>
        <p:nvSpPr>
          <p:cNvPr id="149" name="Text 114"/>
          <p:cNvSpPr txBox="1"/>
          <p:nvPr/>
        </p:nvSpPr>
        <p:spPr>
          <a:xfrm>
            <a:off x="6559540" y="5767487"/>
            <a:ext cx="3403580" cy="285476"/>
          </a:xfrm>
          <a:prstGeom prst="rect">
            <a:avLst/>
          </a:prstGeom>
          <a:noFill/>
          <a:ln/>
        </p:spPr>
        <p:txBody>
          <a:bodyPr wrap="square" lIns="0" tIns="0" rIns="0" bIns="0" rtlCol="0" anchor="t"/>
          <a:lstStyle/>
          <a:p>
            <a:pPr algn="l" indent="0" marL="0">
              <a:lnSpc>
                <a:spcPts val="1124"/>
              </a:lnSpc>
              <a:buNone/>
            </a:pPr>
            <a:r>
              <a:rPr lang="en-US" sz="775" dirty="0">
                <a:solidFill>
                  <a:srgbClr val="5B4339"/>
                </a:solidFill>
                <a:latin typeface="Inter" pitchFamily="34" charset="0"/>
                <a:ea typeface="Inter" pitchFamily="34" charset="-122"/>
                <a:cs typeface="Inter" pitchFamily="34" charset="-120"/>
              </a:rPr>
              <a:t>We plant known mistakes in realistic books and count how many we catch, and how often we raise a false alarm.</a:t>
            </a:r>
            <a:endParaRPr lang="en-US" sz="7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2222696" y="1423712"/>
            <a:ext cx="7746614" cy="15874"/>
          </a:xfrm>
          <a:custGeom>
            <a:avLst/>
            <a:gdLst/>
            <a:ahLst/>
            <a:cxnLst/>
            <a:rect l="l" t="t" r="r" b="b"/>
            <a:pathLst>
              <a:path w="7746614" h="15874">
                <a:moveTo>
                  <a:pt x="0" y="15874"/>
                </a:moveTo>
                <a:lnTo>
                  <a:pt x="7746614" y="0"/>
                </a:lnTo>
              </a:path>
            </a:pathLst>
          </a:custGeom>
          <a:ln w="6350">
            <a:solidFill>
              <a:srgbClr val="2B0000"/>
            </a:solidFill>
            <a:prstDash val="solid"/>
          </a:ln>
        </p:spPr>
      </p:sp>
      <p:sp>
        <p:nvSpPr>
          <p:cNvPr id="3" name="Shape 1"/>
          <p:cNvSpPr/>
          <p:nvPr/>
        </p:nvSpPr>
        <p:spPr>
          <a:xfrm>
            <a:off x="10673873" y="5689433"/>
            <a:ext cx="2192009" cy="2084832"/>
          </a:xfrm>
          <a:custGeom>
            <a:avLst/>
            <a:gdLst/>
            <a:ahLst/>
            <a:cxnLst/>
            <a:rect l="l" t="t" r="r" b="b"/>
            <a:pathLst>
              <a:path w="2192009" h="2084832">
                <a:moveTo>
                  <a:pt x="5925" y="642960"/>
                </a:moveTo>
                <a:lnTo>
                  <a:pt x="513564" y="642960"/>
                </a:lnTo>
                <a:lnTo>
                  <a:pt x="548155" y="637236"/>
                </a:lnTo>
                <a:cubicBezTo>
                  <a:pt x="593830" y="629711"/>
                  <a:pt x="629665" y="593885"/>
                  <a:pt x="637236" y="548155"/>
                </a:cubicBezTo>
                <a:lnTo>
                  <a:pt x="642960" y="513564"/>
                </a:lnTo>
                <a:lnTo>
                  <a:pt x="642960" y="5925"/>
                </a:lnTo>
                <a:cubicBezTo>
                  <a:pt x="642960" y="2679"/>
                  <a:pt x="645594" y="0"/>
                  <a:pt x="648895" y="0"/>
                </a:cubicBezTo>
                <a:cubicBezTo>
                  <a:pt x="652187" y="0"/>
                  <a:pt x="654820" y="2633"/>
                  <a:pt x="654820" y="5925"/>
                </a:cubicBezTo>
                <a:lnTo>
                  <a:pt x="654820" y="513564"/>
                </a:lnTo>
                <a:lnTo>
                  <a:pt x="660544" y="548155"/>
                </a:lnTo>
                <a:cubicBezTo>
                  <a:pt x="664513" y="572186"/>
                  <a:pt x="676318" y="593418"/>
                  <a:pt x="693225" y="609301"/>
                </a:cubicBezTo>
                <a:cubicBezTo>
                  <a:pt x="697038" y="605379"/>
                  <a:pt x="700860" y="601410"/>
                  <a:pt x="704719" y="597496"/>
                </a:cubicBezTo>
                <a:cubicBezTo>
                  <a:pt x="704929" y="597286"/>
                  <a:pt x="705185" y="597085"/>
                  <a:pt x="705396" y="596820"/>
                </a:cubicBezTo>
                <a:cubicBezTo>
                  <a:pt x="705597" y="596619"/>
                  <a:pt x="705807" y="596363"/>
                  <a:pt x="706063" y="596152"/>
                </a:cubicBezTo>
                <a:cubicBezTo>
                  <a:pt x="706273" y="595951"/>
                  <a:pt x="706529" y="595741"/>
                  <a:pt x="706731" y="595485"/>
                </a:cubicBezTo>
                <a:cubicBezTo>
                  <a:pt x="706941" y="595274"/>
                  <a:pt x="707142" y="595018"/>
                  <a:pt x="707407" y="594817"/>
                </a:cubicBezTo>
                <a:cubicBezTo>
                  <a:pt x="708486" y="593729"/>
                  <a:pt x="709620" y="592650"/>
                  <a:pt x="710699" y="591562"/>
                </a:cubicBezTo>
                <a:cubicBezTo>
                  <a:pt x="711787" y="590428"/>
                  <a:pt x="712866" y="589349"/>
                  <a:pt x="714000" y="588215"/>
                </a:cubicBezTo>
                <a:cubicBezTo>
                  <a:pt x="793242" y="509028"/>
                  <a:pt x="878766" y="442835"/>
                  <a:pt x="966658" y="390302"/>
                </a:cubicBezTo>
                <a:cubicBezTo>
                  <a:pt x="1079202" y="321942"/>
                  <a:pt x="1195861" y="274622"/>
                  <a:pt x="1309384" y="249668"/>
                </a:cubicBezTo>
                <a:cubicBezTo>
                  <a:pt x="1382792" y="232504"/>
                  <a:pt x="1455588" y="223735"/>
                  <a:pt x="1526216" y="223690"/>
                </a:cubicBezTo>
                <a:cubicBezTo>
                  <a:pt x="1711647" y="223690"/>
                  <a:pt x="1882027" y="283848"/>
                  <a:pt x="2006989" y="408810"/>
                </a:cubicBezTo>
                <a:cubicBezTo>
                  <a:pt x="2131850" y="533882"/>
                  <a:pt x="2192009" y="704262"/>
                  <a:pt x="2192009" y="889693"/>
                </a:cubicBezTo>
                <a:cubicBezTo>
                  <a:pt x="2192009" y="1161837"/>
                  <a:pt x="2062722" y="1466670"/>
                  <a:pt x="1818312" y="1711135"/>
                </a:cubicBezTo>
                <a:cubicBezTo>
                  <a:pt x="1573847" y="1955545"/>
                  <a:pt x="1269013" y="2084832"/>
                  <a:pt x="996870" y="2084832"/>
                </a:cubicBezTo>
                <a:cubicBezTo>
                  <a:pt x="811439" y="2084832"/>
                  <a:pt x="641058" y="2024674"/>
                  <a:pt x="516087" y="1899712"/>
                </a:cubicBezTo>
                <a:cubicBezTo>
                  <a:pt x="391125" y="1774750"/>
                  <a:pt x="330967" y="1604370"/>
                  <a:pt x="330967" y="1418929"/>
                </a:cubicBezTo>
                <a:cubicBezTo>
                  <a:pt x="330967" y="1182923"/>
                  <a:pt x="428250" y="922374"/>
                  <a:pt x="613526" y="697870"/>
                </a:cubicBezTo>
                <a:cubicBezTo>
                  <a:pt x="597286" y="678430"/>
                  <a:pt x="574344" y="664769"/>
                  <a:pt x="548155" y="660444"/>
                </a:cubicBezTo>
                <a:lnTo>
                  <a:pt x="513564" y="654720"/>
                </a:lnTo>
                <a:lnTo>
                  <a:pt x="5925" y="654720"/>
                </a:lnTo>
                <a:cubicBezTo>
                  <a:pt x="2679" y="654720"/>
                  <a:pt x="0" y="652086"/>
                  <a:pt x="0" y="648785"/>
                </a:cubicBezTo>
                <a:cubicBezTo>
                  <a:pt x="0" y="645493"/>
                  <a:pt x="2633" y="642860"/>
                  <a:pt x="5925" y="642860"/>
                </a:cubicBezTo>
                <a:lnTo>
                  <a:pt x="5925" y="642960"/>
                </a:lnTo>
                <a:moveTo>
                  <a:pt x="977329" y="398916"/>
                </a:moveTo>
                <a:cubicBezTo>
                  <a:pt x="972693" y="401696"/>
                  <a:pt x="968103" y="404531"/>
                  <a:pt x="963512" y="407365"/>
                </a:cubicBezTo>
                <a:cubicBezTo>
                  <a:pt x="960367" y="409276"/>
                  <a:pt x="957276" y="411178"/>
                  <a:pt x="954131" y="413144"/>
                </a:cubicBezTo>
                <a:cubicBezTo>
                  <a:pt x="871551" y="464954"/>
                  <a:pt x="791797" y="527901"/>
                  <a:pt x="717612" y="601465"/>
                </a:cubicBezTo>
                <a:cubicBezTo>
                  <a:pt x="712455" y="606668"/>
                  <a:pt x="707352" y="611825"/>
                  <a:pt x="702351" y="617083"/>
                </a:cubicBezTo>
                <a:cubicBezTo>
                  <a:pt x="708276" y="621518"/>
                  <a:pt x="714722" y="625331"/>
                  <a:pt x="721526" y="628531"/>
                </a:cubicBezTo>
                <a:cubicBezTo>
                  <a:pt x="725604" y="624352"/>
                  <a:pt x="729627" y="620174"/>
                  <a:pt x="733742" y="616050"/>
                </a:cubicBezTo>
                <a:cubicBezTo>
                  <a:pt x="929597" y="420258"/>
                  <a:pt x="1169316" y="314371"/>
                  <a:pt x="1374233" y="314261"/>
                </a:cubicBezTo>
                <a:cubicBezTo>
                  <a:pt x="1497083" y="314261"/>
                  <a:pt x="1607616" y="352519"/>
                  <a:pt x="1687781" y="432676"/>
                </a:cubicBezTo>
                <a:cubicBezTo>
                  <a:pt x="1767992" y="512896"/>
                  <a:pt x="1806242" y="623374"/>
                  <a:pt x="1806196" y="746224"/>
                </a:cubicBezTo>
                <a:cubicBezTo>
                  <a:pt x="1806141" y="951141"/>
                  <a:pt x="1700254" y="1190814"/>
                  <a:pt x="1504407" y="1386715"/>
                </a:cubicBezTo>
                <a:cubicBezTo>
                  <a:pt x="1308561" y="1582506"/>
                  <a:pt x="1068842" y="1688394"/>
                  <a:pt x="863916" y="1688449"/>
                </a:cubicBezTo>
                <a:cubicBezTo>
                  <a:pt x="741066" y="1688449"/>
                  <a:pt x="630589" y="1650199"/>
                  <a:pt x="550377" y="1570034"/>
                </a:cubicBezTo>
                <a:cubicBezTo>
                  <a:pt x="470157" y="1489814"/>
                  <a:pt x="431908" y="1379290"/>
                  <a:pt x="431963" y="1256486"/>
                </a:cubicBezTo>
                <a:cubicBezTo>
                  <a:pt x="431963" y="1090340"/>
                  <a:pt x="501658" y="901242"/>
                  <a:pt x="632445" y="731218"/>
                </a:cubicBezTo>
                <a:cubicBezTo>
                  <a:pt x="629711" y="723437"/>
                  <a:pt x="626108" y="716067"/>
                  <a:pt x="621774" y="709209"/>
                </a:cubicBezTo>
                <a:cubicBezTo>
                  <a:pt x="465366" y="905622"/>
                  <a:pt x="382265" y="1126422"/>
                  <a:pt x="382311" y="1318665"/>
                </a:cubicBezTo>
                <a:cubicBezTo>
                  <a:pt x="382311" y="1457544"/>
                  <a:pt x="425516" y="1581318"/>
                  <a:pt x="515264" y="1671130"/>
                </a:cubicBezTo>
                <a:cubicBezTo>
                  <a:pt x="605022" y="1760878"/>
                  <a:pt x="728795" y="1804029"/>
                  <a:pt x="867729" y="1804084"/>
                </a:cubicBezTo>
                <a:cubicBezTo>
                  <a:pt x="1097710" y="1804129"/>
                  <a:pt x="1368619" y="1685248"/>
                  <a:pt x="1589721" y="1464092"/>
                </a:cubicBezTo>
                <a:cubicBezTo>
                  <a:pt x="1810887" y="1242980"/>
                  <a:pt x="1929768" y="972071"/>
                  <a:pt x="1929713" y="742100"/>
                </a:cubicBezTo>
                <a:cubicBezTo>
                  <a:pt x="1929713" y="603221"/>
                  <a:pt x="1886508" y="479438"/>
                  <a:pt x="1796759" y="389635"/>
                </a:cubicBezTo>
                <a:cubicBezTo>
                  <a:pt x="1707011" y="299877"/>
                  <a:pt x="1583229" y="256736"/>
                  <a:pt x="1444295" y="256681"/>
                </a:cubicBezTo>
                <a:cubicBezTo>
                  <a:pt x="1337118" y="256681"/>
                  <a:pt x="1221017" y="282504"/>
                  <a:pt x="1105235" y="332467"/>
                </a:cubicBezTo>
                <a:cubicBezTo>
                  <a:pt x="1062240" y="351687"/>
                  <a:pt x="1019501" y="373862"/>
                  <a:pt x="977384" y="398962"/>
                </a:cubicBezTo>
                <a:lnTo>
                  <a:pt x="977329" y="398916"/>
                </a:lnTo>
                <a:moveTo>
                  <a:pt x="733385" y="633268"/>
                </a:moveTo>
                <a:cubicBezTo>
                  <a:pt x="738588" y="634969"/>
                  <a:pt x="744002" y="636313"/>
                  <a:pt x="749525" y="637236"/>
                </a:cubicBezTo>
                <a:lnTo>
                  <a:pt x="784116" y="642960"/>
                </a:lnTo>
                <a:lnTo>
                  <a:pt x="807315" y="642960"/>
                </a:lnTo>
                <a:cubicBezTo>
                  <a:pt x="957587" y="499080"/>
                  <a:pt x="1140239" y="422371"/>
                  <a:pt x="1301136" y="422316"/>
                </a:cubicBezTo>
                <a:cubicBezTo>
                  <a:pt x="1408158" y="422316"/>
                  <a:pt x="1505697" y="456395"/>
                  <a:pt x="1576938" y="527636"/>
                </a:cubicBezTo>
                <a:cubicBezTo>
                  <a:pt x="1648188" y="598831"/>
                  <a:pt x="1682313" y="696425"/>
                  <a:pt x="1682258" y="803447"/>
                </a:cubicBezTo>
                <a:cubicBezTo>
                  <a:pt x="1682258" y="969447"/>
                  <a:pt x="1600547" y="1158591"/>
                  <a:pt x="1447696" y="1311496"/>
                </a:cubicBezTo>
                <a:cubicBezTo>
                  <a:pt x="1294790" y="1464348"/>
                  <a:pt x="1105647" y="1546013"/>
                  <a:pt x="939647" y="1546058"/>
                </a:cubicBezTo>
                <a:cubicBezTo>
                  <a:pt x="832625" y="1546058"/>
                  <a:pt x="735086" y="1511988"/>
                  <a:pt x="663845" y="1440738"/>
                </a:cubicBezTo>
                <a:cubicBezTo>
                  <a:pt x="592595" y="1369497"/>
                  <a:pt x="558470" y="1271958"/>
                  <a:pt x="558516" y="1164936"/>
                </a:cubicBezTo>
                <a:cubicBezTo>
                  <a:pt x="558516" y="1066209"/>
                  <a:pt x="587438" y="959343"/>
                  <a:pt x="642960" y="856802"/>
                </a:cubicBezTo>
                <a:lnTo>
                  <a:pt x="642960" y="784162"/>
                </a:lnTo>
                <a:lnTo>
                  <a:pt x="637236" y="749570"/>
                </a:lnTo>
                <a:cubicBezTo>
                  <a:pt x="637035" y="748235"/>
                  <a:pt x="636669" y="746946"/>
                  <a:pt x="636413" y="745657"/>
                </a:cubicBezTo>
                <a:cubicBezTo>
                  <a:pt x="510528" y="912068"/>
                  <a:pt x="443767" y="1095954"/>
                  <a:pt x="443813" y="1256486"/>
                </a:cubicBezTo>
                <a:cubicBezTo>
                  <a:pt x="443813" y="1376913"/>
                  <a:pt x="481194" y="1484044"/>
                  <a:pt x="558781" y="1561685"/>
                </a:cubicBezTo>
                <a:cubicBezTo>
                  <a:pt x="636413" y="1639263"/>
                  <a:pt x="743489" y="1676644"/>
                  <a:pt x="863971" y="1676644"/>
                </a:cubicBezTo>
                <a:cubicBezTo>
                  <a:pt x="1064819" y="1676690"/>
                  <a:pt x="1302160" y="1572302"/>
                  <a:pt x="1496050" y="1378357"/>
                </a:cubicBezTo>
                <a:cubicBezTo>
                  <a:pt x="1690049" y="1184422"/>
                  <a:pt x="1794391" y="947072"/>
                  <a:pt x="1794336" y="746278"/>
                </a:cubicBezTo>
                <a:cubicBezTo>
                  <a:pt x="1794336" y="625852"/>
                  <a:pt x="1756965" y="518721"/>
                  <a:pt x="1679378" y="441079"/>
                </a:cubicBezTo>
                <a:cubicBezTo>
                  <a:pt x="1601736" y="363492"/>
                  <a:pt x="1494660" y="326121"/>
                  <a:pt x="1374188" y="326121"/>
                </a:cubicBezTo>
                <a:cubicBezTo>
                  <a:pt x="1173331" y="326066"/>
                  <a:pt x="935989" y="430463"/>
                  <a:pt x="742100" y="624407"/>
                </a:cubicBezTo>
                <a:cubicBezTo>
                  <a:pt x="739155" y="627342"/>
                  <a:pt x="736275" y="630332"/>
                  <a:pt x="733385" y="633268"/>
                </a:cubicBezTo>
                <a:lnTo>
                  <a:pt x="733385" y="633268"/>
                </a:lnTo>
                <a:moveTo>
                  <a:pt x="648840" y="1297680"/>
                </a:moveTo>
                <a:cubicBezTo>
                  <a:pt x="645594" y="1297680"/>
                  <a:pt x="642915" y="1295056"/>
                  <a:pt x="642915" y="1291755"/>
                </a:cubicBezTo>
                <a:lnTo>
                  <a:pt x="642915" y="882423"/>
                </a:lnTo>
                <a:cubicBezTo>
                  <a:pt x="595073" y="977283"/>
                  <a:pt x="570275" y="1074923"/>
                  <a:pt x="570320" y="1164936"/>
                </a:cubicBezTo>
                <a:cubicBezTo>
                  <a:pt x="570320" y="1269480"/>
                  <a:pt x="603522" y="1363672"/>
                  <a:pt x="672194" y="1432389"/>
                </a:cubicBezTo>
                <a:cubicBezTo>
                  <a:pt x="740865" y="1501052"/>
                  <a:pt x="835048" y="1534199"/>
                  <a:pt x="939647" y="1534253"/>
                </a:cubicBezTo>
                <a:cubicBezTo>
                  <a:pt x="1101779" y="1534253"/>
                  <a:pt x="1288454" y="1454088"/>
                  <a:pt x="1439348" y="1303148"/>
                </a:cubicBezTo>
                <a:cubicBezTo>
                  <a:pt x="1590288" y="1152254"/>
                  <a:pt x="1670508" y="965579"/>
                  <a:pt x="1670453" y="803447"/>
                </a:cubicBezTo>
                <a:cubicBezTo>
                  <a:pt x="1670453" y="698894"/>
                  <a:pt x="1637261" y="604711"/>
                  <a:pt x="1568589" y="535994"/>
                </a:cubicBezTo>
                <a:cubicBezTo>
                  <a:pt x="1499918" y="467322"/>
                  <a:pt x="1405735" y="434175"/>
                  <a:pt x="1301136" y="434121"/>
                </a:cubicBezTo>
                <a:cubicBezTo>
                  <a:pt x="1147197" y="434121"/>
                  <a:pt x="971193" y="506450"/>
                  <a:pt x="824633" y="642915"/>
                </a:cubicBezTo>
                <a:lnTo>
                  <a:pt x="999503" y="642915"/>
                </a:lnTo>
                <a:cubicBezTo>
                  <a:pt x="1097088" y="580223"/>
                  <a:pt x="1201640" y="547278"/>
                  <a:pt x="1296391" y="547232"/>
                </a:cubicBezTo>
                <a:cubicBezTo>
                  <a:pt x="1382170" y="547232"/>
                  <a:pt x="1460178" y="574344"/>
                  <a:pt x="1516980" y="631210"/>
                </a:cubicBezTo>
                <a:cubicBezTo>
                  <a:pt x="1573792" y="688022"/>
                  <a:pt x="1600968" y="766020"/>
                  <a:pt x="1600913" y="851800"/>
                </a:cubicBezTo>
                <a:cubicBezTo>
                  <a:pt x="1600913" y="988265"/>
                  <a:pt x="1532653" y="1144929"/>
                  <a:pt x="1405579" y="1272058"/>
                </a:cubicBezTo>
                <a:cubicBezTo>
                  <a:pt x="1403156" y="1274482"/>
                  <a:pt x="1400678" y="1276850"/>
                  <a:pt x="1398255" y="1279227"/>
                </a:cubicBezTo>
                <a:cubicBezTo>
                  <a:pt x="1395886" y="1281696"/>
                  <a:pt x="1393518" y="1284174"/>
                  <a:pt x="1391040" y="1286597"/>
                </a:cubicBezTo>
                <a:cubicBezTo>
                  <a:pt x="1385837" y="1291800"/>
                  <a:pt x="1380579" y="1296857"/>
                  <a:pt x="1375267" y="1301804"/>
                </a:cubicBezTo>
                <a:cubicBezTo>
                  <a:pt x="1327480" y="1346865"/>
                  <a:pt x="1276850" y="1382847"/>
                  <a:pt x="1227518" y="1408213"/>
                </a:cubicBezTo>
                <a:cubicBezTo>
                  <a:pt x="1191015" y="1426976"/>
                  <a:pt x="1155290" y="1439970"/>
                  <a:pt x="1121987" y="1446563"/>
                </a:cubicBezTo>
                <a:cubicBezTo>
                  <a:pt x="1120798" y="1446819"/>
                  <a:pt x="1119674" y="1447129"/>
                  <a:pt x="1118485" y="1447385"/>
                </a:cubicBezTo>
                <a:cubicBezTo>
                  <a:pt x="1073112" y="1460589"/>
                  <a:pt x="1028215" y="1467338"/>
                  <a:pt x="985321" y="1467393"/>
                </a:cubicBezTo>
                <a:cubicBezTo>
                  <a:pt x="899541" y="1467393"/>
                  <a:pt x="821543" y="1440271"/>
                  <a:pt x="764731" y="1383460"/>
                </a:cubicBezTo>
                <a:cubicBezTo>
                  <a:pt x="707919" y="1326657"/>
                  <a:pt x="680753" y="1248650"/>
                  <a:pt x="680798" y="1162870"/>
                </a:cubicBezTo>
                <a:cubicBezTo>
                  <a:pt x="680798" y="1026414"/>
                  <a:pt x="749058" y="869741"/>
                  <a:pt x="876132" y="742612"/>
                </a:cubicBezTo>
                <a:cubicBezTo>
                  <a:pt x="909545" y="709209"/>
                  <a:pt x="945060" y="679875"/>
                  <a:pt x="981663" y="654765"/>
                </a:cubicBezTo>
                <a:lnTo>
                  <a:pt x="812106" y="654765"/>
                </a:lnTo>
                <a:cubicBezTo>
                  <a:pt x="808549" y="658222"/>
                  <a:pt x="804937" y="661678"/>
                  <a:pt x="801380" y="665235"/>
                </a:cubicBezTo>
                <a:cubicBezTo>
                  <a:pt x="740911" y="725650"/>
                  <a:pt x="691890" y="791843"/>
                  <a:pt x="654720" y="859847"/>
                </a:cubicBezTo>
                <a:lnTo>
                  <a:pt x="654720" y="1291755"/>
                </a:lnTo>
                <a:cubicBezTo>
                  <a:pt x="654720" y="1295001"/>
                  <a:pt x="652086" y="1297680"/>
                  <a:pt x="648785" y="1297680"/>
                </a:cubicBezTo>
                <a:lnTo>
                  <a:pt x="648840" y="1297680"/>
                </a:lnTo>
                <a:moveTo>
                  <a:pt x="1291755" y="654765"/>
                </a:moveTo>
                <a:lnTo>
                  <a:pt x="1003005" y="654765"/>
                </a:lnTo>
                <a:cubicBezTo>
                  <a:pt x="961812" y="681475"/>
                  <a:pt x="921862" y="713589"/>
                  <a:pt x="884536" y="750969"/>
                </a:cubicBezTo>
                <a:cubicBezTo>
                  <a:pt x="759373" y="876087"/>
                  <a:pt x="692612" y="1030328"/>
                  <a:pt x="692658" y="1162815"/>
                </a:cubicBezTo>
                <a:cubicBezTo>
                  <a:pt x="692658" y="1246181"/>
                  <a:pt x="718901" y="1320778"/>
                  <a:pt x="773134" y="1375056"/>
                </a:cubicBezTo>
                <a:cubicBezTo>
                  <a:pt x="827413" y="1429289"/>
                  <a:pt x="902010" y="1455533"/>
                  <a:pt x="985376" y="1455533"/>
                </a:cubicBezTo>
                <a:cubicBezTo>
                  <a:pt x="993057" y="1455533"/>
                  <a:pt x="1000793" y="1455277"/>
                  <a:pt x="1008574" y="1454865"/>
                </a:cubicBezTo>
                <a:cubicBezTo>
                  <a:pt x="945627" y="1450787"/>
                  <a:pt x="888916" y="1428467"/>
                  <a:pt x="846542" y="1386038"/>
                </a:cubicBezTo>
                <a:cubicBezTo>
                  <a:pt x="799423" y="1338919"/>
                  <a:pt x="777002" y="1274125"/>
                  <a:pt x="777002" y="1202719"/>
                </a:cubicBezTo>
                <a:cubicBezTo>
                  <a:pt x="777048" y="1086106"/>
                  <a:pt x="836283" y="951296"/>
                  <a:pt x="946038" y="841495"/>
                </a:cubicBezTo>
                <a:cubicBezTo>
                  <a:pt x="1055849" y="731739"/>
                  <a:pt x="1190659" y="672505"/>
                  <a:pt x="1307272" y="672450"/>
                </a:cubicBezTo>
                <a:cubicBezTo>
                  <a:pt x="1378723" y="672450"/>
                  <a:pt x="1443527" y="694880"/>
                  <a:pt x="1490591" y="741999"/>
                </a:cubicBezTo>
                <a:cubicBezTo>
                  <a:pt x="1537710" y="789118"/>
                  <a:pt x="1560131" y="853912"/>
                  <a:pt x="1560131" y="925318"/>
                </a:cubicBezTo>
                <a:cubicBezTo>
                  <a:pt x="1560131" y="925830"/>
                  <a:pt x="1560131" y="926397"/>
                  <a:pt x="1560131" y="926964"/>
                </a:cubicBezTo>
                <a:cubicBezTo>
                  <a:pt x="1560387" y="931710"/>
                  <a:pt x="1560542" y="936501"/>
                  <a:pt x="1560542" y="941347"/>
                </a:cubicBezTo>
                <a:cubicBezTo>
                  <a:pt x="1560542" y="965634"/>
                  <a:pt x="1557296" y="991200"/>
                  <a:pt x="1551115" y="1017444"/>
                </a:cubicBezTo>
                <a:cubicBezTo>
                  <a:pt x="1548015" y="1033162"/>
                  <a:pt x="1543434" y="1049402"/>
                  <a:pt x="1537554" y="1065998"/>
                </a:cubicBezTo>
                <a:cubicBezTo>
                  <a:pt x="1571579" y="993468"/>
                  <a:pt x="1589154" y="919749"/>
                  <a:pt x="1589108" y="851754"/>
                </a:cubicBezTo>
                <a:cubicBezTo>
                  <a:pt x="1589108" y="768389"/>
                  <a:pt x="1562865" y="693792"/>
                  <a:pt x="1508632" y="639513"/>
                </a:cubicBezTo>
                <a:cubicBezTo>
                  <a:pt x="1454344" y="585271"/>
                  <a:pt x="1379747" y="559037"/>
                  <a:pt x="1296391" y="559037"/>
                </a:cubicBezTo>
                <a:cubicBezTo>
                  <a:pt x="1209422" y="559037"/>
                  <a:pt x="1113117" y="587749"/>
                  <a:pt x="1021824" y="642860"/>
                </a:cubicBezTo>
                <a:lnTo>
                  <a:pt x="1291755" y="642860"/>
                </a:lnTo>
                <a:cubicBezTo>
                  <a:pt x="1295001" y="642860"/>
                  <a:pt x="1297680" y="645493"/>
                  <a:pt x="1297680" y="648785"/>
                </a:cubicBezTo>
                <a:cubicBezTo>
                  <a:pt x="1297680" y="652086"/>
                  <a:pt x="1295046" y="654720"/>
                  <a:pt x="1291755" y="654720"/>
                </a:cubicBezTo>
                <a:lnTo>
                  <a:pt x="1291755" y="654765"/>
                </a:lnTo>
                <a:moveTo>
                  <a:pt x="788853" y="1202719"/>
                </a:moveTo>
                <a:cubicBezTo>
                  <a:pt x="788853" y="1271748"/>
                  <a:pt x="810405" y="1333149"/>
                  <a:pt x="854946" y="1377690"/>
                </a:cubicBezTo>
                <a:cubicBezTo>
                  <a:pt x="878921" y="1401665"/>
                  <a:pt x="907789" y="1418884"/>
                  <a:pt x="940058" y="1429756"/>
                </a:cubicBezTo>
                <a:cubicBezTo>
                  <a:pt x="928153" y="1422797"/>
                  <a:pt x="917116" y="1414394"/>
                  <a:pt x="907222" y="1404500"/>
                </a:cubicBezTo>
                <a:cubicBezTo>
                  <a:pt x="872219" y="1369497"/>
                  <a:pt x="855723" y="1320723"/>
                  <a:pt x="855723" y="1265822"/>
                </a:cubicBezTo>
                <a:cubicBezTo>
                  <a:pt x="855723" y="1212778"/>
                  <a:pt x="870929" y="1153698"/>
                  <a:pt x="899696" y="1094253"/>
                </a:cubicBezTo>
                <a:cubicBezTo>
                  <a:pt x="928463" y="1034817"/>
                  <a:pt x="970736" y="975016"/>
                  <a:pt x="1025170" y="920627"/>
                </a:cubicBezTo>
                <a:cubicBezTo>
                  <a:pt x="1079614" y="866184"/>
                  <a:pt x="1139416" y="823911"/>
                  <a:pt x="1198806" y="795144"/>
                </a:cubicBezTo>
                <a:cubicBezTo>
                  <a:pt x="1258242" y="766432"/>
                  <a:pt x="1317266" y="751170"/>
                  <a:pt x="1370366" y="751170"/>
                </a:cubicBezTo>
                <a:cubicBezTo>
                  <a:pt x="1425321" y="751170"/>
                  <a:pt x="1474040" y="767621"/>
                  <a:pt x="1509043" y="802669"/>
                </a:cubicBezTo>
                <a:cubicBezTo>
                  <a:pt x="1518946" y="812572"/>
                  <a:pt x="1527295" y="823600"/>
                  <a:pt x="1534308" y="835515"/>
                </a:cubicBezTo>
                <a:cubicBezTo>
                  <a:pt x="1523427" y="803236"/>
                  <a:pt x="1506209" y="774369"/>
                  <a:pt x="1482233" y="750402"/>
                </a:cubicBezTo>
                <a:cubicBezTo>
                  <a:pt x="1437693" y="705853"/>
                  <a:pt x="1376300" y="684355"/>
                  <a:pt x="1307272" y="684310"/>
                </a:cubicBezTo>
                <a:cubicBezTo>
                  <a:pt x="1194682" y="684310"/>
                  <a:pt x="1062295" y="741999"/>
                  <a:pt x="954442" y="849898"/>
                </a:cubicBezTo>
                <a:cubicBezTo>
                  <a:pt x="846542" y="957743"/>
                  <a:pt x="788807" y="1090184"/>
                  <a:pt x="788853" y="1202719"/>
                </a:cubicBezTo>
                <a:lnTo>
                  <a:pt x="788853" y="1202719"/>
                </a:lnTo>
                <a:moveTo>
                  <a:pt x="910367" y="1099465"/>
                </a:moveTo>
                <a:cubicBezTo>
                  <a:pt x="882222" y="1157612"/>
                  <a:pt x="867574" y="1215046"/>
                  <a:pt x="867574" y="1265877"/>
                </a:cubicBezTo>
                <a:cubicBezTo>
                  <a:pt x="867574" y="1318556"/>
                  <a:pt x="883201" y="1363818"/>
                  <a:pt x="915570" y="1396197"/>
                </a:cubicBezTo>
                <a:cubicBezTo>
                  <a:pt x="942326" y="1422953"/>
                  <a:pt x="977896" y="1438214"/>
                  <a:pt x="1019145" y="1442749"/>
                </a:cubicBezTo>
                <a:cubicBezTo>
                  <a:pt x="1003161" y="1436980"/>
                  <a:pt x="988933" y="1428265"/>
                  <a:pt x="977128" y="1416460"/>
                </a:cubicBezTo>
                <a:cubicBezTo>
                  <a:pt x="953052" y="1392384"/>
                  <a:pt x="941859" y="1358515"/>
                  <a:pt x="941914" y="1319644"/>
                </a:cubicBezTo>
                <a:cubicBezTo>
                  <a:pt x="941914" y="1273860"/>
                  <a:pt x="957176" y="1220815"/>
                  <a:pt x="985321" y="1166015"/>
                </a:cubicBezTo>
                <a:cubicBezTo>
                  <a:pt x="1013521" y="1111215"/>
                  <a:pt x="1054660" y="1054760"/>
                  <a:pt x="1106991" y="1002438"/>
                </a:cubicBezTo>
                <a:cubicBezTo>
                  <a:pt x="1159258" y="950162"/>
                  <a:pt x="1215759" y="908978"/>
                  <a:pt x="1270559" y="880778"/>
                </a:cubicBezTo>
                <a:cubicBezTo>
                  <a:pt x="1325359" y="852623"/>
                  <a:pt x="1378412" y="837371"/>
                  <a:pt x="1424187" y="837371"/>
                </a:cubicBezTo>
                <a:cubicBezTo>
                  <a:pt x="1463058" y="837371"/>
                  <a:pt x="1496928" y="848499"/>
                  <a:pt x="1521004" y="872575"/>
                </a:cubicBezTo>
                <a:cubicBezTo>
                  <a:pt x="1532864" y="884380"/>
                  <a:pt x="1541523" y="898608"/>
                  <a:pt x="1547293" y="914592"/>
                </a:cubicBezTo>
                <a:cubicBezTo>
                  <a:pt x="1542757" y="873353"/>
                  <a:pt x="1527496" y="837782"/>
                  <a:pt x="1500741" y="811027"/>
                </a:cubicBezTo>
                <a:cubicBezTo>
                  <a:pt x="1468371" y="778648"/>
                  <a:pt x="1423108" y="763030"/>
                  <a:pt x="1370420" y="763030"/>
                </a:cubicBezTo>
                <a:cubicBezTo>
                  <a:pt x="1319644" y="763030"/>
                  <a:pt x="1262155" y="777670"/>
                  <a:pt x="1204009" y="805815"/>
                </a:cubicBezTo>
                <a:cubicBezTo>
                  <a:pt x="1145862" y="833915"/>
                  <a:pt x="1087084" y="875465"/>
                  <a:pt x="1033574" y="929030"/>
                </a:cubicBezTo>
                <a:cubicBezTo>
                  <a:pt x="980063" y="982541"/>
                  <a:pt x="938513" y="1041310"/>
                  <a:pt x="910367" y="1099456"/>
                </a:cubicBezTo>
                <a:lnTo>
                  <a:pt x="910367" y="1099465"/>
                </a:lnTo>
                <a:moveTo>
                  <a:pt x="1163437" y="1419551"/>
                </a:moveTo>
                <a:cubicBezTo>
                  <a:pt x="1240969" y="1389138"/>
                  <a:pt x="1318455" y="1339898"/>
                  <a:pt x="1387693" y="1273037"/>
                </a:cubicBezTo>
                <a:cubicBezTo>
                  <a:pt x="1391973" y="1268712"/>
                  <a:pt x="1396197" y="1264323"/>
                  <a:pt x="1400266" y="1259943"/>
                </a:cubicBezTo>
                <a:cubicBezTo>
                  <a:pt x="1401967" y="1258141"/>
                  <a:pt x="1403622" y="1256285"/>
                  <a:pt x="1405268" y="1254475"/>
                </a:cubicBezTo>
                <a:cubicBezTo>
                  <a:pt x="1408414" y="1251073"/>
                  <a:pt x="1411404" y="1247571"/>
                  <a:pt x="1414449" y="1244114"/>
                </a:cubicBezTo>
                <a:cubicBezTo>
                  <a:pt x="1486412" y="1161069"/>
                  <a:pt x="1530642" y="1067141"/>
                  <a:pt x="1544001" y="980219"/>
                </a:cubicBezTo>
                <a:cubicBezTo>
                  <a:pt x="1544202" y="976561"/>
                  <a:pt x="1544303" y="972949"/>
                  <a:pt x="1544303" y="969392"/>
                </a:cubicBezTo>
                <a:cubicBezTo>
                  <a:pt x="1544303" y="932688"/>
                  <a:pt x="1533897" y="902321"/>
                  <a:pt x="1512555" y="880979"/>
                </a:cubicBezTo>
                <a:cubicBezTo>
                  <a:pt x="1491213" y="859637"/>
                  <a:pt x="1460845" y="849276"/>
                  <a:pt x="1424141" y="849222"/>
                </a:cubicBezTo>
                <a:cubicBezTo>
                  <a:pt x="1380991" y="849222"/>
                  <a:pt x="1329492" y="863761"/>
                  <a:pt x="1275926" y="891339"/>
                </a:cubicBezTo>
                <a:cubicBezTo>
                  <a:pt x="1222361" y="918871"/>
                  <a:pt x="1166784" y="959343"/>
                  <a:pt x="1115339" y="1010842"/>
                </a:cubicBezTo>
                <a:cubicBezTo>
                  <a:pt x="1063886" y="1062295"/>
                  <a:pt x="1023369" y="1117863"/>
                  <a:pt x="995836" y="1171429"/>
                </a:cubicBezTo>
                <a:cubicBezTo>
                  <a:pt x="968258" y="1224994"/>
                  <a:pt x="953719" y="1276548"/>
                  <a:pt x="953719" y="1319644"/>
                </a:cubicBezTo>
                <a:cubicBezTo>
                  <a:pt x="953719" y="1356348"/>
                  <a:pt x="964134" y="1386715"/>
                  <a:pt x="985476" y="1408057"/>
                </a:cubicBezTo>
                <a:cubicBezTo>
                  <a:pt x="1006818" y="1429399"/>
                  <a:pt x="1037186" y="1439759"/>
                  <a:pt x="1073890" y="1439814"/>
                </a:cubicBezTo>
                <a:cubicBezTo>
                  <a:pt x="1077447" y="1439814"/>
                  <a:pt x="1081059" y="1439659"/>
                  <a:pt x="1084716" y="1439503"/>
                </a:cubicBezTo>
                <a:cubicBezTo>
                  <a:pt x="1110493" y="1435535"/>
                  <a:pt x="1136892" y="1428878"/>
                  <a:pt x="1163437" y="1419551"/>
                </a:cubicBezTo>
                <a:lnTo>
                  <a:pt x="1163437" y="1419551"/>
                </a:lnTo>
                <a:moveTo>
                  <a:pt x="793087" y="656887"/>
                </a:moveTo>
                <a:cubicBezTo>
                  <a:pt x="793809" y="656164"/>
                  <a:pt x="794531" y="655488"/>
                  <a:pt x="795245" y="654765"/>
                </a:cubicBezTo>
                <a:lnTo>
                  <a:pt x="784162" y="654765"/>
                </a:lnTo>
                <a:lnTo>
                  <a:pt x="749570" y="660489"/>
                </a:lnTo>
                <a:cubicBezTo>
                  <a:pt x="703896" y="668015"/>
                  <a:pt x="668070" y="703850"/>
                  <a:pt x="660489" y="749570"/>
                </a:cubicBezTo>
                <a:lnTo>
                  <a:pt x="654765" y="784162"/>
                </a:lnTo>
                <a:lnTo>
                  <a:pt x="654765" y="835826"/>
                </a:lnTo>
                <a:cubicBezTo>
                  <a:pt x="691058" y="773290"/>
                  <a:pt x="737308" y="712665"/>
                  <a:pt x="793087" y="656887"/>
                </a:cubicBezTo>
                <a:lnTo>
                  <a:pt x="793087" y="656887"/>
                </a:lnTo>
                <a:moveTo>
                  <a:pt x="1504819" y="241109"/>
                </a:moveTo>
                <a:cubicBezTo>
                  <a:pt x="1478832" y="241164"/>
                  <a:pt x="1452488" y="242554"/>
                  <a:pt x="1425888" y="245077"/>
                </a:cubicBezTo>
                <a:cubicBezTo>
                  <a:pt x="1432024" y="244922"/>
                  <a:pt x="1438214" y="244767"/>
                  <a:pt x="1444295" y="244767"/>
                </a:cubicBezTo>
                <a:cubicBezTo>
                  <a:pt x="1585597" y="244767"/>
                  <a:pt x="1712781" y="288850"/>
                  <a:pt x="1805108" y="381177"/>
                </a:cubicBezTo>
                <a:cubicBezTo>
                  <a:pt x="1897444" y="473513"/>
                  <a:pt x="1941518" y="600688"/>
                  <a:pt x="1941518" y="741999"/>
                </a:cubicBezTo>
                <a:cubicBezTo>
                  <a:pt x="1941472" y="976040"/>
                  <a:pt x="1821037" y="1249272"/>
                  <a:pt x="1598024" y="1472339"/>
                </a:cubicBezTo>
                <a:cubicBezTo>
                  <a:pt x="1374956" y="1695352"/>
                  <a:pt x="1101678" y="1815779"/>
                  <a:pt x="867683" y="1815834"/>
                </a:cubicBezTo>
                <a:cubicBezTo>
                  <a:pt x="726372" y="1815834"/>
                  <a:pt x="599197" y="1771760"/>
                  <a:pt x="506861" y="1679424"/>
                </a:cubicBezTo>
                <a:cubicBezTo>
                  <a:pt x="414534" y="1587097"/>
                  <a:pt x="370460" y="1459913"/>
                  <a:pt x="370460" y="1318611"/>
                </a:cubicBezTo>
                <a:cubicBezTo>
                  <a:pt x="370460" y="1242103"/>
                  <a:pt x="383444" y="1161425"/>
                  <a:pt x="408554" y="1079714"/>
                </a:cubicBezTo>
                <a:cubicBezTo>
                  <a:pt x="394792" y="1118586"/>
                  <a:pt x="383344" y="1157457"/>
                  <a:pt x="374474" y="1196117"/>
                </a:cubicBezTo>
                <a:cubicBezTo>
                  <a:pt x="374218" y="1197361"/>
                  <a:pt x="373907" y="1198596"/>
                  <a:pt x="373651" y="1199830"/>
                </a:cubicBezTo>
                <a:cubicBezTo>
                  <a:pt x="372572" y="1204521"/>
                  <a:pt x="371594" y="1209267"/>
                  <a:pt x="370615" y="1213957"/>
                </a:cubicBezTo>
                <a:cubicBezTo>
                  <a:pt x="359167" y="1270358"/>
                  <a:pt x="353288" y="1325779"/>
                  <a:pt x="353288" y="1379336"/>
                </a:cubicBezTo>
                <a:cubicBezTo>
                  <a:pt x="353288" y="1534665"/>
                  <a:pt x="402062" y="1673965"/>
                  <a:pt x="503304" y="1775262"/>
                </a:cubicBezTo>
                <a:cubicBezTo>
                  <a:pt x="604610" y="1876513"/>
                  <a:pt x="743855" y="1925278"/>
                  <a:pt x="899230" y="1925278"/>
                </a:cubicBezTo>
                <a:cubicBezTo>
                  <a:pt x="1148797" y="1925278"/>
                  <a:pt x="1439293" y="1799027"/>
                  <a:pt x="1675355" y="1562920"/>
                </a:cubicBezTo>
                <a:cubicBezTo>
                  <a:pt x="1911462" y="1326858"/>
                  <a:pt x="2037768" y="1036363"/>
                  <a:pt x="2037713" y="786795"/>
                </a:cubicBezTo>
                <a:cubicBezTo>
                  <a:pt x="2037713" y="631466"/>
                  <a:pt x="1988948" y="492176"/>
                  <a:pt x="1887697" y="390869"/>
                </a:cubicBezTo>
                <a:cubicBezTo>
                  <a:pt x="1789289" y="292462"/>
                  <a:pt x="1654890" y="243788"/>
                  <a:pt x="1504764" y="241109"/>
                </a:cubicBezTo>
                <a:lnTo>
                  <a:pt x="1504819" y="241109"/>
                </a:lnTo>
                <a:moveTo>
                  <a:pt x="1896100" y="382576"/>
                </a:moveTo>
                <a:cubicBezTo>
                  <a:pt x="1999930" y="486397"/>
                  <a:pt x="2049628" y="629098"/>
                  <a:pt x="2049628" y="786850"/>
                </a:cubicBezTo>
                <a:cubicBezTo>
                  <a:pt x="2049628" y="1040377"/>
                  <a:pt x="1921776" y="1333305"/>
                  <a:pt x="1683758" y="1571323"/>
                </a:cubicBezTo>
                <a:cubicBezTo>
                  <a:pt x="1445740" y="1809287"/>
                  <a:pt x="1152766" y="1937138"/>
                  <a:pt x="899285" y="1937193"/>
                </a:cubicBezTo>
                <a:cubicBezTo>
                  <a:pt x="741533" y="1937193"/>
                  <a:pt x="598831" y="1887541"/>
                  <a:pt x="495010" y="1783665"/>
                </a:cubicBezTo>
                <a:cubicBezTo>
                  <a:pt x="444792" y="1733456"/>
                  <a:pt x="407365" y="1674120"/>
                  <a:pt x="381954" y="1608384"/>
                </a:cubicBezTo>
                <a:cubicBezTo>
                  <a:pt x="409432" y="1695974"/>
                  <a:pt x="455362" y="1774750"/>
                  <a:pt x="520476" y="1839910"/>
                </a:cubicBezTo>
                <a:cubicBezTo>
                  <a:pt x="634813" y="1954256"/>
                  <a:pt x="791230" y="2009467"/>
                  <a:pt x="963467" y="2009522"/>
                </a:cubicBezTo>
                <a:cubicBezTo>
                  <a:pt x="1223028" y="2009522"/>
                  <a:pt x="1518169" y="1883728"/>
                  <a:pt x="1755831" y="1646075"/>
                </a:cubicBezTo>
                <a:cubicBezTo>
                  <a:pt x="1993538" y="1408414"/>
                  <a:pt x="2119378" y="1113273"/>
                  <a:pt x="2119323" y="853711"/>
                </a:cubicBezTo>
                <a:cubicBezTo>
                  <a:pt x="2119323" y="681475"/>
                  <a:pt x="2064057" y="525067"/>
                  <a:pt x="1949711" y="410721"/>
                </a:cubicBezTo>
                <a:cubicBezTo>
                  <a:pt x="1896776" y="357777"/>
                  <a:pt x="1834753" y="317516"/>
                  <a:pt x="1766346" y="289517"/>
                </a:cubicBezTo>
                <a:cubicBezTo>
                  <a:pt x="1814078" y="313337"/>
                  <a:pt x="1857750" y="344217"/>
                  <a:pt x="1896100" y="382576"/>
                </a:cubicBezTo>
                <a:lnTo>
                  <a:pt x="1896100" y="382576"/>
                </a:lnTo>
                <a:moveTo>
                  <a:pt x="524445" y="1891363"/>
                </a:moveTo>
                <a:cubicBezTo>
                  <a:pt x="646883" y="2013792"/>
                  <a:pt x="813907" y="2072981"/>
                  <a:pt x="996815" y="2073027"/>
                </a:cubicBezTo>
                <a:cubicBezTo>
                  <a:pt x="1265200" y="2073027"/>
                  <a:pt x="1567455" y="1945231"/>
                  <a:pt x="1809908" y="1702777"/>
                </a:cubicBezTo>
                <a:cubicBezTo>
                  <a:pt x="2052407" y="1460324"/>
                  <a:pt x="2180204" y="1158078"/>
                  <a:pt x="2180158" y="889693"/>
                </a:cubicBezTo>
                <a:cubicBezTo>
                  <a:pt x="2180158" y="706785"/>
                  <a:pt x="2120923" y="539752"/>
                  <a:pt x="1998485" y="417314"/>
                </a:cubicBezTo>
                <a:cubicBezTo>
                  <a:pt x="1918942" y="337825"/>
                  <a:pt x="1820625" y="284982"/>
                  <a:pt x="1711336" y="257714"/>
                </a:cubicBezTo>
                <a:cubicBezTo>
                  <a:pt x="1804751" y="285293"/>
                  <a:pt x="1888940" y="333180"/>
                  <a:pt x="1958069" y="402363"/>
                </a:cubicBezTo>
                <a:cubicBezTo>
                  <a:pt x="2074993" y="519233"/>
                  <a:pt x="2131128" y="678997"/>
                  <a:pt x="2131128" y="853711"/>
                </a:cubicBezTo>
                <a:cubicBezTo>
                  <a:pt x="2131128" y="1117095"/>
                  <a:pt x="2003798" y="1414760"/>
                  <a:pt x="1764179" y="1654424"/>
                </a:cubicBezTo>
                <a:cubicBezTo>
                  <a:pt x="1524515" y="1894042"/>
                  <a:pt x="1226850" y="2021327"/>
                  <a:pt x="963467" y="2021373"/>
                </a:cubicBezTo>
                <a:cubicBezTo>
                  <a:pt x="788752" y="2021373"/>
                  <a:pt x="628988" y="1965238"/>
                  <a:pt x="512119" y="1848313"/>
                </a:cubicBezTo>
                <a:cubicBezTo>
                  <a:pt x="424839" y="1761034"/>
                  <a:pt x="371384" y="1649788"/>
                  <a:pt x="349941" y="1526316"/>
                </a:cubicBezTo>
                <a:cubicBezTo>
                  <a:pt x="368960" y="1666741"/>
                  <a:pt x="426440" y="1793358"/>
                  <a:pt x="524445" y="1891409"/>
                </a:cubicBezTo>
                <a:lnTo>
                  <a:pt x="524445" y="1891363"/>
                </a:lnTo>
              </a:path>
            </a:pathLst>
          </a:custGeom>
          <a:solidFill>
            <a:srgbClr val="FF8F43"/>
          </a:solidFill>
          <a:ln/>
        </p:spPr>
      </p:sp>
      <p:sp>
        <p:nvSpPr>
          <p:cNvPr id="4" name="Shape 2"/>
          <p:cNvSpPr/>
          <p:nvPr/>
        </p:nvSpPr>
        <p:spPr>
          <a:xfrm>
            <a:off x="10896941" y="6472260"/>
            <a:ext cx="218478" cy="218478"/>
          </a:xfrm>
          <a:custGeom>
            <a:avLst/>
            <a:gdLst/>
            <a:ahLst/>
            <a:cxnLst/>
            <a:rect l="l" t="t" r="r" b="b"/>
            <a:pathLst>
              <a:path w="218478" h="218478">
                <a:moveTo>
                  <a:pt x="44952" y="116659"/>
                </a:moveTo>
                <a:lnTo>
                  <a:pt x="0" y="109243"/>
                </a:lnTo>
                <a:lnTo>
                  <a:pt x="44952" y="101818"/>
                </a:lnTo>
                <a:cubicBezTo>
                  <a:pt x="74130" y="97018"/>
                  <a:pt x="97018" y="74130"/>
                  <a:pt x="101818" y="44952"/>
                </a:cubicBezTo>
                <a:lnTo>
                  <a:pt x="109243" y="0"/>
                </a:lnTo>
                <a:lnTo>
                  <a:pt x="116659" y="44952"/>
                </a:lnTo>
                <a:cubicBezTo>
                  <a:pt x="121460" y="74130"/>
                  <a:pt x="144347" y="97018"/>
                  <a:pt x="173526" y="101818"/>
                </a:cubicBezTo>
                <a:lnTo>
                  <a:pt x="218478" y="109243"/>
                </a:lnTo>
                <a:lnTo>
                  <a:pt x="173526" y="116659"/>
                </a:lnTo>
                <a:cubicBezTo>
                  <a:pt x="144347" y="121460"/>
                  <a:pt x="121460" y="144347"/>
                  <a:pt x="116659" y="173526"/>
                </a:cubicBezTo>
                <a:lnTo>
                  <a:pt x="109243" y="218478"/>
                </a:lnTo>
                <a:lnTo>
                  <a:pt x="101818" y="173526"/>
                </a:lnTo>
                <a:cubicBezTo>
                  <a:pt x="97018" y="144347"/>
                  <a:pt x="74130" y="121460"/>
                  <a:pt x="44952" y="116659"/>
                </a:cubicBezTo>
              </a:path>
            </a:pathLst>
          </a:custGeom>
          <a:solidFill>
            <a:srgbClr val="FF8F43"/>
          </a:solidFill>
          <a:ln/>
        </p:spPr>
      </p:sp>
      <p:sp>
        <p:nvSpPr>
          <p:cNvPr id="5" name="Shape 3"/>
          <p:cNvSpPr/>
          <p:nvPr/>
        </p:nvSpPr>
        <p:spPr>
          <a:xfrm>
            <a:off x="12019139" y="5695414"/>
            <a:ext cx="188686" cy="188686"/>
          </a:xfrm>
          <a:custGeom>
            <a:avLst/>
            <a:gdLst/>
            <a:ahLst/>
            <a:cxnLst/>
            <a:rect l="l" t="t" r="r" b="b"/>
            <a:pathLst>
              <a:path w="188686" h="188686">
                <a:moveTo>
                  <a:pt x="87947" y="38816"/>
                </a:moveTo>
                <a:lnTo>
                  <a:pt x="94339" y="0"/>
                </a:lnTo>
                <a:lnTo>
                  <a:pt x="100730" y="38816"/>
                </a:lnTo>
                <a:cubicBezTo>
                  <a:pt x="104909" y="64026"/>
                  <a:pt x="124651" y="83768"/>
                  <a:pt x="149861" y="87947"/>
                </a:cubicBezTo>
                <a:lnTo>
                  <a:pt x="188686" y="94339"/>
                </a:lnTo>
                <a:lnTo>
                  <a:pt x="149861" y="100730"/>
                </a:lnTo>
                <a:cubicBezTo>
                  <a:pt x="124651" y="104909"/>
                  <a:pt x="104909" y="124651"/>
                  <a:pt x="100730" y="149861"/>
                </a:cubicBezTo>
                <a:lnTo>
                  <a:pt x="94339" y="188686"/>
                </a:lnTo>
                <a:lnTo>
                  <a:pt x="87947" y="149861"/>
                </a:lnTo>
                <a:cubicBezTo>
                  <a:pt x="83768" y="124651"/>
                  <a:pt x="64026" y="104909"/>
                  <a:pt x="38816" y="100730"/>
                </a:cubicBezTo>
                <a:lnTo>
                  <a:pt x="0" y="94339"/>
                </a:lnTo>
                <a:lnTo>
                  <a:pt x="38816" y="87947"/>
                </a:lnTo>
                <a:cubicBezTo>
                  <a:pt x="64026" y="83768"/>
                  <a:pt x="83768" y="64026"/>
                  <a:pt x="87947" y="38816"/>
                </a:cubicBezTo>
                <a:lnTo>
                  <a:pt x="87947" y="38816"/>
                </a:lnTo>
              </a:path>
            </a:pathLst>
          </a:custGeom>
          <a:solidFill>
            <a:srgbClr val="FF8F43"/>
          </a:solidFill>
          <a:ln/>
        </p:spPr>
      </p:sp>
      <p:sp>
        <p:nvSpPr>
          <p:cNvPr id="6" name="Shape 4"/>
          <p:cNvSpPr/>
          <p:nvPr/>
        </p:nvSpPr>
        <p:spPr>
          <a:xfrm>
            <a:off x="11079593" y="6036951"/>
            <a:ext cx="130220" cy="130220"/>
          </a:xfrm>
          <a:custGeom>
            <a:avLst/>
            <a:gdLst/>
            <a:ahLst/>
            <a:cxnLst/>
            <a:rect l="l" t="t" r="r" b="b"/>
            <a:pathLst>
              <a:path w="130220" h="130220">
                <a:moveTo>
                  <a:pt x="60680" y="26810"/>
                </a:moveTo>
                <a:lnTo>
                  <a:pt x="65114" y="0"/>
                </a:lnTo>
                <a:lnTo>
                  <a:pt x="69540" y="26810"/>
                </a:lnTo>
                <a:cubicBezTo>
                  <a:pt x="72430" y="44184"/>
                  <a:pt x="86045" y="57845"/>
                  <a:pt x="103409" y="60680"/>
                </a:cubicBezTo>
                <a:lnTo>
                  <a:pt x="130220" y="65114"/>
                </a:lnTo>
                <a:lnTo>
                  <a:pt x="103409" y="69540"/>
                </a:lnTo>
                <a:cubicBezTo>
                  <a:pt x="86045" y="72430"/>
                  <a:pt x="72384" y="86045"/>
                  <a:pt x="69540" y="103419"/>
                </a:cubicBezTo>
                <a:lnTo>
                  <a:pt x="65114" y="130220"/>
                </a:lnTo>
                <a:lnTo>
                  <a:pt x="60680" y="103419"/>
                </a:lnTo>
                <a:cubicBezTo>
                  <a:pt x="57790" y="86045"/>
                  <a:pt x="44184" y="72384"/>
                  <a:pt x="26810" y="69540"/>
                </a:cubicBezTo>
                <a:lnTo>
                  <a:pt x="0" y="65114"/>
                </a:lnTo>
                <a:lnTo>
                  <a:pt x="26810" y="60680"/>
                </a:lnTo>
                <a:cubicBezTo>
                  <a:pt x="44184" y="57790"/>
                  <a:pt x="57845" y="44184"/>
                  <a:pt x="60680" y="26810"/>
                </a:cubicBezTo>
              </a:path>
            </a:pathLst>
          </a:custGeom>
          <a:solidFill>
            <a:srgbClr val="FF8F43"/>
          </a:solidFill>
          <a:ln/>
        </p:spPr>
      </p:sp>
      <p:sp>
        <p:nvSpPr>
          <p:cNvPr id="7" name="Shape 5"/>
          <p:cNvSpPr/>
          <p:nvPr/>
        </p:nvSpPr>
        <p:spPr>
          <a:xfrm>
            <a:off x="1013100" y="5689479"/>
            <a:ext cx="831647" cy="123087"/>
          </a:xfrm>
          <a:custGeom>
            <a:avLst/>
            <a:gdLst/>
            <a:ahLst/>
            <a:cxnLst/>
            <a:rect l="l" t="t" r="r" b="b"/>
            <a:pathLst>
              <a:path w="831647" h="123087">
                <a:moveTo>
                  <a:pt x="829608" y="45656"/>
                </a:moveTo>
                <a:cubicBezTo>
                  <a:pt x="827578" y="41843"/>
                  <a:pt x="822832" y="40407"/>
                  <a:pt x="819019" y="42437"/>
                </a:cubicBezTo>
                <a:cubicBezTo>
                  <a:pt x="811457" y="46479"/>
                  <a:pt x="803986" y="50667"/>
                  <a:pt x="796762" y="54718"/>
                </a:cubicBezTo>
                <a:cubicBezTo>
                  <a:pt x="748345" y="81821"/>
                  <a:pt x="702607" y="107433"/>
                  <a:pt x="608725" y="107433"/>
                </a:cubicBezTo>
                <a:cubicBezTo>
                  <a:pt x="514835" y="107433"/>
                  <a:pt x="469087" y="81821"/>
                  <a:pt x="420670" y="54718"/>
                </a:cubicBezTo>
                <a:cubicBezTo>
                  <a:pt x="372636" y="27816"/>
                  <a:pt x="322957" y="0"/>
                  <a:pt x="224979" y="0"/>
                </a:cubicBezTo>
                <a:cubicBezTo>
                  <a:pt x="127001" y="0"/>
                  <a:pt x="77331" y="27816"/>
                  <a:pt x="29288" y="54718"/>
                </a:cubicBezTo>
                <a:cubicBezTo>
                  <a:pt x="21479" y="59089"/>
                  <a:pt x="13396" y="63606"/>
                  <a:pt x="5276" y="67912"/>
                </a:cubicBezTo>
                <a:cubicBezTo>
                  <a:pt x="1454" y="69933"/>
                  <a:pt x="0" y="74670"/>
                  <a:pt x="2021" y="78492"/>
                </a:cubicBezTo>
                <a:cubicBezTo>
                  <a:pt x="4051" y="82314"/>
                  <a:pt x="8787" y="83777"/>
                  <a:pt x="12610" y="81747"/>
                </a:cubicBezTo>
                <a:cubicBezTo>
                  <a:pt x="20894" y="77358"/>
                  <a:pt x="29050" y="72795"/>
                  <a:pt x="36933" y="68379"/>
                </a:cubicBezTo>
                <a:cubicBezTo>
                  <a:pt x="85359" y="41258"/>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76" y="64374"/>
                  <a:pt x="818973" y="60213"/>
                  <a:pt x="826398" y="56254"/>
                </a:cubicBezTo>
                <a:cubicBezTo>
                  <a:pt x="830211" y="54215"/>
                  <a:pt x="831647" y="49478"/>
                  <a:pt x="829608" y="45656"/>
                </a:cubicBezTo>
              </a:path>
            </a:pathLst>
          </a:custGeom>
          <a:solidFill>
            <a:srgbClr val="2B0000"/>
          </a:solidFill>
          <a:ln/>
        </p:spPr>
      </p:sp>
      <p:sp>
        <p:nvSpPr>
          <p:cNvPr id="8" name="Shape 6"/>
          <p:cNvSpPr/>
          <p:nvPr/>
        </p:nvSpPr>
        <p:spPr>
          <a:xfrm>
            <a:off x="1013100" y="5849874"/>
            <a:ext cx="831647" cy="123087"/>
          </a:xfrm>
          <a:custGeom>
            <a:avLst/>
            <a:gdLst/>
            <a:ahLst/>
            <a:cxnLst/>
            <a:rect l="l" t="t" r="r" b="b"/>
            <a:pathLst>
              <a:path w="831647" h="123087">
                <a:moveTo>
                  <a:pt x="829608" y="45656"/>
                </a:moveTo>
                <a:cubicBezTo>
                  <a:pt x="827578" y="41843"/>
                  <a:pt x="822832" y="40398"/>
                  <a:pt x="819019" y="42437"/>
                </a:cubicBezTo>
                <a:cubicBezTo>
                  <a:pt x="811457" y="46479"/>
                  <a:pt x="803986" y="50658"/>
                  <a:pt x="796762" y="54709"/>
                </a:cubicBezTo>
                <a:cubicBezTo>
                  <a:pt x="748345" y="81821"/>
                  <a:pt x="702607" y="107424"/>
                  <a:pt x="608725" y="107424"/>
                </a:cubicBezTo>
                <a:cubicBezTo>
                  <a:pt x="514835" y="107424"/>
                  <a:pt x="469087" y="81821"/>
                  <a:pt x="420670" y="54709"/>
                </a:cubicBezTo>
                <a:cubicBezTo>
                  <a:pt x="372636" y="27807"/>
                  <a:pt x="322957" y="0"/>
                  <a:pt x="224979" y="0"/>
                </a:cubicBezTo>
                <a:cubicBezTo>
                  <a:pt x="127001" y="0"/>
                  <a:pt x="77322" y="27807"/>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67"/>
                  <a:pt x="413025" y="68379"/>
                </a:cubicBezTo>
                <a:cubicBezTo>
                  <a:pt x="461068" y="95271"/>
                  <a:pt x="510738" y="123087"/>
                  <a:pt x="608725" y="123087"/>
                </a:cubicBezTo>
                <a:cubicBezTo>
                  <a:pt x="706694" y="123087"/>
                  <a:pt x="756364" y="95271"/>
                  <a:pt x="804407" y="68379"/>
                </a:cubicBezTo>
                <a:cubicBezTo>
                  <a:pt x="811576" y="64365"/>
                  <a:pt x="818973" y="60213"/>
                  <a:pt x="826398" y="56254"/>
                </a:cubicBezTo>
                <a:cubicBezTo>
                  <a:pt x="830211" y="54206"/>
                  <a:pt x="831647" y="49469"/>
                  <a:pt x="829608" y="45656"/>
                </a:cubicBezTo>
              </a:path>
            </a:pathLst>
          </a:custGeom>
          <a:solidFill>
            <a:srgbClr val="2B0000"/>
          </a:solidFill>
          <a:ln/>
        </p:spPr>
      </p:sp>
      <p:sp>
        <p:nvSpPr>
          <p:cNvPr id="9" name="Shape 7"/>
          <p:cNvSpPr/>
          <p:nvPr/>
        </p:nvSpPr>
        <p:spPr>
          <a:xfrm>
            <a:off x="1013100" y="6010260"/>
            <a:ext cx="831647" cy="123087"/>
          </a:xfrm>
          <a:custGeom>
            <a:avLst/>
            <a:gdLst/>
            <a:ahLst/>
            <a:cxnLst/>
            <a:rect l="l" t="t" r="r" b="b"/>
            <a:pathLst>
              <a:path w="831647" h="123087">
                <a:moveTo>
                  <a:pt x="829608" y="45656"/>
                </a:moveTo>
                <a:cubicBezTo>
                  <a:pt x="827578" y="41843"/>
                  <a:pt x="822832" y="40407"/>
                  <a:pt x="819019" y="42446"/>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18"/>
                </a:cubicBezTo>
                <a:cubicBezTo>
                  <a:pt x="21470" y="59089"/>
                  <a:pt x="13396" y="63606"/>
                  <a:pt x="5276" y="67912"/>
                </a:cubicBezTo>
                <a:cubicBezTo>
                  <a:pt x="1454" y="69933"/>
                  <a:pt x="0" y="74670"/>
                  <a:pt x="2021" y="78501"/>
                </a:cubicBezTo>
                <a:cubicBezTo>
                  <a:pt x="4051" y="82314"/>
                  <a:pt x="8787" y="83777"/>
                  <a:pt x="12610" y="81747"/>
                </a:cubicBezTo>
                <a:cubicBezTo>
                  <a:pt x="20894" y="77358"/>
                  <a:pt x="29041" y="72795"/>
                  <a:pt x="36933" y="68379"/>
                </a:cubicBezTo>
                <a:cubicBezTo>
                  <a:pt x="85350" y="41267"/>
                  <a:pt x="131088" y="15664"/>
                  <a:pt x="224979" y="15664"/>
                </a:cubicBezTo>
                <a:cubicBezTo>
                  <a:pt x="318870" y="15664"/>
                  <a:pt x="364608" y="41267"/>
                  <a:pt x="413025" y="68370"/>
                </a:cubicBezTo>
                <a:cubicBezTo>
                  <a:pt x="461068" y="95271"/>
                  <a:pt x="510738" y="123087"/>
                  <a:pt x="608725" y="123087"/>
                </a:cubicBezTo>
                <a:cubicBezTo>
                  <a:pt x="706694" y="123087"/>
                  <a:pt x="756364" y="95271"/>
                  <a:pt x="804407" y="68370"/>
                </a:cubicBezTo>
                <a:cubicBezTo>
                  <a:pt x="811567" y="64365"/>
                  <a:pt x="818973" y="60222"/>
                  <a:pt x="826398" y="56254"/>
                </a:cubicBezTo>
                <a:cubicBezTo>
                  <a:pt x="830211" y="54215"/>
                  <a:pt x="831647" y="49469"/>
                  <a:pt x="829608" y="45656"/>
                </a:cubicBezTo>
              </a:path>
            </a:pathLst>
          </a:custGeom>
          <a:solidFill>
            <a:srgbClr val="2B0000"/>
          </a:solidFill>
          <a:ln/>
        </p:spPr>
      </p:sp>
      <p:sp>
        <p:nvSpPr>
          <p:cNvPr id="10" name="Shape 8"/>
          <p:cNvSpPr/>
          <p:nvPr/>
        </p:nvSpPr>
        <p:spPr>
          <a:xfrm>
            <a:off x="1013100" y="6170655"/>
            <a:ext cx="831647" cy="123087"/>
          </a:xfrm>
          <a:custGeom>
            <a:avLst/>
            <a:gdLst/>
            <a:ahLst/>
            <a:cxnLst/>
            <a:rect l="l" t="t" r="r" b="b"/>
            <a:pathLst>
              <a:path w="831647" h="123087">
                <a:moveTo>
                  <a:pt x="826398" y="56254"/>
                </a:moveTo>
                <a:cubicBezTo>
                  <a:pt x="830211" y="54215"/>
                  <a:pt x="831647" y="49469"/>
                  <a:pt x="829608" y="45656"/>
                </a:cubicBezTo>
                <a:cubicBezTo>
                  <a:pt x="827578" y="41843"/>
                  <a:pt x="822832" y="40398"/>
                  <a:pt x="819019" y="42437"/>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67" y="64365"/>
                  <a:pt x="818973" y="60213"/>
                  <a:pt x="826398" y="56254"/>
                </a:cubicBezTo>
              </a:path>
            </a:pathLst>
          </a:custGeom>
          <a:solidFill>
            <a:srgbClr val="2B0000"/>
          </a:solidFill>
          <a:ln/>
        </p:spPr>
      </p:sp>
      <p:sp>
        <p:nvSpPr>
          <p:cNvPr id="11" name="Shape 9"/>
          <p:cNvSpPr/>
          <p:nvPr/>
        </p:nvSpPr>
        <p:spPr>
          <a:xfrm>
            <a:off x="925611" y="2878211"/>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pic>
        <p:nvPicPr>
          <p:cNvPr id="12" name="Image 0" descr="D:\Projects\20. fintechthon\deck\out\template_assets\p6_x52.png">    </p:cNvPr>
          <p:cNvPicPr>
            <a:picLocks noChangeAspect="1"/>
          </p:cNvPicPr>
          <p:nvPr/>
        </p:nvPicPr>
        <p:blipFill>
          <a:blip r:embed="rId1"/>
          <a:stretch>
            <a:fillRect/>
          </a:stretch>
        </p:blipFill>
        <p:spPr>
          <a:xfrm>
            <a:off x="544734" y="278171"/>
            <a:ext cx="901700" cy="901700"/>
          </a:xfrm>
          <a:prstGeom prst="rect">
            <a:avLst/>
          </a:prstGeom>
        </p:spPr>
      </p:pic>
      <p:sp>
        <p:nvSpPr>
          <p:cNvPr id="13" name="Text 10"/>
          <p:cNvSpPr txBox="1"/>
          <p:nvPr/>
        </p:nvSpPr>
        <p:spPr>
          <a:xfrm>
            <a:off x="2336347" y="389232"/>
            <a:ext cx="7519219" cy="875744"/>
          </a:xfrm>
          <a:prstGeom prst="rect">
            <a:avLst/>
          </a:prstGeom>
          <a:noFill/>
          <a:ln/>
        </p:spPr>
        <p:txBody>
          <a:bodyPr wrap="none" lIns="0" tIns="0" rIns="0" bIns="0" rtlCol="0" anchor="t"/>
          <a:lstStyle/>
          <a:p>
            <a:pPr algn="ctr" indent="0" marL="0">
              <a:buNone/>
            </a:pPr>
            <a:r>
              <a:rPr lang="en-US" sz="6968" b="1" spc="-376" kern="0" dirty="0">
                <a:solidFill>
                  <a:srgbClr val="000000"/>
                </a:solidFill>
                <a:latin typeface="League Spartan" pitchFamily="34" charset="0"/>
                <a:ea typeface="League Spartan" pitchFamily="34" charset="-122"/>
                <a:cs typeface="League Spartan" pitchFamily="34" charset="-120"/>
              </a:rPr>
              <a:t>Technology Used</a:t>
            </a:r>
            <a:endParaRPr lang="en-US" sz="6968" dirty="0"/>
          </a:p>
        </p:txBody>
      </p:sp>
      <p:sp>
        <p:nvSpPr>
          <p:cNvPr id="14" name="Shape 11"/>
          <p:cNvSpPr/>
          <p:nvPr/>
        </p:nvSpPr>
        <p:spPr>
          <a:xfrm>
            <a:off x="888980" y="1663659"/>
            <a:ext cx="6349959" cy="3810030"/>
          </a:xfrm>
          <a:prstGeom prst="roundRect">
            <a:avLst>
              <a:gd name="adj" fmla="val 3000"/>
            </a:avLst>
          </a:prstGeom>
          <a:solidFill>
            <a:srgbClr val="FFF7EC"/>
          </a:solidFill>
          <a:ln w="6350">
            <a:solidFill>
              <a:srgbClr val="24110C">
                <a:alpha val="13000"/>
              </a:srgbClr>
            </a:solidFill>
            <a:prstDash val="solid"/>
          </a:ln>
        </p:spPr>
      </p:sp>
      <p:sp>
        <p:nvSpPr>
          <p:cNvPr id="15" name="Shape 12"/>
          <p:cNvSpPr/>
          <p:nvPr/>
        </p:nvSpPr>
        <p:spPr>
          <a:xfrm>
            <a:off x="1060430" y="1708191"/>
            <a:ext cx="6007059" cy="745419"/>
          </a:xfrm>
          <a:prstGeom prst="rect">
            <a:avLst/>
          </a:prstGeom>
          <a:ln/>
        </p:spPr>
      </p:sp>
      <p:sp>
        <p:nvSpPr>
          <p:cNvPr id="16" name="Shape 13"/>
          <p:cNvSpPr/>
          <p:nvPr/>
        </p:nvSpPr>
        <p:spPr>
          <a:xfrm>
            <a:off x="1060430" y="2450409"/>
            <a:ext cx="6007059" cy="0"/>
          </a:xfrm>
          <a:prstGeom prst="line">
            <a:avLst/>
          </a:prstGeom>
          <a:noFill/>
          <a:ln w="6350">
            <a:solidFill>
              <a:srgbClr val="24110C">
                <a:alpha val="13000"/>
              </a:srgbClr>
            </a:solidFill>
            <a:prstDash val="solid"/>
          </a:ln>
        </p:spPr>
      </p:sp>
      <p:sp>
        <p:nvSpPr>
          <p:cNvPr id="17" name="Text 14"/>
          <p:cNvSpPr txBox="1"/>
          <p:nvPr/>
        </p:nvSpPr>
        <p:spPr>
          <a:xfrm>
            <a:off x="1060430" y="1934779"/>
            <a:ext cx="1502725" cy="114300"/>
          </a:xfrm>
          <a:prstGeom prst="rect">
            <a:avLst/>
          </a:prstGeom>
          <a:noFill/>
          <a:ln/>
        </p:spPr>
        <p:txBody>
          <a:bodyPr wrap="none" lIns="0" tIns="0" rIns="0" bIns="0" rtlCol="0" anchor="t"/>
          <a:lstStyle/>
          <a:p>
            <a:pPr algn="l" indent="0" marL="0">
              <a:buNone/>
            </a:pPr>
            <a:r>
              <a:rPr lang="en-US" sz="1000" b="1" dirty="0">
                <a:solidFill>
                  <a:srgbClr val="24110C"/>
                </a:solidFill>
                <a:latin typeface="League Spartan" pitchFamily="34" charset="0"/>
                <a:ea typeface="League Spartan" pitchFamily="34" charset="-122"/>
                <a:cs typeface="League Spartan" pitchFamily="34" charset="-120"/>
              </a:rPr>
              <a:t>Website and dashboard</a:t>
            </a:r>
            <a:endParaRPr lang="en-US" sz="1000" dirty="0"/>
          </a:p>
        </p:txBody>
      </p:sp>
      <p:sp>
        <p:nvSpPr>
          <p:cNvPr id="18" name="Text 15"/>
          <p:cNvSpPr txBox="1"/>
          <p:nvPr/>
        </p:nvSpPr>
        <p:spPr>
          <a:xfrm>
            <a:off x="1060430" y="2087209"/>
            <a:ext cx="738469" cy="107991"/>
          </a:xfrm>
          <a:prstGeom prst="rect">
            <a:avLst/>
          </a:prstGeom>
          <a:noFill/>
          <a:ln/>
        </p:spPr>
        <p:txBody>
          <a:bodyPr wrap="none" lIns="0" tIns="0" rIns="0" bIns="0" rtlCol="0" anchor="t"/>
          <a:lstStyle/>
          <a:p>
            <a:pPr algn="l" indent="0" marL="0">
              <a:buNone/>
            </a:pPr>
            <a:r>
              <a:rPr lang="en-US" sz="700" dirty="0">
                <a:solidFill>
                  <a:srgbClr val="8C7368"/>
                </a:solidFill>
                <a:latin typeface="Inter" pitchFamily="34" charset="0"/>
                <a:ea typeface="Inter" pitchFamily="34" charset="-122"/>
                <a:cs typeface="Inter" pitchFamily="34" charset="-120"/>
              </a:rPr>
              <a:t>what users see</a:t>
            </a:r>
            <a:endParaRPr lang="en-US" sz="700" dirty="0"/>
          </a:p>
        </p:txBody>
      </p:sp>
      <p:sp>
        <p:nvSpPr>
          <p:cNvPr id="19" name="Shape 16"/>
          <p:cNvSpPr/>
          <p:nvPr/>
        </p:nvSpPr>
        <p:spPr>
          <a:xfrm>
            <a:off x="2495580" y="1810969"/>
            <a:ext cx="677388" cy="241310"/>
          </a:xfrm>
          <a:prstGeom prst="roundRect">
            <a:avLst>
              <a:gd name="adj" fmla="val 28950"/>
            </a:avLst>
          </a:prstGeom>
          <a:solidFill>
            <a:srgbClr val="FFFFFF"/>
          </a:solidFill>
          <a:ln w="6350">
            <a:solidFill>
              <a:srgbClr val="24110C">
                <a:alpha val="13000"/>
              </a:srgbClr>
            </a:solidFill>
            <a:prstDash val="solid"/>
          </a:ln>
        </p:spPr>
      </p:sp>
      <p:sp>
        <p:nvSpPr>
          <p:cNvPr id="20" name="Text 17"/>
          <p:cNvSpPr txBox="1"/>
          <p:nvPr/>
        </p:nvSpPr>
        <p:spPr>
          <a:xfrm>
            <a:off x="2755910" y="1871228"/>
            <a:ext cx="399959"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Next.js</a:t>
            </a:r>
            <a:endParaRPr lang="en-US" sz="775" dirty="0"/>
          </a:p>
        </p:txBody>
      </p:sp>
      <p:pic>
        <p:nvPicPr>
          <p:cNvPr id="21" name="Image 1" descr="D:\Projects\20. fintechthon\deck\out\assets\s6_img068.png">    </p:cNvPr>
          <p:cNvPicPr>
            <a:picLocks noChangeAspect="1"/>
          </p:cNvPicPr>
          <p:nvPr/>
        </p:nvPicPr>
        <p:blipFill>
          <a:blip r:embed="rId2"/>
          <a:stretch>
            <a:fillRect/>
          </a:stretch>
        </p:blipFill>
        <p:spPr>
          <a:xfrm>
            <a:off x="2571750" y="1861718"/>
            <a:ext cx="139720" cy="139720"/>
          </a:xfrm>
          <a:prstGeom prst="rect">
            <a:avLst/>
          </a:prstGeom>
        </p:spPr>
      </p:pic>
      <p:sp>
        <p:nvSpPr>
          <p:cNvPr id="22" name="Shape 18"/>
          <p:cNvSpPr/>
          <p:nvPr/>
        </p:nvSpPr>
        <p:spPr>
          <a:xfrm>
            <a:off x="3230027" y="1810969"/>
            <a:ext cx="862279" cy="241310"/>
          </a:xfrm>
          <a:prstGeom prst="roundRect">
            <a:avLst>
              <a:gd name="adj" fmla="val 28950"/>
            </a:avLst>
          </a:prstGeom>
          <a:solidFill>
            <a:srgbClr val="FFFFFF"/>
          </a:solidFill>
          <a:ln w="6350">
            <a:solidFill>
              <a:srgbClr val="24110C">
                <a:alpha val="13000"/>
              </a:srgbClr>
            </a:solidFill>
            <a:prstDash val="solid"/>
          </a:ln>
        </p:spPr>
      </p:sp>
      <p:sp>
        <p:nvSpPr>
          <p:cNvPr id="23" name="Text 19"/>
          <p:cNvSpPr txBox="1"/>
          <p:nvPr/>
        </p:nvSpPr>
        <p:spPr>
          <a:xfrm>
            <a:off x="3490448" y="1871228"/>
            <a:ext cx="607162"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TypeScript</a:t>
            </a:r>
            <a:endParaRPr lang="en-US" sz="775" dirty="0"/>
          </a:p>
        </p:txBody>
      </p:sp>
      <p:pic>
        <p:nvPicPr>
          <p:cNvPr id="24" name="Image 2" descr="D:\Projects\20. fintechthon\deck\out\assets\s6_img069.png">    </p:cNvPr>
          <p:cNvPicPr>
            <a:picLocks noChangeAspect="1"/>
          </p:cNvPicPr>
          <p:nvPr/>
        </p:nvPicPr>
        <p:blipFill>
          <a:blip r:embed="rId3"/>
          <a:stretch>
            <a:fillRect/>
          </a:stretch>
        </p:blipFill>
        <p:spPr>
          <a:xfrm>
            <a:off x="3306288" y="1861718"/>
            <a:ext cx="139720" cy="139720"/>
          </a:xfrm>
          <a:prstGeom prst="rect">
            <a:avLst/>
          </a:prstGeom>
        </p:spPr>
      </p:pic>
      <p:sp>
        <p:nvSpPr>
          <p:cNvPr id="25" name="Shape 20"/>
          <p:cNvSpPr/>
          <p:nvPr/>
        </p:nvSpPr>
        <p:spPr>
          <a:xfrm>
            <a:off x="4149547" y="1810969"/>
            <a:ext cx="964143" cy="241310"/>
          </a:xfrm>
          <a:prstGeom prst="roundRect">
            <a:avLst>
              <a:gd name="adj" fmla="val 28950"/>
            </a:avLst>
          </a:prstGeom>
          <a:solidFill>
            <a:srgbClr val="FFFFFF"/>
          </a:solidFill>
          <a:ln w="6350">
            <a:solidFill>
              <a:srgbClr val="24110C">
                <a:alpha val="13000"/>
              </a:srgbClr>
            </a:solidFill>
            <a:prstDash val="solid"/>
          </a:ln>
        </p:spPr>
      </p:sp>
      <p:sp>
        <p:nvSpPr>
          <p:cNvPr id="26" name="Text 21"/>
          <p:cNvSpPr txBox="1"/>
          <p:nvPr/>
        </p:nvSpPr>
        <p:spPr>
          <a:xfrm>
            <a:off x="4409877" y="1871228"/>
            <a:ext cx="721187"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Tailwind CSS</a:t>
            </a:r>
            <a:endParaRPr lang="en-US" sz="775" dirty="0"/>
          </a:p>
        </p:txBody>
      </p:sp>
      <p:pic>
        <p:nvPicPr>
          <p:cNvPr id="27" name="Image 3" descr="D:\Projects\20. fintechthon\deck\out\assets\s6_img070.png">    </p:cNvPr>
          <p:cNvPicPr>
            <a:picLocks noChangeAspect="1"/>
          </p:cNvPicPr>
          <p:nvPr/>
        </p:nvPicPr>
        <p:blipFill>
          <a:blip r:embed="rId4"/>
          <a:stretch>
            <a:fillRect/>
          </a:stretch>
        </p:blipFill>
        <p:spPr>
          <a:xfrm>
            <a:off x="4225717" y="1861718"/>
            <a:ext cx="139720" cy="139720"/>
          </a:xfrm>
          <a:prstGeom prst="rect">
            <a:avLst/>
          </a:prstGeom>
        </p:spPr>
      </p:pic>
      <p:sp>
        <p:nvSpPr>
          <p:cNvPr id="28" name="Shape 22"/>
          <p:cNvSpPr/>
          <p:nvPr/>
        </p:nvSpPr>
        <p:spPr>
          <a:xfrm>
            <a:off x="5170749" y="1810969"/>
            <a:ext cx="1407993" cy="241310"/>
          </a:xfrm>
          <a:prstGeom prst="roundRect">
            <a:avLst>
              <a:gd name="adj" fmla="val 28950"/>
            </a:avLst>
          </a:prstGeom>
          <a:solidFill>
            <a:srgbClr val="FFFFFF"/>
          </a:solidFill>
          <a:ln w="6350">
            <a:solidFill>
              <a:srgbClr val="24110C">
                <a:alpha val="13000"/>
              </a:srgbClr>
            </a:solidFill>
            <a:prstDash val="solid"/>
          </a:ln>
        </p:spPr>
      </p:sp>
      <p:sp>
        <p:nvSpPr>
          <p:cNvPr id="29" name="Text 23"/>
          <p:cNvSpPr txBox="1"/>
          <p:nvPr/>
        </p:nvSpPr>
        <p:spPr>
          <a:xfrm>
            <a:off x="5253319" y="1871228"/>
            <a:ext cx="555315"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shadcn/ui</a:t>
            </a:r>
            <a:endParaRPr lang="en-US" sz="775" dirty="0"/>
          </a:p>
        </p:txBody>
      </p:sp>
      <p:sp>
        <p:nvSpPr>
          <p:cNvPr id="30" name="Text 24"/>
          <p:cNvSpPr txBox="1"/>
          <p:nvPr/>
        </p:nvSpPr>
        <p:spPr>
          <a:xfrm>
            <a:off x="5777271" y="1880829"/>
            <a:ext cx="830641"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clean components</a:t>
            </a:r>
            <a:endParaRPr lang="en-US" sz="650" dirty="0"/>
          </a:p>
        </p:txBody>
      </p:sp>
      <p:sp>
        <p:nvSpPr>
          <p:cNvPr id="31" name="Shape 25"/>
          <p:cNvSpPr/>
          <p:nvPr/>
        </p:nvSpPr>
        <p:spPr>
          <a:xfrm>
            <a:off x="2495580" y="2109429"/>
            <a:ext cx="884499" cy="234909"/>
          </a:xfrm>
          <a:prstGeom prst="roundRect">
            <a:avLst>
              <a:gd name="adj" fmla="val 29739"/>
            </a:avLst>
          </a:prstGeom>
          <a:solidFill>
            <a:srgbClr val="FFFFFF"/>
          </a:solidFill>
          <a:ln w="6350">
            <a:solidFill>
              <a:srgbClr val="24110C">
                <a:alpha val="13000"/>
              </a:srgbClr>
            </a:solidFill>
            <a:prstDash val="solid"/>
          </a:ln>
        </p:spPr>
      </p:sp>
      <p:sp>
        <p:nvSpPr>
          <p:cNvPr id="32" name="Text 26"/>
          <p:cNvSpPr txBox="1"/>
          <p:nvPr/>
        </p:nvSpPr>
        <p:spPr>
          <a:xfrm>
            <a:off x="2578059" y="2166579"/>
            <a:ext cx="500451"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Recharts</a:t>
            </a:r>
            <a:endParaRPr lang="en-US" sz="775" dirty="0"/>
          </a:p>
        </p:txBody>
      </p:sp>
      <p:sp>
        <p:nvSpPr>
          <p:cNvPr id="33" name="Text 27"/>
          <p:cNvSpPr txBox="1"/>
          <p:nvPr/>
        </p:nvSpPr>
        <p:spPr>
          <a:xfrm>
            <a:off x="3053090" y="2176089"/>
            <a:ext cx="299192"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charts</a:t>
            </a:r>
            <a:endParaRPr lang="en-US" sz="650" dirty="0"/>
          </a:p>
        </p:txBody>
      </p:sp>
      <p:sp>
        <p:nvSpPr>
          <p:cNvPr id="34" name="Shape 28"/>
          <p:cNvSpPr/>
          <p:nvPr/>
        </p:nvSpPr>
        <p:spPr>
          <a:xfrm>
            <a:off x="3437230" y="2109429"/>
            <a:ext cx="1346911" cy="234909"/>
          </a:xfrm>
          <a:prstGeom prst="roundRect">
            <a:avLst>
              <a:gd name="adj" fmla="val 29739"/>
            </a:avLst>
          </a:prstGeom>
          <a:solidFill>
            <a:srgbClr val="FFFFFF"/>
          </a:solidFill>
          <a:ln w="6350">
            <a:solidFill>
              <a:srgbClr val="24110C">
                <a:alpha val="13000"/>
              </a:srgbClr>
            </a:solidFill>
            <a:prstDash val="solid"/>
          </a:ln>
        </p:spPr>
      </p:sp>
      <p:sp>
        <p:nvSpPr>
          <p:cNvPr id="35" name="Text 29"/>
          <p:cNvSpPr txBox="1"/>
          <p:nvPr/>
        </p:nvSpPr>
        <p:spPr>
          <a:xfrm>
            <a:off x="3519800" y="2166579"/>
            <a:ext cx="726399"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Cytoscape.js</a:t>
            </a:r>
            <a:endParaRPr lang="en-US" sz="775" dirty="0"/>
          </a:p>
        </p:txBody>
      </p:sp>
      <p:sp>
        <p:nvSpPr>
          <p:cNvPr id="36" name="Text 30"/>
          <p:cNvSpPr txBox="1"/>
          <p:nvPr/>
        </p:nvSpPr>
        <p:spPr>
          <a:xfrm>
            <a:off x="4196456" y="2176089"/>
            <a:ext cx="591160"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supplier map</a:t>
            </a:r>
            <a:endParaRPr lang="en-US" sz="650" dirty="0"/>
          </a:p>
        </p:txBody>
      </p:sp>
      <p:sp>
        <p:nvSpPr>
          <p:cNvPr id="37" name="Shape 31"/>
          <p:cNvSpPr/>
          <p:nvPr/>
        </p:nvSpPr>
        <p:spPr>
          <a:xfrm>
            <a:off x="1060430" y="2453610"/>
            <a:ext cx="6007059" cy="745510"/>
          </a:xfrm>
          <a:prstGeom prst="rect">
            <a:avLst/>
          </a:prstGeom>
          <a:ln/>
        </p:spPr>
      </p:sp>
      <p:sp>
        <p:nvSpPr>
          <p:cNvPr id="38" name="Shape 32"/>
          <p:cNvSpPr/>
          <p:nvPr/>
        </p:nvSpPr>
        <p:spPr>
          <a:xfrm>
            <a:off x="1060430" y="3195919"/>
            <a:ext cx="6007059" cy="0"/>
          </a:xfrm>
          <a:prstGeom prst="line">
            <a:avLst/>
          </a:prstGeom>
          <a:noFill/>
          <a:ln w="6350">
            <a:solidFill>
              <a:srgbClr val="24110C">
                <a:alpha val="13000"/>
              </a:srgbClr>
            </a:solidFill>
            <a:prstDash val="solid"/>
          </a:ln>
        </p:spPr>
      </p:sp>
      <p:sp>
        <p:nvSpPr>
          <p:cNvPr id="39" name="Text 33"/>
          <p:cNvSpPr txBox="1"/>
          <p:nvPr/>
        </p:nvSpPr>
        <p:spPr>
          <a:xfrm>
            <a:off x="1060430" y="2680289"/>
            <a:ext cx="1042325" cy="114300"/>
          </a:xfrm>
          <a:prstGeom prst="rect">
            <a:avLst/>
          </a:prstGeom>
          <a:noFill/>
          <a:ln/>
        </p:spPr>
        <p:txBody>
          <a:bodyPr wrap="none" lIns="0" tIns="0" rIns="0" bIns="0" rtlCol="0" anchor="t"/>
          <a:lstStyle/>
          <a:p>
            <a:pPr algn="l" indent="0" marL="0">
              <a:buNone/>
            </a:pPr>
            <a:r>
              <a:rPr lang="en-US" sz="1000" b="1" dirty="0">
                <a:solidFill>
                  <a:srgbClr val="24110C"/>
                </a:solidFill>
                <a:latin typeface="League Spartan" pitchFamily="34" charset="0"/>
                <a:ea typeface="League Spartan" pitchFamily="34" charset="-122"/>
                <a:cs typeface="League Spartan" pitchFamily="34" charset="-120"/>
              </a:rPr>
              <a:t>Server and data</a:t>
            </a:r>
            <a:endParaRPr lang="en-US" sz="1000" dirty="0"/>
          </a:p>
        </p:txBody>
      </p:sp>
      <p:sp>
        <p:nvSpPr>
          <p:cNvPr id="40" name="Text 34"/>
          <p:cNvSpPr txBox="1"/>
          <p:nvPr/>
        </p:nvSpPr>
        <p:spPr>
          <a:xfrm>
            <a:off x="1060430" y="2832720"/>
            <a:ext cx="893826" cy="107991"/>
          </a:xfrm>
          <a:prstGeom prst="rect">
            <a:avLst/>
          </a:prstGeom>
          <a:noFill/>
          <a:ln/>
        </p:spPr>
        <p:txBody>
          <a:bodyPr wrap="none" lIns="0" tIns="0" rIns="0" bIns="0" rtlCol="0" anchor="t"/>
          <a:lstStyle/>
          <a:p>
            <a:pPr algn="l" indent="0" marL="0">
              <a:buNone/>
            </a:pPr>
            <a:r>
              <a:rPr lang="en-US" sz="700" dirty="0">
                <a:solidFill>
                  <a:srgbClr val="8C7368"/>
                </a:solidFill>
                <a:latin typeface="Inter" pitchFamily="34" charset="0"/>
                <a:ea typeface="Inter" pitchFamily="34" charset="-122"/>
                <a:cs typeface="Inter" pitchFamily="34" charset="-120"/>
              </a:rPr>
              <a:t>where records live</a:t>
            </a:r>
            <a:endParaRPr lang="en-US" sz="700" dirty="0"/>
          </a:p>
        </p:txBody>
      </p:sp>
      <p:sp>
        <p:nvSpPr>
          <p:cNvPr id="41" name="Shape 35"/>
          <p:cNvSpPr/>
          <p:nvPr/>
        </p:nvSpPr>
        <p:spPr>
          <a:xfrm>
            <a:off x="2495580" y="2553279"/>
            <a:ext cx="681319" cy="241310"/>
          </a:xfrm>
          <a:prstGeom prst="roundRect">
            <a:avLst>
              <a:gd name="adj" fmla="val 28950"/>
            </a:avLst>
          </a:prstGeom>
          <a:solidFill>
            <a:srgbClr val="FFFFFF"/>
          </a:solidFill>
          <a:ln w="6350">
            <a:solidFill>
              <a:srgbClr val="24110C">
                <a:alpha val="13000"/>
              </a:srgbClr>
            </a:solidFill>
            <a:prstDash val="solid"/>
          </a:ln>
        </p:spPr>
      </p:sp>
      <p:sp>
        <p:nvSpPr>
          <p:cNvPr id="42" name="Text 36"/>
          <p:cNvSpPr txBox="1"/>
          <p:nvPr/>
        </p:nvSpPr>
        <p:spPr>
          <a:xfrm>
            <a:off x="2755910" y="2613630"/>
            <a:ext cx="404439"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Python</a:t>
            </a:r>
            <a:endParaRPr lang="en-US" sz="775" dirty="0"/>
          </a:p>
        </p:txBody>
      </p:sp>
      <p:pic>
        <p:nvPicPr>
          <p:cNvPr id="43" name="Image 4" descr="D:\Projects\20. fintechthon\deck\out\assets\s6_img071.png">    </p:cNvPr>
          <p:cNvPicPr>
            <a:picLocks noChangeAspect="1"/>
          </p:cNvPicPr>
          <p:nvPr/>
        </p:nvPicPr>
        <p:blipFill>
          <a:blip r:embed="rId5"/>
          <a:stretch>
            <a:fillRect/>
          </a:stretch>
        </p:blipFill>
        <p:spPr>
          <a:xfrm>
            <a:off x="2571750" y="2604120"/>
            <a:ext cx="139720" cy="139720"/>
          </a:xfrm>
          <a:prstGeom prst="rect">
            <a:avLst/>
          </a:prstGeom>
        </p:spPr>
      </p:pic>
      <p:sp>
        <p:nvSpPr>
          <p:cNvPr id="44" name="Shape 37"/>
          <p:cNvSpPr/>
          <p:nvPr/>
        </p:nvSpPr>
        <p:spPr>
          <a:xfrm>
            <a:off x="3234050" y="2553279"/>
            <a:ext cx="1861901" cy="241310"/>
          </a:xfrm>
          <a:prstGeom prst="roundRect">
            <a:avLst>
              <a:gd name="adj" fmla="val 28950"/>
            </a:avLst>
          </a:prstGeom>
          <a:solidFill>
            <a:srgbClr val="FFFFFF"/>
          </a:solidFill>
          <a:ln w="6350">
            <a:solidFill>
              <a:srgbClr val="24110C">
                <a:alpha val="13000"/>
              </a:srgbClr>
            </a:solidFill>
            <a:prstDash val="solid"/>
          </a:ln>
        </p:spPr>
      </p:sp>
      <p:sp>
        <p:nvSpPr>
          <p:cNvPr id="45" name="Text 38"/>
          <p:cNvSpPr txBox="1"/>
          <p:nvPr/>
        </p:nvSpPr>
        <p:spPr>
          <a:xfrm>
            <a:off x="3494380" y="2613630"/>
            <a:ext cx="432786"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FastAPI</a:t>
            </a:r>
            <a:endParaRPr lang="en-US" sz="775" dirty="0"/>
          </a:p>
        </p:txBody>
      </p:sp>
      <p:pic>
        <p:nvPicPr>
          <p:cNvPr id="46" name="Image 5" descr="D:\Projects\20. fintechthon\deck\out\assets\s6_img072.png">    </p:cNvPr>
          <p:cNvPicPr>
            <a:picLocks noChangeAspect="1"/>
          </p:cNvPicPr>
          <p:nvPr/>
        </p:nvPicPr>
        <p:blipFill>
          <a:blip r:embed="rId6"/>
          <a:stretch>
            <a:fillRect/>
          </a:stretch>
        </p:blipFill>
        <p:spPr>
          <a:xfrm>
            <a:off x="3310219" y="2604120"/>
            <a:ext cx="139720" cy="139720"/>
          </a:xfrm>
          <a:prstGeom prst="rect">
            <a:avLst/>
          </a:prstGeom>
        </p:spPr>
      </p:pic>
      <p:sp>
        <p:nvSpPr>
          <p:cNvPr id="47" name="Text 39"/>
          <p:cNvSpPr txBox="1"/>
          <p:nvPr/>
        </p:nvSpPr>
        <p:spPr>
          <a:xfrm>
            <a:off x="3908877" y="2623139"/>
            <a:ext cx="1262421"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connects screen and engine</a:t>
            </a:r>
            <a:endParaRPr lang="en-US" sz="650" dirty="0"/>
          </a:p>
        </p:txBody>
      </p:sp>
      <p:sp>
        <p:nvSpPr>
          <p:cNvPr id="48" name="Shape 40"/>
          <p:cNvSpPr/>
          <p:nvPr/>
        </p:nvSpPr>
        <p:spPr>
          <a:xfrm>
            <a:off x="5153101" y="2553279"/>
            <a:ext cx="1472824" cy="241310"/>
          </a:xfrm>
          <a:prstGeom prst="roundRect">
            <a:avLst>
              <a:gd name="adj" fmla="val 28950"/>
            </a:avLst>
          </a:prstGeom>
          <a:solidFill>
            <a:srgbClr val="FFFFFF"/>
          </a:solidFill>
          <a:ln w="6350">
            <a:solidFill>
              <a:srgbClr val="24110C">
                <a:alpha val="13000"/>
              </a:srgbClr>
            </a:solidFill>
            <a:prstDash val="solid"/>
          </a:ln>
        </p:spPr>
      </p:sp>
      <p:sp>
        <p:nvSpPr>
          <p:cNvPr id="49" name="Text 41"/>
          <p:cNvSpPr txBox="1"/>
          <p:nvPr/>
        </p:nvSpPr>
        <p:spPr>
          <a:xfrm>
            <a:off x="5413431" y="2613630"/>
            <a:ext cx="490941"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Pydantic</a:t>
            </a:r>
            <a:endParaRPr lang="en-US" sz="775" dirty="0"/>
          </a:p>
        </p:txBody>
      </p:sp>
      <p:pic>
        <p:nvPicPr>
          <p:cNvPr id="50" name="Image 6" descr="D:\Projects\20. fintechthon\deck\out\assets\s6_img073.png">    </p:cNvPr>
          <p:cNvPicPr>
            <a:picLocks noChangeAspect="1"/>
          </p:cNvPicPr>
          <p:nvPr/>
        </p:nvPicPr>
        <p:blipFill>
          <a:blip r:embed="rId7"/>
          <a:stretch>
            <a:fillRect/>
          </a:stretch>
        </p:blipFill>
        <p:spPr>
          <a:xfrm>
            <a:off x="5229362" y="2604120"/>
            <a:ext cx="139720" cy="139720"/>
          </a:xfrm>
          <a:prstGeom prst="rect">
            <a:avLst/>
          </a:prstGeom>
        </p:spPr>
      </p:pic>
      <p:sp>
        <p:nvSpPr>
          <p:cNvPr id="51" name="Text 42"/>
          <p:cNvSpPr txBox="1"/>
          <p:nvPr/>
        </p:nvSpPr>
        <p:spPr>
          <a:xfrm>
            <a:off x="5879866" y="2623139"/>
            <a:ext cx="768462"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checks every file</a:t>
            </a:r>
            <a:endParaRPr lang="en-US" sz="650" dirty="0"/>
          </a:p>
        </p:txBody>
      </p:sp>
      <p:sp>
        <p:nvSpPr>
          <p:cNvPr id="52" name="Shape 43"/>
          <p:cNvSpPr/>
          <p:nvPr/>
        </p:nvSpPr>
        <p:spPr>
          <a:xfrm>
            <a:off x="2495580" y="2851739"/>
            <a:ext cx="1096548" cy="241310"/>
          </a:xfrm>
          <a:prstGeom prst="roundRect">
            <a:avLst>
              <a:gd name="adj" fmla="val 28950"/>
            </a:avLst>
          </a:prstGeom>
          <a:solidFill>
            <a:srgbClr val="FFFFFF"/>
          </a:solidFill>
          <a:ln w="6350">
            <a:solidFill>
              <a:srgbClr val="24110C">
                <a:alpha val="13000"/>
              </a:srgbClr>
            </a:solidFill>
            <a:prstDash val="solid"/>
          </a:ln>
        </p:spPr>
      </p:sp>
      <p:sp>
        <p:nvSpPr>
          <p:cNvPr id="53" name="Text 44"/>
          <p:cNvSpPr txBox="1"/>
          <p:nvPr/>
        </p:nvSpPr>
        <p:spPr>
          <a:xfrm>
            <a:off x="2578059" y="2912090"/>
            <a:ext cx="376550"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SQLite</a:t>
            </a:r>
            <a:endParaRPr lang="en-US" sz="775" dirty="0"/>
          </a:p>
        </p:txBody>
      </p:sp>
      <p:sp>
        <p:nvSpPr>
          <p:cNvPr id="54" name="Text 45"/>
          <p:cNvSpPr txBox="1"/>
          <p:nvPr/>
        </p:nvSpPr>
        <p:spPr>
          <a:xfrm>
            <a:off x="2942448" y="2921599"/>
            <a:ext cx="660563"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local database</a:t>
            </a:r>
            <a:endParaRPr lang="en-US" sz="650" dirty="0"/>
          </a:p>
        </p:txBody>
      </p:sp>
      <p:sp>
        <p:nvSpPr>
          <p:cNvPr id="55" name="Shape 46"/>
          <p:cNvSpPr/>
          <p:nvPr/>
        </p:nvSpPr>
        <p:spPr>
          <a:xfrm>
            <a:off x="3649279" y="2851739"/>
            <a:ext cx="1097371" cy="241310"/>
          </a:xfrm>
          <a:prstGeom prst="roundRect">
            <a:avLst>
              <a:gd name="adj" fmla="val 28950"/>
            </a:avLst>
          </a:prstGeom>
          <a:solidFill>
            <a:srgbClr val="FFFFFF"/>
          </a:solidFill>
          <a:ln w="6350">
            <a:solidFill>
              <a:srgbClr val="24110C">
                <a:alpha val="13000"/>
              </a:srgbClr>
            </a:solidFill>
            <a:prstDash val="solid"/>
          </a:ln>
        </p:spPr>
      </p:sp>
      <p:sp>
        <p:nvSpPr>
          <p:cNvPr id="56" name="Text 47"/>
          <p:cNvSpPr txBox="1"/>
          <p:nvPr/>
        </p:nvSpPr>
        <p:spPr>
          <a:xfrm>
            <a:off x="3909609" y="2912090"/>
            <a:ext cx="359359"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Polars</a:t>
            </a:r>
            <a:endParaRPr lang="en-US" sz="775" dirty="0"/>
          </a:p>
        </p:txBody>
      </p:sp>
      <p:pic>
        <p:nvPicPr>
          <p:cNvPr id="57" name="Image 7" descr="D:\Projects\20. fintechthon\deck\out\assets\s6_img074.png">    </p:cNvPr>
          <p:cNvPicPr>
            <a:picLocks noChangeAspect="1"/>
          </p:cNvPicPr>
          <p:nvPr/>
        </p:nvPicPr>
        <p:blipFill>
          <a:blip r:embed="rId8"/>
          <a:stretch>
            <a:fillRect/>
          </a:stretch>
        </p:blipFill>
        <p:spPr>
          <a:xfrm>
            <a:off x="3725448" y="2902580"/>
            <a:ext cx="139720" cy="139720"/>
          </a:xfrm>
          <a:prstGeom prst="rect">
            <a:avLst/>
          </a:prstGeom>
        </p:spPr>
      </p:pic>
      <p:sp>
        <p:nvSpPr>
          <p:cNvPr id="58" name="Text 48"/>
          <p:cNvSpPr txBox="1"/>
          <p:nvPr/>
        </p:nvSpPr>
        <p:spPr>
          <a:xfrm>
            <a:off x="4258544" y="2921599"/>
            <a:ext cx="479603"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fast tables</a:t>
            </a:r>
            <a:endParaRPr lang="en-US" sz="650" dirty="0"/>
          </a:p>
        </p:txBody>
      </p:sp>
      <p:sp>
        <p:nvSpPr>
          <p:cNvPr id="59" name="Shape 49"/>
          <p:cNvSpPr/>
          <p:nvPr/>
        </p:nvSpPr>
        <p:spPr>
          <a:xfrm>
            <a:off x="1060430" y="3199120"/>
            <a:ext cx="6007059" cy="745419"/>
          </a:xfrm>
          <a:prstGeom prst="rect">
            <a:avLst/>
          </a:prstGeom>
          <a:ln/>
        </p:spPr>
      </p:sp>
      <p:sp>
        <p:nvSpPr>
          <p:cNvPr id="60" name="Shape 50"/>
          <p:cNvSpPr/>
          <p:nvPr/>
        </p:nvSpPr>
        <p:spPr>
          <a:xfrm>
            <a:off x="1060430" y="3941338"/>
            <a:ext cx="6007059" cy="0"/>
          </a:xfrm>
          <a:prstGeom prst="line">
            <a:avLst/>
          </a:prstGeom>
          <a:noFill/>
          <a:ln w="6350">
            <a:solidFill>
              <a:srgbClr val="24110C">
                <a:alpha val="13000"/>
              </a:srgbClr>
            </a:solidFill>
            <a:prstDash val="solid"/>
          </a:ln>
        </p:spPr>
      </p:sp>
      <p:sp>
        <p:nvSpPr>
          <p:cNvPr id="61" name="Text 51"/>
          <p:cNvSpPr txBox="1"/>
          <p:nvPr/>
        </p:nvSpPr>
        <p:spPr>
          <a:xfrm>
            <a:off x="1060430" y="3425708"/>
            <a:ext cx="1062899" cy="114300"/>
          </a:xfrm>
          <a:prstGeom prst="rect">
            <a:avLst/>
          </a:prstGeom>
          <a:noFill/>
          <a:ln/>
        </p:spPr>
        <p:txBody>
          <a:bodyPr wrap="none" lIns="0" tIns="0" rIns="0" bIns="0" rtlCol="0" anchor="t"/>
          <a:lstStyle/>
          <a:p>
            <a:pPr algn="l" indent="0" marL="0">
              <a:buNone/>
            </a:pPr>
            <a:r>
              <a:rPr lang="en-US" sz="1000" b="1" dirty="0">
                <a:solidFill>
                  <a:srgbClr val="24110C"/>
                </a:solidFill>
                <a:latin typeface="League Spartan" pitchFamily="34" charset="0"/>
                <a:ea typeface="League Spartan" pitchFamily="34" charset="-122"/>
                <a:cs typeface="League Spartan" pitchFamily="34" charset="-120"/>
              </a:rPr>
              <a:t>Matching engine</a:t>
            </a:r>
            <a:endParaRPr lang="en-US" sz="1000" dirty="0"/>
          </a:p>
        </p:txBody>
      </p:sp>
      <p:sp>
        <p:nvSpPr>
          <p:cNvPr id="62" name="Text 52"/>
          <p:cNvSpPr txBox="1"/>
          <p:nvPr/>
        </p:nvSpPr>
        <p:spPr>
          <a:xfrm>
            <a:off x="1060430" y="3578139"/>
            <a:ext cx="1110356" cy="107991"/>
          </a:xfrm>
          <a:prstGeom prst="rect">
            <a:avLst/>
          </a:prstGeom>
          <a:noFill/>
          <a:ln/>
        </p:spPr>
        <p:txBody>
          <a:bodyPr wrap="none" lIns="0" tIns="0" rIns="0" bIns="0" rtlCol="0" anchor="t"/>
          <a:lstStyle/>
          <a:p>
            <a:pPr algn="l" indent="0" marL="0">
              <a:buNone/>
            </a:pPr>
            <a:r>
              <a:rPr lang="en-US" sz="700" dirty="0">
                <a:solidFill>
                  <a:srgbClr val="8C7368"/>
                </a:solidFill>
                <a:latin typeface="Inter" pitchFamily="34" charset="0"/>
                <a:ea typeface="Inter" pitchFamily="34" charset="-122"/>
                <a:cs typeface="Inter" pitchFamily="34" charset="-120"/>
              </a:rPr>
              <a:t>finds and pairs records</a:t>
            </a:r>
            <a:endParaRPr lang="en-US" sz="700" dirty="0"/>
          </a:p>
        </p:txBody>
      </p:sp>
      <p:sp>
        <p:nvSpPr>
          <p:cNvPr id="63" name="Shape 53"/>
          <p:cNvSpPr/>
          <p:nvPr/>
        </p:nvSpPr>
        <p:spPr>
          <a:xfrm>
            <a:off x="2495580" y="3301898"/>
            <a:ext cx="1749796" cy="234909"/>
          </a:xfrm>
          <a:prstGeom prst="roundRect">
            <a:avLst>
              <a:gd name="adj" fmla="val 29739"/>
            </a:avLst>
          </a:prstGeom>
          <a:solidFill>
            <a:srgbClr val="FFFFFF"/>
          </a:solidFill>
          <a:ln w="6350">
            <a:solidFill>
              <a:srgbClr val="24110C">
                <a:alpha val="13000"/>
              </a:srgbClr>
            </a:solidFill>
            <a:prstDash val="solid"/>
          </a:ln>
        </p:spPr>
      </p:sp>
      <p:sp>
        <p:nvSpPr>
          <p:cNvPr id="64" name="Text 54"/>
          <p:cNvSpPr txBox="1"/>
          <p:nvPr/>
        </p:nvSpPr>
        <p:spPr>
          <a:xfrm>
            <a:off x="2578059" y="3359048"/>
            <a:ext cx="579912"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RapidFuzz</a:t>
            </a:r>
            <a:endParaRPr lang="en-US" sz="775" dirty="0"/>
          </a:p>
        </p:txBody>
      </p:sp>
      <p:sp>
        <p:nvSpPr>
          <p:cNvPr id="65" name="Text 55"/>
          <p:cNvSpPr txBox="1"/>
          <p:nvPr/>
        </p:nvSpPr>
        <p:spPr>
          <a:xfrm>
            <a:off x="3123956" y="3368558"/>
            <a:ext cx="1188903"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near-identical bill numbers</a:t>
            </a:r>
            <a:endParaRPr lang="en-US" sz="650" dirty="0"/>
          </a:p>
        </p:txBody>
      </p:sp>
      <p:sp>
        <p:nvSpPr>
          <p:cNvPr id="66" name="Shape 56"/>
          <p:cNvSpPr/>
          <p:nvPr/>
        </p:nvSpPr>
        <p:spPr>
          <a:xfrm>
            <a:off x="4302526" y="3301898"/>
            <a:ext cx="1413662" cy="234909"/>
          </a:xfrm>
          <a:prstGeom prst="roundRect">
            <a:avLst>
              <a:gd name="adj" fmla="val 29739"/>
            </a:avLst>
          </a:prstGeom>
          <a:solidFill>
            <a:srgbClr val="FFFFFF"/>
          </a:solidFill>
          <a:ln w="6350">
            <a:solidFill>
              <a:srgbClr val="24110C">
                <a:alpha val="13000"/>
              </a:srgbClr>
            </a:solidFill>
            <a:prstDash val="solid"/>
          </a:ln>
        </p:spPr>
      </p:sp>
      <p:sp>
        <p:nvSpPr>
          <p:cNvPr id="67" name="Text 57"/>
          <p:cNvSpPr txBox="1"/>
          <p:nvPr/>
        </p:nvSpPr>
        <p:spPr>
          <a:xfrm>
            <a:off x="4385097" y="3359048"/>
            <a:ext cx="326258"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SciPy</a:t>
            </a:r>
            <a:endParaRPr lang="en-US" sz="775" dirty="0"/>
          </a:p>
        </p:txBody>
      </p:sp>
      <p:sp>
        <p:nvSpPr>
          <p:cNvPr id="68" name="Text 58"/>
          <p:cNvSpPr txBox="1"/>
          <p:nvPr/>
        </p:nvSpPr>
        <p:spPr>
          <a:xfrm>
            <a:off x="4704497" y="3368558"/>
            <a:ext cx="1066099"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best one-to-one pairing</a:t>
            </a:r>
            <a:endParaRPr lang="en-US" sz="650" dirty="0"/>
          </a:p>
        </p:txBody>
      </p:sp>
      <p:sp>
        <p:nvSpPr>
          <p:cNvPr id="69" name="Shape 59"/>
          <p:cNvSpPr/>
          <p:nvPr/>
        </p:nvSpPr>
        <p:spPr>
          <a:xfrm>
            <a:off x="2495580" y="3593958"/>
            <a:ext cx="1794053" cy="241310"/>
          </a:xfrm>
          <a:prstGeom prst="roundRect">
            <a:avLst>
              <a:gd name="adj" fmla="val 28950"/>
            </a:avLst>
          </a:prstGeom>
          <a:solidFill>
            <a:srgbClr val="FFFFFF"/>
          </a:solidFill>
          <a:ln w="6350">
            <a:solidFill>
              <a:srgbClr val="24110C">
                <a:alpha val="13000"/>
              </a:srgbClr>
            </a:solidFill>
            <a:prstDash val="solid"/>
          </a:ln>
        </p:spPr>
      </p:sp>
      <p:sp>
        <p:nvSpPr>
          <p:cNvPr id="70" name="Text 60"/>
          <p:cNvSpPr txBox="1"/>
          <p:nvPr/>
        </p:nvSpPr>
        <p:spPr>
          <a:xfrm>
            <a:off x="2755910" y="3654308"/>
            <a:ext cx="629656"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scikit-learn</a:t>
            </a:r>
            <a:endParaRPr lang="en-US" sz="775" dirty="0"/>
          </a:p>
        </p:txBody>
      </p:sp>
      <p:pic>
        <p:nvPicPr>
          <p:cNvPr id="71" name="Image 8" descr="D:\Projects\20. fintechthon\deck\out\assets\s6_img075.png">    </p:cNvPr>
          <p:cNvPicPr>
            <a:picLocks noChangeAspect="1"/>
          </p:cNvPicPr>
          <p:nvPr/>
        </p:nvPicPr>
        <p:blipFill>
          <a:blip r:embed="rId9"/>
          <a:stretch>
            <a:fillRect/>
          </a:stretch>
        </p:blipFill>
        <p:spPr>
          <a:xfrm>
            <a:off x="2571750" y="3644798"/>
            <a:ext cx="139720" cy="139720"/>
          </a:xfrm>
          <a:prstGeom prst="rect">
            <a:avLst/>
          </a:prstGeom>
        </p:spPr>
      </p:pic>
      <p:sp>
        <p:nvSpPr>
          <p:cNvPr id="72" name="Text 61"/>
          <p:cNvSpPr txBox="1"/>
          <p:nvPr/>
        </p:nvSpPr>
        <p:spPr>
          <a:xfrm>
            <a:off x="3346247" y="3663818"/>
            <a:ext cx="989564"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unusual pattern finder</a:t>
            </a:r>
            <a:endParaRPr lang="en-US" sz="650" dirty="0"/>
          </a:p>
        </p:txBody>
      </p:sp>
      <p:sp>
        <p:nvSpPr>
          <p:cNvPr id="73" name="Shape 62"/>
          <p:cNvSpPr/>
          <p:nvPr/>
        </p:nvSpPr>
        <p:spPr>
          <a:xfrm>
            <a:off x="4346783" y="3593958"/>
            <a:ext cx="1612270" cy="241310"/>
          </a:xfrm>
          <a:prstGeom prst="roundRect">
            <a:avLst>
              <a:gd name="adj" fmla="val 28950"/>
            </a:avLst>
          </a:prstGeom>
          <a:solidFill>
            <a:srgbClr val="FFFFFF"/>
          </a:solidFill>
          <a:ln w="6350">
            <a:solidFill>
              <a:srgbClr val="24110C">
                <a:alpha val="13000"/>
              </a:srgbClr>
            </a:solidFill>
            <a:prstDash val="solid"/>
          </a:ln>
        </p:spPr>
      </p:sp>
      <p:sp>
        <p:nvSpPr>
          <p:cNvPr id="74" name="Text 63"/>
          <p:cNvSpPr txBox="1"/>
          <p:nvPr/>
        </p:nvSpPr>
        <p:spPr>
          <a:xfrm>
            <a:off x="4429354" y="3654308"/>
            <a:ext cx="560802"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NetworkX</a:t>
            </a:r>
            <a:endParaRPr lang="en-US" sz="775" dirty="0"/>
          </a:p>
        </p:txBody>
      </p:sp>
      <p:sp>
        <p:nvSpPr>
          <p:cNvPr id="75" name="Text 64"/>
          <p:cNvSpPr txBox="1"/>
          <p:nvPr/>
        </p:nvSpPr>
        <p:spPr>
          <a:xfrm>
            <a:off x="4958151" y="3663818"/>
            <a:ext cx="1053937"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links between suppliers</a:t>
            </a:r>
            <a:endParaRPr lang="en-US" sz="650" dirty="0"/>
          </a:p>
        </p:txBody>
      </p:sp>
      <p:sp>
        <p:nvSpPr>
          <p:cNvPr id="76" name="Shape 65"/>
          <p:cNvSpPr/>
          <p:nvPr/>
        </p:nvSpPr>
        <p:spPr>
          <a:xfrm>
            <a:off x="1060430" y="3944539"/>
            <a:ext cx="6007059" cy="745510"/>
          </a:xfrm>
          <a:prstGeom prst="rect">
            <a:avLst/>
          </a:prstGeom>
          <a:ln/>
        </p:spPr>
      </p:sp>
      <p:sp>
        <p:nvSpPr>
          <p:cNvPr id="77" name="Shape 66"/>
          <p:cNvSpPr/>
          <p:nvPr/>
        </p:nvSpPr>
        <p:spPr>
          <a:xfrm>
            <a:off x="1060430" y="4686940"/>
            <a:ext cx="6007059" cy="0"/>
          </a:xfrm>
          <a:prstGeom prst="line">
            <a:avLst/>
          </a:prstGeom>
          <a:noFill/>
          <a:ln w="6350">
            <a:solidFill>
              <a:srgbClr val="24110C">
                <a:alpha val="13000"/>
              </a:srgbClr>
            </a:solidFill>
            <a:prstDash val="solid"/>
          </a:ln>
        </p:spPr>
      </p:sp>
      <p:sp>
        <p:nvSpPr>
          <p:cNvPr id="78" name="Text 67"/>
          <p:cNvSpPr txBox="1"/>
          <p:nvPr/>
        </p:nvSpPr>
        <p:spPr>
          <a:xfrm>
            <a:off x="1060430" y="4171218"/>
            <a:ext cx="759592" cy="114300"/>
          </a:xfrm>
          <a:prstGeom prst="rect">
            <a:avLst/>
          </a:prstGeom>
          <a:noFill/>
          <a:ln/>
        </p:spPr>
        <p:txBody>
          <a:bodyPr wrap="none" lIns="0" tIns="0" rIns="0" bIns="0" rtlCol="0" anchor="t"/>
          <a:lstStyle/>
          <a:p>
            <a:pPr algn="l" indent="0" marL="0">
              <a:buNone/>
            </a:pPr>
            <a:r>
              <a:rPr lang="en-US" sz="1000" b="1" dirty="0">
                <a:solidFill>
                  <a:srgbClr val="24110C"/>
                </a:solidFill>
                <a:latin typeface="League Spartan" pitchFamily="34" charset="0"/>
                <a:ea typeface="League Spartan" pitchFamily="34" charset="-122"/>
                <a:cs typeface="League Spartan" pitchFamily="34" charset="-120"/>
              </a:rPr>
              <a:t>AI assistant</a:t>
            </a:r>
            <a:endParaRPr lang="en-US" sz="1000" dirty="0"/>
          </a:p>
        </p:txBody>
      </p:sp>
      <p:sp>
        <p:nvSpPr>
          <p:cNvPr id="79" name="Text 68"/>
          <p:cNvSpPr txBox="1"/>
          <p:nvPr/>
        </p:nvSpPr>
        <p:spPr>
          <a:xfrm>
            <a:off x="1060430" y="4323649"/>
            <a:ext cx="915772" cy="107991"/>
          </a:xfrm>
          <a:prstGeom prst="rect">
            <a:avLst/>
          </a:prstGeom>
          <a:noFill/>
          <a:ln/>
        </p:spPr>
        <p:txBody>
          <a:bodyPr wrap="none" lIns="0" tIns="0" rIns="0" bIns="0" rtlCol="0" anchor="t"/>
          <a:lstStyle/>
          <a:p>
            <a:pPr algn="l" indent="0" marL="0">
              <a:buNone/>
            </a:pPr>
            <a:r>
              <a:rPr lang="en-US" sz="700" dirty="0">
                <a:solidFill>
                  <a:srgbClr val="8C7368"/>
                </a:solidFill>
                <a:latin typeface="Inter" pitchFamily="34" charset="0"/>
                <a:ea typeface="Inter" pitchFamily="34" charset="-122"/>
                <a:cs typeface="Inter" pitchFamily="34" charset="-120"/>
              </a:rPr>
              <a:t>explains and drafts</a:t>
            </a:r>
            <a:endParaRPr lang="en-US" sz="700" dirty="0"/>
          </a:p>
        </p:txBody>
      </p:sp>
      <p:sp>
        <p:nvSpPr>
          <p:cNvPr id="80" name="Shape 69"/>
          <p:cNvSpPr/>
          <p:nvPr/>
        </p:nvSpPr>
        <p:spPr>
          <a:xfrm>
            <a:off x="2495580" y="4047409"/>
            <a:ext cx="1643634" cy="241310"/>
          </a:xfrm>
          <a:prstGeom prst="roundRect">
            <a:avLst>
              <a:gd name="adj" fmla="val 28950"/>
            </a:avLst>
          </a:prstGeom>
          <a:solidFill>
            <a:srgbClr val="FFFFFF"/>
          </a:solidFill>
          <a:ln w="6350">
            <a:solidFill>
              <a:srgbClr val="24110C">
                <a:alpha val="13000"/>
              </a:srgbClr>
            </a:solidFill>
            <a:prstDash val="solid"/>
          </a:ln>
        </p:spPr>
      </p:sp>
      <p:sp>
        <p:nvSpPr>
          <p:cNvPr id="81" name="Text 70"/>
          <p:cNvSpPr txBox="1"/>
          <p:nvPr/>
        </p:nvSpPr>
        <p:spPr>
          <a:xfrm>
            <a:off x="2755910" y="4107759"/>
            <a:ext cx="609905"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Claude API</a:t>
            </a:r>
            <a:endParaRPr lang="en-US" sz="775" dirty="0"/>
          </a:p>
        </p:txBody>
      </p:sp>
      <p:pic>
        <p:nvPicPr>
          <p:cNvPr id="82" name="Image 9" descr="D:\Projects\20. fintechthon\deck\out\assets\s6_img076.png">    </p:cNvPr>
          <p:cNvPicPr>
            <a:picLocks noChangeAspect="1"/>
          </p:cNvPicPr>
          <p:nvPr/>
        </p:nvPicPr>
        <p:blipFill>
          <a:blip r:embed="rId10"/>
          <a:stretch>
            <a:fillRect/>
          </a:stretch>
        </p:blipFill>
        <p:spPr>
          <a:xfrm>
            <a:off x="2571750" y="4098249"/>
            <a:ext cx="139720" cy="139720"/>
          </a:xfrm>
          <a:prstGeom prst="rect">
            <a:avLst/>
          </a:prstGeom>
        </p:spPr>
      </p:pic>
      <p:sp>
        <p:nvSpPr>
          <p:cNvPr id="83" name="Text 71"/>
          <p:cNvSpPr txBox="1"/>
          <p:nvPr/>
        </p:nvSpPr>
        <p:spPr>
          <a:xfrm>
            <a:off x="3328599" y="4117269"/>
            <a:ext cx="840791"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reasons and drafts</a:t>
            </a:r>
            <a:endParaRPr lang="en-US" sz="650" dirty="0"/>
          </a:p>
        </p:txBody>
      </p:sp>
      <p:sp>
        <p:nvSpPr>
          <p:cNvPr id="84" name="Shape 72"/>
          <p:cNvSpPr/>
          <p:nvPr/>
        </p:nvSpPr>
        <p:spPr>
          <a:xfrm>
            <a:off x="4196364" y="4047409"/>
            <a:ext cx="1813621" cy="241310"/>
          </a:xfrm>
          <a:prstGeom prst="roundRect">
            <a:avLst>
              <a:gd name="adj" fmla="val 28950"/>
            </a:avLst>
          </a:prstGeom>
          <a:solidFill>
            <a:srgbClr val="FFFFFF"/>
          </a:solidFill>
          <a:ln w="6350">
            <a:solidFill>
              <a:srgbClr val="24110C">
                <a:alpha val="13000"/>
              </a:srgbClr>
            </a:solidFill>
            <a:prstDash val="solid"/>
          </a:ln>
        </p:spPr>
      </p:sp>
      <p:sp>
        <p:nvSpPr>
          <p:cNvPr id="85" name="Text 73"/>
          <p:cNvSpPr txBox="1"/>
          <p:nvPr/>
        </p:nvSpPr>
        <p:spPr>
          <a:xfrm>
            <a:off x="4278935" y="4107759"/>
            <a:ext cx="1871777"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Sees only the facts of one problem</a:t>
            </a:r>
            <a:endParaRPr lang="en-US" sz="775" dirty="0"/>
          </a:p>
        </p:txBody>
      </p:sp>
      <p:sp>
        <p:nvSpPr>
          <p:cNvPr id="86" name="Shape 74"/>
          <p:cNvSpPr/>
          <p:nvPr/>
        </p:nvSpPr>
        <p:spPr>
          <a:xfrm>
            <a:off x="2495580" y="4345869"/>
            <a:ext cx="1442832" cy="234909"/>
          </a:xfrm>
          <a:prstGeom prst="roundRect">
            <a:avLst>
              <a:gd name="adj" fmla="val 29739"/>
            </a:avLst>
          </a:prstGeom>
          <a:solidFill>
            <a:srgbClr val="FFFFFF"/>
          </a:solidFill>
          <a:ln w="6350">
            <a:solidFill>
              <a:srgbClr val="24110C">
                <a:alpha val="13000"/>
              </a:srgbClr>
            </a:solidFill>
            <a:prstDash val="solid"/>
          </a:ln>
        </p:spPr>
      </p:sp>
      <p:sp>
        <p:nvSpPr>
          <p:cNvPr id="87" name="Text 75"/>
          <p:cNvSpPr txBox="1"/>
          <p:nvPr/>
        </p:nvSpPr>
        <p:spPr>
          <a:xfrm>
            <a:off x="2578059" y="4403019"/>
            <a:ext cx="834756"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Saved answers</a:t>
            </a:r>
            <a:endParaRPr lang="en-US" sz="775" dirty="0"/>
          </a:p>
        </p:txBody>
      </p:sp>
      <p:sp>
        <p:nvSpPr>
          <p:cNvPr id="88" name="Text 76"/>
          <p:cNvSpPr txBox="1"/>
          <p:nvPr/>
        </p:nvSpPr>
        <p:spPr>
          <a:xfrm>
            <a:off x="3351550" y="4412529"/>
            <a:ext cx="590245"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works offline</a:t>
            </a:r>
            <a:endParaRPr lang="en-US" sz="650" dirty="0"/>
          </a:p>
        </p:txBody>
      </p:sp>
      <p:sp>
        <p:nvSpPr>
          <p:cNvPr id="89" name="Shape 77"/>
          <p:cNvSpPr/>
          <p:nvPr/>
        </p:nvSpPr>
        <p:spPr>
          <a:xfrm>
            <a:off x="3995562" y="4345869"/>
            <a:ext cx="1584747" cy="234909"/>
          </a:xfrm>
          <a:prstGeom prst="roundRect">
            <a:avLst>
              <a:gd name="adj" fmla="val 29739"/>
            </a:avLst>
          </a:prstGeom>
          <a:solidFill>
            <a:srgbClr val="FFFFFF"/>
          </a:solidFill>
          <a:ln w="6350">
            <a:solidFill>
              <a:srgbClr val="24110C">
                <a:alpha val="13000"/>
              </a:srgbClr>
            </a:solidFill>
            <a:prstDash val="solid"/>
          </a:ln>
        </p:spPr>
      </p:sp>
      <p:sp>
        <p:nvSpPr>
          <p:cNvPr id="90" name="Text 78"/>
          <p:cNvSpPr txBox="1"/>
          <p:nvPr/>
        </p:nvSpPr>
        <p:spPr>
          <a:xfrm>
            <a:off x="4078133" y="4403019"/>
            <a:ext cx="1615379"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Human approves every action</a:t>
            </a:r>
            <a:endParaRPr lang="en-US" sz="775" dirty="0"/>
          </a:p>
        </p:txBody>
      </p:sp>
      <p:sp>
        <p:nvSpPr>
          <p:cNvPr id="91" name="Text 79"/>
          <p:cNvSpPr txBox="1"/>
          <p:nvPr/>
        </p:nvSpPr>
        <p:spPr>
          <a:xfrm>
            <a:off x="1060430" y="4916820"/>
            <a:ext cx="647944" cy="114300"/>
          </a:xfrm>
          <a:prstGeom prst="rect">
            <a:avLst/>
          </a:prstGeom>
          <a:noFill/>
          <a:ln/>
        </p:spPr>
        <p:txBody>
          <a:bodyPr wrap="none" lIns="0" tIns="0" rIns="0" bIns="0" rtlCol="0" anchor="t"/>
          <a:lstStyle/>
          <a:p>
            <a:pPr algn="l" indent="0" marL="0">
              <a:buNone/>
            </a:pPr>
            <a:r>
              <a:rPr lang="en-US" sz="1000" b="1" dirty="0">
                <a:solidFill>
                  <a:srgbClr val="24110C"/>
                </a:solidFill>
                <a:latin typeface="League Spartan" pitchFamily="34" charset="0"/>
                <a:ea typeface="League Spartan" pitchFamily="34" charset="-122"/>
                <a:cs typeface="League Spartan" pitchFamily="34" charset="-120"/>
              </a:rPr>
              <a:t>Reliability</a:t>
            </a:r>
            <a:endParaRPr lang="en-US" sz="1000" dirty="0"/>
          </a:p>
        </p:txBody>
      </p:sp>
      <p:sp>
        <p:nvSpPr>
          <p:cNvPr id="92" name="Text 80"/>
          <p:cNvSpPr txBox="1"/>
          <p:nvPr/>
        </p:nvSpPr>
        <p:spPr>
          <a:xfrm>
            <a:off x="1060430" y="5069159"/>
            <a:ext cx="1248522" cy="107991"/>
          </a:xfrm>
          <a:prstGeom prst="rect">
            <a:avLst/>
          </a:prstGeom>
          <a:noFill/>
          <a:ln/>
        </p:spPr>
        <p:txBody>
          <a:bodyPr wrap="none" lIns="0" tIns="0" rIns="0" bIns="0" rtlCol="0" anchor="t"/>
          <a:lstStyle/>
          <a:p>
            <a:pPr algn="l" indent="0" marL="0">
              <a:buNone/>
            </a:pPr>
            <a:r>
              <a:rPr lang="en-US" sz="700" dirty="0">
                <a:solidFill>
                  <a:srgbClr val="8C7368"/>
                </a:solidFill>
                <a:latin typeface="Inter" pitchFamily="34" charset="0"/>
                <a:ea typeface="Inter" pitchFamily="34" charset="-122"/>
                <a:cs typeface="Inter" pitchFamily="34" charset="-120"/>
              </a:rPr>
              <a:t>so the demo never breaks</a:t>
            </a:r>
            <a:endParaRPr lang="en-US" sz="700" dirty="0"/>
          </a:p>
        </p:txBody>
      </p:sp>
      <p:sp>
        <p:nvSpPr>
          <p:cNvPr id="93" name="Shape 81"/>
          <p:cNvSpPr/>
          <p:nvPr/>
        </p:nvSpPr>
        <p:spPr>
          <a:xfrm>
            <a:off x="2495580" y="4792919"/>
            <a:ext cx="1311341" cy="241310"/>
          </a:xfrm>
          <a:prstGeom prst="roundRect">
            <a:avLst>
              <a:gd name="adj" fmla="val 28950"/>
            </a:avLst>
          </a:prstGeom>
          <a:solidFill>
            <a:srgbClr val="FFFFFF"/>
          </a:solidFill>
          <a:ln w="6350">
            <a:solidFill>
              <a:srgbClr val="24110C">
                <a:alpha val="13000"/>
              </a:srgbClr>
            </a:solidFill>
            <a:prstDash val="solid"/>
          </a:ln>
        </p:spPr>
      </p:sp>
      <p:sp>
        <p:nvSpPr>
          <p:cNvPr id="94" name="Text 82"/>
          <p:cNvSpPr txBox="1"/>
          <p:nvPr/>
        </p:nvSpPr>
        <p:spPr>
          <a:xfrm>
            <a:off x="2755910" y="4853269"/>
            <a:ext cx="405628"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Docker</a:t>
            </a:r>
            <a:endParaRPr lang="en-US" sz="775" dirty="0"/>
          </a:p>
        </p:txBody>
      </p:sp>
      <p:pic>
        <p:nvPicPr>
          <p:cNvPr id="95" name="Image 10" descr="D:\Projects\20. fintechthon\deck\out\assets\s6_img077.png">    </p:cNvPr>
          <p:cNvPicPr>
            <a:picLocks noChangeAspect="1"/>
          </p:cNvPicPr>
          <p:nvPr/>
        </p:nvPicPr>
        <p:blipFill>
          <a:blip r:embed="rId11"/>
          <a:stretch>
            <a:fillRect/>
          </a:stretch>
        </p:blipFill>
        <p:spPr>
          <a:xfrm>
            <a:off x="2571750" y="4843760"/>
            <a:ext cx="139720" cy="139720"/>
          </a:xfrm>
          <a:prstGeom prst="rect">
            <a:avLst/>
          </a:prstGeom>
        </p:spPr>
      </p:pic>
      <p:sp>
        <p:nvSpPr>
          <p:cNvPr id="96" name="Text 83"/>
          <p:cNvSpPr txBox="1"/>
          <p:nvPr/>
        </p:nvSpPr>
        <p:spPr>
          <a:xfrm>
            <a:off x="3146268" y="4862779"/>
            <a:ext cx="672907"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runs anywhere</a:t>
            </a:r>
            <a:endParaRPr lang="en-US" sz="650" dirty="0"/>
          </a:p>
        </p:txBody>
      </p:sp>
      <p:sp>
        <p:nvSpPr>
          <p:cNvPr id="97" name="Shape 84"/>
          <p:cNvSpPr/>
          <p:nvPr/>
        </p:nvSpPr>
        <p:spPr>
          <a:xfrm>
            <a:off x="3864072" y="4792919"/>
            <a:ext cx="1248065" cy="241310"/>
          </a:xfrm>
          <a:prstGeom prst="roundRect">
            <a:avLst>
              <a:gd name="adj" fmla="val 28950"/>
            </a:avLst>
          </a:prstGeom>
          <a:solidFill>
            <a:srgbClr val="FFFFFF"/>
          </a:solidFill>
          <a:ln w="6350">
            <a:solidFill>
              <a:srgbClr val="24110C">
                <a:alpha val="13000"/>
              </a:srgbClr>
            </a:solidFill>
            <a:prstDash val="solid"/>
          </a:ln>
        </p:spPr>
      </p:sp>
      <p:sp>
        <p:nvSpPr>
          <p:cNvPr id="98" name="Text 85"/>
          <p:cNvSpPr txBox="1"/>
          <p:nvPr/>
        </p:nvSpPr>
        <p:spPr>
          <a:xfrm>
            <a:off x="3946642" y="4853269"/>
            <a:ext cx="361371"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pytest</a:t>
            </a:r>
            <a:endParaRPr lang="en-US" sz="775" dirty="0"/>
          </a:p>
        </p:txBody>
      </p:sp>
      <p:sp>
        <p:nvSpPr>
          <p:cNvPr id="99" name="Text 86"/>
          <p:cNvSpPr txBox="1"/>
          <p:nvPr/>
        </p:nvSpPr>
        <p:spPr>
          <a:xfrm>
            <a:off x="4297406" y="4862779"/>
            <a:ext cx="845546"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tests for every rule</a:t>
            </a:r>
            <a:endParaRPr lang="en-US" sz="650" dirty="0"/>
          </a:p>
        </p:txBody>
      </p:sp>
      <p:sp>
        <p:nvSpPr>
          <p:cNvPr id="100" name="Shape 87"/>
          <p:cNvSpPr/>
          <p:nvPr/>
        </p:nvSpPr>
        <p:spPr>
          <a:xfrm>
            <a:off x="5169286" y="4792919"/>
            <a:ext cx="1663202" cy="241310"/>
          </a:xfrm>
          <a:prstGeom prst="roundRect">
            <a:avLst>
              <a:gd name="adj" fmla="val 28950"/>
            </a:avLst>
          </a:prstGeom>
          <a:solidFill>
            <a:srgbClr val="FFFFFF"/>
          </a:solidFill>
          <a:ln w="6350">
            <a:solidFill>
              <a:srgbClr val="24110C">
                <a:alpha val="13000"/>
              </a:srgbClr>
            </a:solidFill>
            <a:prstDash val="solid"/>
          </a:ln>
        </p:spPr>
      </p:sp>
      <p:sp>
        <p:nvSpPr>
          <p:cNvPr id="101" name="Text 88"/>
          <p:cNvSpPr txBox="1"/>
          <p:nvPr/>
        </p:nvSpPr>
        <p:spPr>
          <a:xfrm>
            <a:off x="5251856" y="4853269"/>
            <a:ext cx="592897"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Playwright</a:t>
            </a:r>
            <a:endParaRPr lang="en-US" sz="775" dirty="0"/>
          </a:p>
        </p:txBody>
      </p:sp>
      <p:sp>
        <p:nvSpPr>
          <p:cNvPr id="102" name="Text 89"/>
          <p:cNvSpPr txBox="1"/>
          <p:nvPr/>
        </p:nvSpPr>
        <p:spPr>
          <a:xfrm>
            <a:off x="5809366" y="4862779"/>
            <a:ext cx="1078901" cy="101590"/>
          </a:xfrm>
          <a:prstGeom prst="rect">
            <a:avLst/>
          </a:prstGeom>
          <a:noFill/>
          <a:ln/>
        </p:spPr>
        <p:txBody>
          <a:bodyPr wrap="none" lIns="0" tIns="0" rIns="0" bIns="0" rtlCol="0" anchor="t"/>
          <a:lstStyle/>
          <a:p>
            <a:pPr algn="l" indent="0" marL="0">
              <a:buNone/>
            </a:pPr>
            <a:r>
              <a:rPr lang="en-US" sz="650" dirty="0">
                <a:solidFill>
                  <a:srgbClr val="8C7368"/>
                </a:solidFill>
                <a:latin typeface="Inter" pitchFamily="34" charset="0"/>
                <a:ea typeface="Inter" pitchFamily="34" charset="-122"/>
                <a:cs typeface="Inter" pitchFamily="34" charset="-120"/>
              </a:rPr>
              <a:t>clicks through the demo</a:t>
            </a:r>
            <a:endParaRPr lang="en-US" sz="650" dirty="0"/>
          </a:p>
        </p:txBody>
      </p:sp>
      <p:sp>
        <p:nvSpPr>
          <p:cNvPr id="103" name="Shape 90"/>
          <p:cNvSpPr/>
          <p:nvPr/>
        </p:nvSpPr>
        <p:spPr>
          <a:xfrm>
            <a:off x="2495580" y="5091379"/>
            <a:ext cx="1069208" cy="234909"/>
          </a:xfrm>
          <a:prstGeom prst="roundRect">
            <a:avLst>
              <a:gd name="adj" fmla="val 29739"/>
            </a:avLst>
          </a:prstGeom>
          <a:solidFill>
            <a:srgbClr val="FFFFFF"/>
          </a:solidFill>
          <a:ln w="6350">
            <a:solidFill>
              <a:srgbClr val="24110C">
                <a:alpha val="13000"/>
              </a:srgbClr>
            </a:solidFill>
            <a:prstDash val="solid"/>
          </a:ln>
        </p:spPr>
      </p:sp>
      <p:sp>
        <p:nvSpPr>
          <p:cNvPr id="104" name="Text 91"/>
          <p:cNvSpPr txBox="1"/>
          <p:nvPr/>
        </p:nvSpPr>
        <p:spPr>
          <a:xfrm>
            <a:off x="2578059" y="5148529"/>
            <a:ext cx="1037935" cy="120609"/>
          </a:xfrm>
          <a:prstGeom prst="rect">
            <a:avLst/>
          </a:prstGeom>
          <a:noFill/>
          <a:ln/>
        </p:spPr>
        <p:txBody>
          <a:bodyPr wrap="none" lIns="0" tIns="0" rIns="0" bIns="0" rtlCol="0" anchor="t"/>
          <a:lstStyle/>
          <a:p>
            <a:pPr algn="l" indent="0" marL="0">
              <a:buNone/>
            </a:pPr>
            <a:r>
              <a:rPr lang="en-US" sz="775" dirty="0">
                <a:solidFill>
                  <a:srgbClr val="24110C"/>
                </a:solidFill>
                <a:latin typeface="Inter SemiBold" pitchFamily="34" charset="0"/>
                <a:ea typeface="Inter SemiBold" pitchFamily="34" charset="-122"/>
                <a:cs typeface="Inter SemiBold" pitchFamily="34" charset="-120"/>
              </a:rPr>
              <a:t>Offline demo mode</a:t>
            </a:r>
            <a:endParaRPr lang="en-US" sz="775" dirty="0"/>
          </a:p>
        </p:txBody>
      </p:sp>
      <p:sp>
        <p:nvSpPr>
          <p:cNvPr id="105" name="Shape 92"/>
          <p:cNvSpPr/>
          <p:nvPr/>
        </p:nvSpPr>
        <p:spPr>
          <a:xfrm>
            <a:off x="7429500" y="1663659"/>
            <a:ext cx="3873490" cy="3810030"/>
          </a:xfrm>
          <a:prstGeom prst="roundRect">
            <a:avLst>
              <a:gd name="adj" fmla="val 3000"/>
            </a:avLst>
          </a:prstGeom>
          <a:solidFill>
            <a:srgbClr val="24110C"/>
          </a:solidFill>
          <a:ln/>
        </p:spPr>
      </p:sp>
      <p:sp>
        <p:nvSpPr>
          <p:cNvPr id="106" name="Text 93"/>
          <p:cNvSpPr txBox="1"/>
          <p:nvPr/>
        </p:nvSpPr>
        <p:spPr>
          <a:xfrm>
            <a:off x="7810530" y="1791950"/>
            <a:ext cx="2531242" cy="139720"/>
          </a:xfrm>
          <a:prstGeom prst="rect">
            <a:avLst/>
          </a:prstGeom>
          <a:noFill/>
          <a:ln/>
        </p:spPr>
        <p:txBody>
          <a:bodyPr wrap="none" lIns="0" tIns="0" rIns="0" bIns="0" rtlCol="0" anchor="t"/>
          <a:lstStyle/>
          <a:p>
            <a:pPr algn="l" indent="0" marL="0">
              <a:buNone/>
            </a:pPr>
            <a:r>
              <a:rPr lang="en-US" sz="1200" b="1" dirty="0">
                <a:solidFill>
                  <a:srgbClr val="FFFFFF"/>
                </a:solidFill>
                <a:latin typeface="League Spartan" pitchFamily="34" charset="0"/>
                <a:ea typeface="League Spartan" pitchFamily="34" charset="-122"/>
                <a:cs typeface="League Spartan" pitchFamily="34" charset="-120"/>
              </a:rPr>
              <a:t>Test data that knows the answers</a:t>
            </a:r>
            <a:endParaRPr lang="en-US" sz="1200" dirty="0"/>
          </a:p>
        </p:txBody>
      </p:sp>
      <p:pic>
        <p:nvPicPr>
          <p:cNvPr id="107" name="Image 11" descr="D:\Projects\20. fintechthon\deck\out\assets\s6_img078.png">    </p:cNvPr>
          <p:cNvPicPr>
            <a:picLocks noChangeAspect="1"/>
          </p:cNvPicPr>
          <p:nvPr/>
        </p:nvPicPr>
        <p:blipFill>
          <a:blip r:embed="rId12"/>
          <a:stretch>
            <a:fillRect/>
          </a:stretch>
        </p:blipFill>
        <p:spPr>
          <a:xfrm>
            <a:off x="7588240" y="1809780"/>
            <a:ext cx="165141" cy="165141"/>
          </a:xfrm>
          <a:prstGeom prst="rect">
            <a:avLst/>
          </a:prstGeom>
        </p:spPr>
      </p:pic>
      <p:sp>
        <p:nvSpPr>
          <p:cNvPr id="108" name="Text 94"/>
          <p:cNvSpPr txBox="1"/>
          <p:nvPr/>
        </p:nvSpPr>
        <p:spPr>
          <a:xfrm>
            <a:off x="7594641" y="2014606"/>
            <a:ext cx="3543300" cy="428122"/>
          </a:xfrm>
          <a:prstGeom prst="rect">
            <a:avLst/>
          </a:prstGeom>
          <a:noFill/>
          <a:ln/>
        </p:spPr>
        <p:txBody>
          <a:bodyPr wrap="square" lIns="0" tIns="0" rIns="0" bIns="0" rtlCol="0" anchor="t"/>
          <a:lstStyle/>
          <a:p>
            <a:pPr algn="l" indent="0" marL="0">
              <a:lnSpc>
                <a:spcPts val="1124"/>
              </a:lnSpc>
              <a:buNone/>
            </a:pPr>
            <a:r>
              <a:rPr lang="en-US" sz="775" dirty="0">
                <a:solidFill>
                  <a:srgbClr val="E0CFC6"/>
                </a:solidFill>
                <a:latin typeface="Inter" pitchFamily="34" charset="0"/>
                <a:ea typeface="Inter" pitchFamily="34" charset="-122"/>
                <a:cs typeface="Inter" pitchFamily="34" charset="-120"/>
              </a:rPr>
              <a:t>A full year (FY 2025-26) of books for a fictional trading company. Mistakes are planted on purpose and recorded, so we can count exactly what we catch and what we miss.</a:t>
            </a:r>
            <a:endParaRPr lang="en-US" sz="775" dirty="0"/>
          </a:p>
        </p:txBody>
      </p:sp>
      <p:sp>
        <p:nvSpPr>
          <p:cNvPr id="109" name="Shape 95"/>
          <p:cNvSpPr/>
          <p:nvPr/>
        </p:nvSpPr>
        <p:spPr>
          <a:xfrm>
            <a:off x="7594641" y="2548890"/>
            <a:ext cx="1138702" cy="406359"/>
          </a:xfrm>
          <a:prstGeom prst="roundRect">
            <a:avLst>
              <a:gd name="adj" fmla="val 18744"/>
            </a:avLst>
          </a:prstGeom>
          <a:solidFill>
            <a:srgbClr val="3A2A23"/>
          </a:solidFill>
          <a:ln/>
        </p:spPr>
      </p:sp>
      <p:sp>
        <p:nvSpPr>
          <p:cNvPr id="110" name="Text 96"/>
          <p:cNvSpPr txBox="1"/>
          <p:nvPr/>
        </p:nvSpPr>
        <p:spPr>
          <a:xfrm>
            <a:off x="7670810" y="2574310"/>
            <a:ext cx="515539" cy="177759"/>
          </a:xfrm>
          <a:prstGeom prst="rect">
            <a:avLst/>
          </a:prstGeom>
          <a:noFill/>
          <a:ln/>
        </p:spPr>
        <p:txBody>
          <a:bodyPr wrap="none" lIns="0" tIns="0" rIns="0" bIns="0" rtlCol="0" anchor="t"/>
          <a:lstStyle/>
          <a:p>
            <a:pPr algn="l" indent="0" marL="0">
              <a:buNone/>
            </a:pPr>
            <a:r>
              <a:rPr lang="en-US" sz="1500" dirty="0">
                <a:solidFill>
                  <a:srgbClr val="F7A766"/>
                </a:solidFill>
                <a:latin typeface="League Spartan ExtraBold" pitchFamily="34" charset="0"/>
                <a:ea typeface="League Spartan ExtraBold" pitchFamily="34" charset="-122"/>
                <a:cs typeface="League Spartan ExtraBold" pitchFamily="34" charset="-120"/>
              </a:rPr>
              <a:t>5,197</a:t>
            </a:r>
            <a:endParaRPr lang="en-US" sz="1500" dirty="0"/>
          </a:p>
        </p:txBody>
      </p:sp>
      <p:sp>
        <p:nvSpPr>
          <p:cNvPr id="111" name="Text 97"/>
          <p:cNvSpPr txBox="1"/>
          <p:nvPr/>
        </p:nvSpPr>
        <p:spPr>
          <a:xfrm>
            <a:off x="7670810" y="2790200"/>
            <a:ext cx="772394"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bills and invoices</a:t>
            </a:r>
            <a:endParaRPr lang="en-US" sz="650" dirty="0"/>
          </a:p>
        </p:txBody>
      </p:sp>
      <p:sp>
        <p:nvSpPr>
          <p:cNvPr id="112" name="Shape 98"/>
          <p:cNvSpPr/>
          <p:nvPr/>
        </p:nvSpPr>
        <p:spPr>
          <a:xfrm>
            <a:off x="8796802" y="2548890"/>
            <a:ext cx="1138702" cy="406359"/>
          </a:xfrm>
          <a:prstGeom prst="roundRect">
            <a:avLst>
              <a:gd name="adj" fmla="val 18744"/>
            </a:avLst>
          </a:prstGeom>
          <a:solidFill>
            <a:srgbClr val="3A2A23"/>
          </a:solidFill>
          <a:ln/>
        </p:spPr>
      </p:sp>
      <p:sp>
        <p:nvSpPr>
          <p:cNvPr id="113" name="Text 99"/>
          <p:cNvSpPr txBox="1"/>
          <p:nvPr/>
        </p:nvSpPr>
        <p:spPr>
          <a:xfrm>
            <a:off x="8873063" y="2574310"/>
            <a:ext cx="572872" cy="177759"/>
          </a:xfrm>
          <a:prstGeom prst="rect">
            <a:avLst/>
          </a:prstGeom>
          <a:noFill/>
          <a:ln/>
        </p:spPr>
        <p:txBody>
          <a:bodyPr wrap="none" lIns="0" tIns="0" rIns="0" bIns="0" rtlCol="0" anchor="t"/>
          <a:lstStyle/>
          <a:p>
            <a:pPr algn="l" indent="0" marL="0">
              <a:buNone/>
            </a:pPr>
            <a:r>
              <a:rPr lang="en-US" sz="1500" dirty="0">
                <a:solidFill>
                  <a:srgbClr val="F7A766"/>
                </a:solidFill>
                <a:latin typeface="League Spartan ExtraBold" pitchFamily="34" charset="0"/>
                <a:ea typeface="League Spartan ExtraBold" pitchFamily="34" charset="-122"/>
                <a:cs typeface="League Spartan ExtraBold" pitchFamily="34" charset="-120"/>
              </a:rPr>
              <a:t>4,690</a:t>
            </a:r>
            <a:endParaRPr lang="en-US" sz="1500" dirty="0"/>
          </a:p>
        </p:txBody>
      </p:sp>
      <p:sp>
        <p:nvSpPr>
          <p:cNvPr id="114" name="Text 100"/>
          <p:cNvSpPr txBox="1"/>
          <p:nvPr/>
        </p:nvSpPr>
        <p:spPr>
          <a:xfrm>
            <a:off x="8873063" y="2790200"/>
            <a:ext cx="565831"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bank entries</a:t>
            </a:r>
            <a:endParaRPr lang="en-US" sz="650" dirty="0"/>
          </a:p>
        </p:txBody>
      </p:sp>
      <p:sp>
        <p:nvSpPr>
          <p:cNvPr id="115" name="Shape 101"/>
          <p:cNvSpPr/>
          <p:nvPr/>
        </p:nvSpPr>
        <p:spPr>
          <a:xfrm>
            <a:off x="9999055" y="2548890"/>
            <a:ext cx="1138702" cy="406359"/>
          </a:xfrm>
          <a:prstGeom prst="roundRect">
            <a:avLst>
              <a:gd name="adj" fmla="val 18744"/>
            </a:avLst>
          </a:prstGeom>
          <a:solidFill>
            <a:srgbClr val="3A2A23"/>
          </a:solidFill>
          <a:ln/>
        </p:spPr>
      </p:sp>
      <p:sp>
        <p:nvSpPr>
          <p:cNvPr id="116" name="Text 102"/>
          <p:cNvSpPr txBox="1"/>
          <p:nvPr/>
        </p:nvSpPr>
        <p:spPr>
          <a:xfrm>
            <a:off x="10075225" y="2574310"/>
            <a:ext cx="567385" cy="177759"/>
          </a:xfrm>
          <a:prstGeom prst="rect">
            <a:avLst/>
          </a:prstGeom>
          <a:noFill/>
          <a:ln/>
        </p:spPr>
        <p:txBody>
          <a:bodyPr wrap="none" lIns="0" tIns="0" rIns="0" bIns="0" rtlCol="0" anchor="t"/>
          <a:lstStyle/>
          <a:p>
            <a:pPr algn="l" indent="0" marL="0">
              <a:buNone/>
            </a:pPr>
            <a:r>
              <a:rPr lang="en-US" sz="1500" dirty="0">
                <a:solidFill>
                  <a:srgbClr val="F7A766"/>
                </a:solidFill>
                <a:latin typeface="League Spartan ExtraBold" pitchFamily="34" charset="0"/>
                <a:ea typeface="League Spartan ExtraBold" pitchFamily="34" charset="-122"/>
                <a:cs typeface="League Spartan ExtraBold" pitchFamily="34" charset="-120"/>
              </a:rPr>
              <a:t>9,948</a:t>
            </a:r>
            <a:endParaRPr lang="en-US" sz="1500" dirty="0"/>
          </a:p>
        </p:txBody>
      </p:sp>
      <p:sp>
        <p:nvSpPr>
          <p:cNvPr id="117" name="Text 103"/>
          <p:cNvSpPr txBox="1"/>
          <p:nvPr/>
        </p:nvSpPr>
        <p:spPr>
          <a:xfrm>
            <a:off x="10075225" y="2790200"/>
            <a:ext cx="837316"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accounting entries</a:t>
            </a:r>
            <a:endParaRPr lang="en-US" sz="650" dirty="0"/>
          </a:p>
        </p:txBody>
      </p:sp>
      <p:sp>
        <p:nvSpPr>
          <p:cNvPr id="118" name="Shape 104"/>
          <p:cNvSpPr/>
          <p:nvPr/>
        </p:nvSpPr>
        <p:spPr>
          <a:xfrm>
            <a:off x="7594641" y="3018800"/>
            <a:ext cx="1138702" cy="406359"/>
          </a:xfrm>
          <a:prstGeom prst="roundRect">
            <a:avLst>
              <a:gd name="adj" fmla="val 18744"/>
            </a:avLst>
          </a:prstGeom>
          <a:solidFill>
            <a:srgbClr val="3A2A23"/>
          </a:solidFill>
          <a:ln/>
        </p:spPr>
      </p:sp>
      <p:sp>
        <p:nvSpPr>
          <p:cNvPr id="119" name="Text 105"/>
          <p:cNvSpPr txBox="1"/>
          <p:nvPr/>
        </p:nvSpPr>
        <p:spPr>
          <a:xfrm>
            <a:off x="7670810" y="3044220"/>
            <a:ext cx="336133" cy="177759"/>
          </a:xfrm>
          <a:prstGeom prst="rect">
            <a:avLst/>
          </a:prstGeom>
          <a:noFill/>
          <a:ln/>
        </p:spPr>
        <p:txBody>
          <a:bodyPr wrap="none" lIns="0" tIns="0" rIns="0" bIns="0" rtlCol="0" anchor="t"/>
          <a:lstStyle/>
          <a:p>
            <a:pPr algn="l" indent="0" marL="0">
              <a:buNone/>
            </a:pPr>
            <a:r>
              <a:rPr lang="en-US" sz="1500" dirty="0">
                <a:solidFill>
                  <a:srgbClr val="F7A766"/>
                </a:solidFill>
                <a:latin typeface="League Spartan ExtraBold" pitchFamily="34" charset="0"/>
                <a:ea typeface="League Spartan ExtraBold" pitchFamily="34" charset="-122"/>
                <a:cs typeface="League Spartan ExtraBold" pitchFamily="34" charset="-120"/>
              </a:rPr>
              <a:t>781</a:t>
            </a:r>
            <a:endParaRPr lang="en-US" sz="1500" dirty="0"/>
          </a:p>
        </p:txBody>
      </p:sp>
      <p:sp>
        <p:nvSpPr>
          <p:cNvPr id="120" name="Text 106"/>
          <p:cNvSpPr txBox="1"/>
          <p:nvPr/>
        </p:nvSpPr>
        <p:spPr>
          <a:xfrm>
            <a:off x="7670810" y="3260110"/>
            <a:ext cx="763067"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planted mistakes</a:t>
            </a:r>
            <a:endParaRPr lang="en-US" sz="650" dirty="0"/>
          </a:p>
        </p:txBody>
      </p:sp>
      <p:sp>
        <p:nvSpPr>
          <p:cNvPr id="121" name="Shape 107"/>
          <p:cNvSpPr/>
          <p:nvPr/>
        </p:nvSpPr>
        <p:spPr>
          <a:xfrm>
            <a:off x="8796802" y="3018800"/>
            <a:ext cx="1138702" cy="406359"/>
          </a:xfrm>
          <a:prstGeom prst="roundRect">
            <a:avLst>
              <a:gd name="adj" fmla="val 18744"/>
            </a:avLst>
          </a:prstGeom>
          <a:solidFill>
            <a:srgbClr val="3A2A23"/>
          </a:solidFill>
          <a:ln/>
        </p:spPr>
      </p:sp>
      <p:sp>
        <p:nvSpPr>
          <p:cNvPr id="122" name="Text 108"/>
          <p:cNvSpPr txBox="1"/>
          <p:nvPr/>
        </p:nvSpPr>
        <p:spPr>
          <a:xfrm>
            <a:off x="8873063" y="3044220"/>
            <a:ext cx="269474" cy="177759"/>
          </a:xfrm>
          <a:prstGeom prst="rect">
            <a:avLst/>
          </a:prstGeom>
          <a:noFill/>
          <a:ln/>
        </p:spPr>
        <p:txBody>
          <a:bodyPr wrap="none" lIns="0" tIns="0" rIns="0" bIns="0" rtlCol="0" anchor="t"/>
          <a:lstStyle/>
          <a:p>
            <a:pPr algn="l" indent="0" marL="0">
              <a:buNone/>
            </a:pPr>
            <a:r>
              <a:rPr lang="en-US" sz="1500" dirty="0">
                <a:solidFill>
                  <a:srgbClr val="F7A766"/>
                </a:solidFill>
                <a:latin typeface="League Spartan ExtraBold" pitchFamily="34" charset="0"/>
                <a:ea typeface="League Spartan ExtraBold" pitchFamily="34" charset="-122"/>
                <a:cs typeface="League Spartan ExtraBold" pitchFamily="34" charset="-120"/>
              </a:rPr>
              <a:t>30</a:t>
            </a:r>
            <a:endParaRPr lang="en-US" sz="1500" dirty="0"/>
          </a:p>
        </p:txBody>
      </p:sp>
      <p:sp>
        <p:nvSpPr>
          <p:cNvPr id="123" name="Text 109"/>
          <p:cNvSpPr txBox="1"/>
          <p:nvPr/>
        </p:nvSpPr>
        <p:spPr>
          <a:xfrm>
            <a:off x="8873063" y="3260110"/>
            <a:ext cx="737555"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kinds of mistake</a:t>
            </a:r>
            <a:endParaRPr lang="en-US" sz="650" dirty="0"/>
          </a:p>
        </p:txBody>
      </p:sp>
      <p:sp>
        <p:nvSpPr>
          <p:cNvPr id="124" name="Shape 110"/>
          <p:cNvSpPr/>
          <p:nvPr/>
        </p:nvSpPr>
        <p:spPr>
          <a:xfrm>
            <a:off x="9999055" y="3018800"/>
            <a:ext cx="1138702" cy="406359"/>
          </a:xfrm>
          <a:prstGeom prst="roundRect">
            <a:avLst>
              <a:gd name="adj" fmla="val 18744"/>
            </a:avLst>
          </a:prstGeom>
          <a:solidFill>
            <a:srgbClr val="3A2A23"/>
          </a:solidFill>
          <a:ln/>
        </p:spPr>
      </p:sp>
      <p:sp>
        <p:nvSpPr>
          <p:cNvPr id="125" name="Text 111"/>
          <p:cNvSpPr txBox="1"/>
          <p:nvPr/>
        </p:nvSpPr>
        <p:spPr>
          <a:xfrm>
            <a:off x="10075225" y="3044220"/>
            <a:ext cx="518099" cy="177759"/>
          </a:xfrm>
          <a:prstGeom prst="rect">
            <a:avLst/>
          </a:prstGeom>
          <a:noFill/>
          <a:ln/>
        </p:spPr>
        <p:txBody>
          <a:bodyPr wrap="none" lIns="0" tIns="0" rIns="0" bIns="0" rtlCol="0" anchor="t"/>
          <a:lstStyle/>
          <a:p>
            <a:pPr algn="l" indent="0" marL="0">
              <a:buNone/>
            </a:pPr>
            <a:r>
              <a:rPr lang="en-US" sz="1500" dirty="0">
                <a:solidFill>
                  <a:srgbClr val="7BD3A5"/>
                </a:solidFill>
                <a:latin typeface="League Spartan ExtraBold" pitchFamily="34" charset="0"/>
                <a:ea typeface="League Spartan ExtraBold" pitchFamily="34" charset="-122"/>
                <a:cs typeface="League Spartan ExtraBold" pitchFamily="34" charset="-120"/>
              </a:rPr>
              <a:t>1,368</a:t>
            </a:r>
            <a:endParaRPr lang="en-US" sz="1500" dirty="0"/>
          </a:p>
        </p:txBody>
      </p:sp>
      <p:sp>
        <p:nvSpPr>
          <p:cNvPr id="126" name="Text 112"/>
          <p:cNvSpPr txBox="1"/>
          <p:nvPr/>
        </p:nvSpPr>
        <p:spPr>
          <a:xfrm>
            <a:off x="10075225" y="3260110"/>
            <a:ext cx="571500"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honest traps</a:t>
            </a:r>
            <a:endParaRPr lang="en-US" sz="650" dirty="0"/>
          </a:p>
        </p:txBody>
      </p:sp>
      <p:sp>
        <p:nvSpPr>
          <p:cNvPr id="127" name="Text 113"/>
          <p:cNvSpPr txBox="1"/>
          <p:nvPr/>
        </p:nvSpPr>
        <p:spPr>
          <a:xfrm>
            <a:off x="7594641" y="3473166"/>
            <a:ext cx="3543300" cy="240030"/>
          </a:xfrm>
          <a:prstGeom prst="rect">
            <a:avLst/>
          </a:prstGeom>
          <a:noFill/>
          <a:ln/>
        </p:spPr>
        <p:txBody>
          <a:bodyPr wrap="square" lIns="0" tIns="0" rIns="0" bIns="0" rtlCol="0" anchor="t"/>
          <a:lstStyle/>
          <a:p>
            <a:pPr algn="l" indent="0" marL="0">
              <a:lnSpc>
                <a:spcPts val="945"/>
              </a:lnSpc>
              <a:buNone/>
            </a:pPr>
            <a:r>
              <a:rPr lang="en-US" sz="675" b="1" dirty="0">
                <a:solidFill>
                  <a:srgbClr val="7BD3A5"/>
                </a:solidFill>
                <a:latin typeface="Inter" pitchFamily="34" charset="0"/>
                <a:ea typeface="Inter" pitchFamily="34" charset="-122"/>
                <a:cs typeface="Inter" pitchFamily="34" charset="-120"/>
              </a:rPr>
              <a:t>Honest traps</a:t>
            </a:r>
            <a:pPr algn="l" indent="0" marL="0">
              <a:lnSpc>
                <a:spcPts val="945"/>
              </a:lnSpc>
              <a:buNone/>
            </a:pPr>
            <a:r>
              <a:rPr lang="en-US" sz="675" dirty="0">
                <a:solidFill>
                  <a:srgbClr val="D6C3B9"/>
                </a:solidFill>
                <a:latin typeface="Inter" pitchFamily="34" charset="0"/>
                <a:ea typeface="Inter" pitchFamily="34" charset="-122"/>
                <a:cs typeface="Inter" pitchFamily="34" charset="-120"/>
              </a:rPr>
              <a:t> look like errors but are fine, such as bills paid in parts. A good system must leave them alone.</a:t>
            </a:r>
            <a:endParaRPr lang="en-US" sz="675" dirty="0"/>
          </a:p>
        </p:txBody>
      </p:sp>
      <p:sp>
        <p:nvSpPr>
          <p:cNvPr id="128" name="Text 114"/>
          <p:cNvSpPr txBox="1"/>
          <p:nvPr/>
        </p:nvSpPr>
        <p:spPr>
          <a:xfrm>
            <a:off x="7594641" y="3804818"/>
            <a:ext cx="1458102" cy="107991"/>
          </a:xfrm>
          <a:prstGeom prst="rect">
            <a:avLst/>
          </a:prstGeom>
          <a:noFill/>
          <a:ln/>
        </p:spPr>
        <p:txBody>
          <a:bodyPr wrap="none" lIns="0" tIns="0" rIns="0" bIns="0" rtlCol="0" anchor="t"/>
          <a:lstStyle/>
          <a:p>
            <a:pPr algn="l" indent="0" marL="0">
              <a:buNone/>
            </a:pPr>
            <a:r>
              <a:rPr lang="en-US" sz="700" dirty="0">
                <a:solidFill>
                  <a:srgbClr val="FFFFFF"/>
                </a:solidFill>
                <a:latin typeface="Inter SemiBold" pitchFamily="34" charset="0"/>
                <a:ea typeface="Inter SemiBold" pitchFamily="34" charset="-122"/>
                <a:cs typeface="Inter SemiBold" pitchFamily="34" charset="-120"/>
              </a:rPr>
              <a:t>Examples of planted mistakes</a:t>
            </a:r>
            <a:endParaRPr lang="en-US" sz="700" dirty="0"/>
          </a:p>
        </p:txBody>
      </p:sp>
      <p:sp>
        <p:nvSpPr>
          <p:cNvPr id="129" name="Shape 115"/>
          <p:cNvSpPr/>
          <p:nvPr/>
        </p:nvSpPr>
        <p:spPr>
          <a:xfrm>
            <a:off x="7594641" y="3963558"/>
            <a:ext cx="814090" cy="139720"/>
          </a:xfrm>
          <a:prstGeom prst="roundRect">
            <a:avLst>
              <a:gd name="adj" fmla="val 50000"/>
            </a:avLst>
          </a:prstGeom>
          <a:solidFill>
            <a:srgbClr val="3A2A23"/>
          </a:solidFill>
          <a:ln/>
        </p:spPr>
      </p:sp>
      <p:sp>
        <p:nvSpPr>
          <p:cNvPr id="130" name="Text 116"/>
          <p:cNvSpPr txBox="1"/>
          <p:nvPr/>
        </p:nvSpPr>
        <p:spPr>
          <a:xfrm>
            <a:off x="7658100" y="3982669"/>
            <a:ext cx="794979"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Bill entered twice</a:t>
            </a:r>
            <a:endParaRPr lang="en-US" sz="650" dirty="0"/>
          </a:p>
        </p:txBody>
      </p:sp>
      <p:sp>
        <p:nvSpPr>
          <p:cNvPr id="131" name="Shape 117"/>
          <p:cNvSpPr/>
          <p:nvPr/>
        </p:nvSpPr>
        <p:spPr>
          <a:xfrm>
            <a:off x="8446770" y="3963558"/>
            <a:ext cx="1091245" cy="139720"/>
          </a:xfrm>
          <a:prstGeom prst="roundRect">
            <a:avLst>
              <a:gd name="adj" fmla="val 50000"/>
            </a:avLst>
          </a:prstGeom>
          <a:solidFill>
            <a:srgbClr val="3A2A23"/>
          </a:solidFill>
          <a:ln/>
        </p:spPr>
      </p:sp>
      <p:sp>
        <p:nvSpPr>
          <p:cNvPr id="132" name="Text 118"/>
          <p:cNvSpPr txBox="1"/>
          <p:nvPr/>
        </p:nvSpPr>
        <p:spPr>
          <a:xfrm>
            <a:off x="8510321" y="3982669"/>
            <a:ext cx="1105327"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Old tax rate after 22 Sep</a:t>
            </a:r>
            <a:endParaRPr lang="en-US" sz="650" dirty="0"/>
          </a:p>
        </p:txBody>
      </p:sp>
      <p:sp>
        <p:nvSpPr>
          <p:cNvPr id="133" name="Shape 119"/>
          <p:cNvSpPr/>
          <p:nvPr/>
        </p:nvSpPr>
        <p:spPr>
          <a:xfrm>
            <a:off x="9576054" y="3963558"/>
            <a:ext cx="737098" cy="139720"/>
          </a:xfrm>
          <a:prstGeom prst="roundRect">
            <a:avLst>
              <a:gd name="adj" fmla="val 50000"/>
            </a:avLst>
          </a:prstGeom>
          <a:solidFill>
            <a:srgbClr val="3A2A23"/>
          </a:solidFill>
          <a:ln/>
        </p:spPr>
      </p:sp>
      <p:sp>
        <p:nvSpPr>
          <p:cNvPr id="134" name="Text 120"/>
          <p:cNvSpPr txBox="1"/>
          <p:nvPr/>
        </p:nvSpPr>
        <p:spPr>
          <a:xfrm>
            <a:off x="9639605" y="3982669"/>
            <a:ext cx="708751"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Wrong tax type</a:t>
            </a:r>
            <a:endParaRPr lang="en-US" sz="650" dirty="0"/>
          </a:p>
        </p:txBody>
      </p:sp>
      <p:sp>
        <p:nvSpPr>
          <p:cNvPr id="135" name="Shape 121"/>
          <p:cNvSpPr/>
          <p:nvPr/>
        </p:nvSpPr>
        <p:spPr>
          <a:xfrm>
            <a:off x="10351282" y="3963558"/>
            <a:ext cx="754746" cy="139720"/>
          </a:xfrm>
          <a:prstGeom prst="roundRect">
            <a:avLst>
              <a:gd name="adj" fmla="val 50000"/>
            </a:avLst>
          </a:prstGeom>
          <a:solidFill>
            <a:srgbClr val="3A2A23"/>
          </a:solidFill>
          <a:ln/>
        </p:spPr>
      </p:sp>
      <p:sp>
        <p:nvSpPr>
          <p:cNvPr id="136" name="Text 122"/>
          <p:cNvSpPr txBox="1"/>
          <p:nvPr/>
        </p:nvSpPr>
        <p:spPr>
          <a:xfrm>
            <a:off x="10414833" y="3982669"/>
            <a:ext cx="728502"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Tax maths error</a:t>
            </a:r>
            <a:endParaRPr lang="en-US" sz="650" dirty="0"/>
          </a:p>
        </p:txBody>
      </p:sp>
      <p:sp>
        <p:nvSpPr>
          <p:cNvPr id="137" name="Shape 123"/>
          <p:cNvSpPr/>
          <p:nvPr/>
        </p:nvSpPr>
        <p:spPr>
          <a:xfrm>
            <a:off x="7594641" y="4141409"/>
            <a:ext cx="777606" cy="139720"/>
          </a:xfrm>
          <a:prstGeom prst="roundRect">
            <a:avLst>
              <a:gd name="adj" fmla="val 50000"/>
            </a:avLst>
          </a:prstGeom>
          <a:solidFill>
            <a:srgbClr val="3A2A23"/>
          </a:solidFill>
          <a:ln/>
        </p:spPr>
      </p:sp>
      <p:sp>
        <p:nvSpPr>
          <p:cNvPr id="138" name="Text 124"/>
          <p:cNvSpPr txBox="1"/>
          <p:nvPr/>
        </p:nvSpPr>
        <p:spPr>
          <a:xfrm>
            <a:off x="7658100" y="4160429"/>
            <a:ext cx="754014"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Bill number typo</a:t>
            </a:r>
            <a:endParaRPr lang="en-US" sz="650" dirty="0"/>
          </a:p>
        </p:txBody>
      </p:sp>
      <p:sp>
        <p:nvSpPr>
          <p:cNvPr id="139" name="Shape 125"/>
          <p:cNvSpPr/>
          <p:nvPr/>
        </p:nvSpPr>
        <p:spPr>
          <a:xfrm>
            <a:off x="8410285" y="4141409"/>
            <a:ext cx="671078" cy="139720"/>
          </a:xfrm>
          <a:prstGeom prst="roundRect">
            <a:avLst>
              <a:gd name="adj" fmla="val 50000"/>
            </a:avLst>
          </a:prstGeom>
          <a:solidFill>
            <a:srgbClr val="3A2A23"/>
          </a:solidFill>
          <a:ln/>
        </p:spPr>
      </p:sp>
      <p:sp>
        <p:nvSpPr>
          <p:cNvPr id="140" name="Text 126"/>
          <p:cNvSpPr txBox="1"/>
          <p:nvPr/>
        </p:nvSpPr>
        <p:spPr>
          <a:xfrm>
            <a:off x="8473745" y="4160429"/>
            <a:ext cx="634776"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Missing entry</a:t>
            </a:r>
            <a:endParaRPr lang="en-US" sz="650" dirty="0"/>
          </a:p>
        </p:txBody>
      </p:sp>
      <p:sp>
        <p:nvSpPr>
          <p:cNvPr id="141" name="Shape 127"/>
          <p:cNvSpPr/>
          <p:nvPr/>
        </p:nvSpPr>
        <p:spPr>
          <a:xfrm>
            <a:off x="9119494" y="4141409"/>
            <a:ext cx="927202" cy="139720"/>
          </a:xfrm>
          <a:prstGeom prst="roundRect">
            <a:avLst>
              <a:gd name="adj" fmla="val 50000"/>
            </a:avLst>
          </a:prstGeom>
          <a:solidFill>
            <a:srgbClr val="3A2A23"/>
          </a:solidFill>
          <a:ln/>
        </p:spPr>
      </p:sp>
      <p:sp>
        <p:nvSpPr>
          <p:cNvPr id="142" name="Text 128"/>
          <p:cNvSpPr txBox="1"/>
          <p:nvPr/>
        </p:nvSpPr>
        <p:spPr>
          <a:xfrm>
            <a:off x="9182953" y="4160429"/>
            <a:ext cx="921624"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Payment with no bill</a:t>
            </a:r>
            <a:endParaRPr lang="en-US" sz="650" dirty="0"/>
          </a:p>
        </p:txBody>
      </p:sp>
      <p:sp>
        <p:nvSpPr>
          <p:cNvPr id="143" name="Shape 129"/>
          <p:cNvSpPr/>
          <p:nvPr/>
        </p:nvSpPr>
        <p:spPr>
          <a:xfrm>
            <a:off x="10084826" y="4141409"/>
            <a:ext cx="995507" cy="139720"/>
          </a:xfrm>
          <a:prstGeom prst="roundRect">
            <a:avLst>
              <a:gd name="adj" fmla="val 50000"/>
            </a:avLst>
          </a:prstGeom>
          <a:solidFill>
            <a:srgbClr val="3A2A23"/>
          </a:solidFill>
          <a:ln/>
        </p:spPr>
      </p:sp>
      <p:sp>
        <p:nvSpPr>
          <p:cNvPr id="144" name="Text 130"/>
          <p:cNvSpPr txBox="1"/>
          <p:nvPr/>
        </p:nvSpPr>
        <p:spPr>
          <a:xfrm>
            <a:off x="10148286" y="4160429"/>
            <a:ext cx="998068"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Money sent in a circle</a:t>
            </a:r>
            <a:endParaRPr lang="en-US" sz="650" dirty="0"/>
          </a:p>
        </p:txBody>
      </p:sp>
      <p:sp>
        <p:nvSpPr>
          <p:cNvPr id="145" name="Shape 131"/>
          <p:cNvSpPr/>
          <p:nvPr/>
        </p:nvSpPr>
        <p:spPr>
          <a:xfrm>
            <a:off x="7594641" y="4319168"/>
            <a:ext cx="1089325" cy="139720"/>
          </a:xfrm>
          <a:prstGeom prst="roundRect">
            <a:avLst>
              <a:gd name="adj" fmla="val 50000"/>
            </a:avLst>
          </a:prstGeom>
          <a:solidFill>
            <a:srgbClr val="3A2A23"/>
          </a:solidFill>
          <a:ln/>
        </p:spPr>
      </p:sp>
      <p:sp>
        <p:nvSpPr>
          <p:cNvPr id="146" name="Text 132"/>
          <p:cNvSpPr txBox="1"/>
          <p:nvPr/>
        </p:nvSpPr>
        <p:spPr>
          <a:xfrm>
            <a:off x="7658100" y="4338279"/>
            <a:ext cx="1103224"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Bills split to dodge limits</a:t>
            </a:r>
            <a:endParaRPr lang="en-US" sz="650" dirty="0"/>
          </a:p>
        </p:txBody>
      </p:sp>
      <p:sp>
        <p:nvSpPr>
          <p:cNvPr id="147" name="Shape 133"/>
          <p:cNvSpPr/>
          <p:nvPr/>
        </p:nvSpPr>
        <p:spPr>
          <a:xfrm>
            <a:off x="8722004" y="4319168"/>
            <a:ext cx="664769" cy="139720"/>
          </a:xfrm>
          <a:prstGeom prst="roundRect">
            <a:avLst>
              <a:gd name="adj" fmla="val 50000"/>
            </a:avLst>
          </a:prstGeom>
          <a:solidFill>
            <a:srgbClr val="3A2A23"/>
          </a:solidFill>
          <a:ln/>
        </p:spPr>
      </p:sp>
      <p:sp>
        <p:nvSpPr>
          <p:cNvPr id="148" name="Text 134"/>
          <p:cNvSpPr txBox="1"/>
          <p:nvPr/>
        </p:nvSpPr>
        <p:spPr>
          <a:xfrm>
            <a:off x="8785555" y="4338279"/>
            <a:ext cx="627736"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Invalid GSTIN</a:t>
            </a:r>
            <a:endParaRPr lang="en-US" sz="650" dirty="0"/>
          </a:p>
        </p:txBody>
      </p:sp>
      <p:sp>
        <p:nvSpPr>
          <p:cNvPr id="149" name="Shape 135"/>
          <p:cNvSpPr/>
          <p:nvPr/>
        </p:nvSpPr>
        <p:spPr>
          <a:xfrm>
            <a:off x="9424904" y="4319168"/>
            <a:ext cx="916595" cy="139720"/>
          </a:xfrm>
          <a:prstGeom prst="roundRect">
            <a:avLst>
              <a:gd name="adj" fmla="val 50000"/>
            </a:avLst>
          </a:prstGeom>
          <a:solidFill>
            <a:srgbClr val="3A2A23"/>
          </a:solidFill>
          <a:ln/>
        </p:spPr>
      </p:sp>
      <p:sp>
        <p:nvSpPr>
          <p:cNvPr id="150" name="Text 136"/>
          <p:cNvSpPr txBox="1"/>
          <p:nvPr/>
        </p:nvSpPr>
        <p:spPr>
          <a:xfrm>
            <a:off x="9488363" y="4338279"/>
            <a:ext cx="909737" cy="101590"/>
          </a:xfrm>
          <a:prstGeom prst="rect">
            <a:avLst/>
          </a:prstGeom>
          <a:noFill/>
          <a:ln/>
        </p:spPr>
        <p:txBody>
          <a:bodyPr wrap="none" lIns="0" tIns="0" rIns="0" bIns="0" rtlCol="0" anchor="t"/>
          <a:lstStyle/>
          <a:p>
            <a:pPr algn="l" indent="0" marL="0">
              <a:buNone/>
            </a:pPr>
            <a:r>
              <a:rPr lang="en-US" sz="650" dirty="0">
                <a:solidFill>
                  <a:srgbClr val="F3E6DE"/>
                </a:solidFill>
                <a:latin typeface="Inter SemiBold" pitchFamily="34" charset="0"/>
                <a:ea typeface="Inter SemiBold" pitchFamily="34" charset="-122"/>
                <a:cs typeface="Inter SemiBold" pitchFamily="34" charset="-120"/>
              </a:rPr>
              <a:t>Credit over-claimed</a:t>
            </a:r>
            <a:endParaRPr lang="en-US" sz="650" dirty="0"/>
          </a:p>
        </p:txBody>
      </p:sp>
      <p:sp>
        <p:nvSpPr>
          <p:cNvPr id="151" name="Text 137"/>
          <p:cNvSpPr txBox="1"/>
          <p:nvPr/>
        </p:nvSpPr>
        <p:spPr>
          <a:xfrm>
            <a:off x="7594641" y="4530120"/>
            <a:ext cx="3543300" cy="248625"/>
          </a:xfrm>
          <a:prstGeom prst="rect">
            <a:avLst/>
          </a:prstGeom>
          <a:noFill/>
          <a:ln/>
        </p:spPr>
        <p:txBody>
          <a:bodyPr wrap="square" lIns="0" tIns="0" rIns="0" bIns="0" rtlCol="0" anchor="t"/>
          <a:lstStyle/>
          <a:p>
            <a:pPr algn="l" indent="0" marL="0">
              <a:lnSpc>
                <a:spcPts val="979"/>
              </a:lnSpc>
              <a:buNone/>
            </a:pPr>
            <a:r>
              <a:rPr lang="en-US" sz="675" dirty="0">
                <a:solidFill>
                  <a:srgbClr val="D6C3B9"/>
                </a:solidFill>
                <a:latin typeface="Inter" pitchFamily="34" charset="0"/>
                <a:ea typeface="Inter" pitchFamily="34" charset="-122"/>
                <a:cs typeface="Inter" pitchFamily="34" charset="-120"/>
              </a:rPr>
              <a:t>We add supplier filings (GSTR-2B) on top, so missing supplier reports and unclaimed credit can be tested too. Tax rates follow the official CBIC schedule.</a:t>
            </a:r>
            <a:endParaRPr lang="en-US" sz="675" dirty="0"/>
          </a:p>
        </p:txBody>
      </p:sp>
      <p:sp>
        <p:nvSpPr>
          <p:cNvPr id="152" name="Shape 138"/>
          <p:cNvSpPr/>
          <p:nvPr/>
        </p:nvSpPr>
        <p:spPr>
          <a:xfrm>
            <a:off x="7594641" y="4984760"/>
            <a:ext cx="1739920" cy="349209"/>
          </a:xfrm>
          <a:prstGeom prst="roundRect">
            <a:avLst>
              <a:gd name="adj" fmla="val 21812"/>
            </a:avLst>
          </a:prstGeom>
          <a:ln w="6350">
            <a:solidFill>
              <a:srgbClr val="4C3830"/>
            </a:solidFill>
            <a:prstDash val="solid"/>
          </a:ln>
        </p:spPr>
      </p:sp>
      <p:sp>
        <p:nvSpPr>
          <p:cNvPr id="153" name="Text 139"/>
          <p:cNvSpPr txBox="1"/>
          <p:nvPr/>
        </p:nvSpPr>
        <p:spPr>
          <a:xfrm>
            <a:off x="7677120" y="5048220"/>
            <a:ext cx="546354" cy="107991"/>
          </a:xfrm>
          <a:prstGeom prst="rect">
            <a:avLst/>
          </a:prstGeom>
          <a:noFill/>
          <a:ln/>
        </p:spPr>
        <p:txBody>
          <a:bodyPr wrap="none" lIns="0" tIns="0" rIns="0" bIns="0" rtlCol="0" anchor="t"/>
          <a:lstStyle/>
          <a:p>
            <a:pPr algn="l" indent="0" marL="0">
              <a:buNone/>
            </a:pPr>
            <a:r>
              <a:rPr lang="en-US" sz="725" b="1" dirty="0">
                <a:solidFill>
                  <a:srgbClr val="F7A766"/>
                </a:solidFill>
                <a:latin typeface="Inter" pitchFamily="34" charset="0"/>
                <a:ea typeface="Inter" pitchFamily="34" charset="-122"/>
                <a:cs typeface="Inter" pitchFamily="34" charset="-120"/>
              </a:rPr>
              <a:t>Catch rate</a:t>
            </a:r>
            <a:endParaRPr lang="en-US" sz="725" dirty="0"/>
          </a:p>
        </p:txBody>
      </p:sp>
      <p:sp>
        <p:nvSpPr>
          <p:cNvPr id="154" name="Text 140"/>
          <p:cNvSpPr txBox="1"/>
          <p:nvPr/>
        </p:nvSpPr>
        <p:spPr>
          <a:xfrm>
            <a:off x="7677120" y="5168920"/>
            <a:ext cx="1263152"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share of real mistakes found</a:t>
            </a:r>
            <a:endParaRPr lang="en-US" sz="650" dirty="0"/>
          </a:p>
        </p:txBody>
      </p:sp>
      <p:sp>
        <p:nvSpPr>
          <p:cNvPr id="155" name="Shape 141"/>
          <p:cNvSpPr/>
          <p:nvPr/>
        </p:nvSpPr>
        <p:spPr>
          <a:xfrm>
            <a:off x="9398020" y="4984760"/>
            <a:ext cx="1739920" cy="349209"/>
          </a:xfrm>
          <a:prstGeom prst="roundRect">
            <a:avLst>
              <a:gd name="adj" fmla="val 21812"/>
            </a:avLst>
          </a:prstGeom>
          <a:ln w="6350">
            <a:solidFill>
              <a:srgbClr val="4C3830"/>
            </a:solidFill>
            <a:prstDash val="solid"/>
          </a:ln>
        </p:spPr>
      </p:sp>
      <p:sp>
        <p:nvSpPr>
          <p:cNvPr id="156" name="Text 142"/>
          <p:cNvSpPr txBox="1"/>
          <p:nvPr/>
        </p:nvSpPr>
        <p:spPr>
          <a:xfrm>
            <a:off x="9480591" y="5048220"/>
            <a:ext cx="823234" cy="107991"/>
          </a:xfrm>
          <a:prstGeom prst="rect">
            <a:avLst/>
          </a:prstGeom>
          <a:noFill/>
          <a:ln/>
        </p:spPr>
        <p:txBody>
          <a:bodyPr wrap="none" lIns="0" tIns="0" rIns="0" bIns="0" rtlCol="0" anchor="t"/>
          <a:lstStyle/>
          <a:p>
            <a:pPr algn="l" indent="0" marL="0">
              <a:buNone/>
            </a:pPr>
            <a:r>
              <a:rPr lang="en-US" sz="725" b="1" dirty="0">
                <a:solidFill>
                  <a:srgbClr val="7BD3A5"/>
                </a:solidFill>
                <a:latin typeface="Inter" pitchFamily="34" charset="0"/>
                <a:ea typeface="Inter" pitchFamily="34" charset="-122"/>
                <a:cs typeface="Inter" pitchFamily="34" charset="-120"/>
              </a:rPr>
              <a:t>False alarm rate</a:t>
            </a:r>
            <a:endParaRPr lang="en-US" sz="725" dirty="0"/>
          </a:p>
        </p:txBody>
      </p:sp>
      <p:sp>
        <p:nvSpPr>
          <p:cNvPr id="157" name="Text 143"/>
          <p:cNvSpPr txBox="1"/>
          <p:nvPr/>
        </p:nvSpPr>
        <p:spPr>
          <a:xfrm>
            <a:off x="9480591" y="5168920"/>
            <a:ext cx="1418234" cy="101590"/>
          </a:xfrm>
          <a:prstGeom prst="rect">
            <a:avLst/>
          </a:prstGeom>
          <a:noFill/>
          <a:ln/>
        </p:spPr>
        <p:txBody>
          <a:bodyPr wrap="none" lIns="0" tIns="0" rIns="0" bIns="0" rtlCol="0" anchor="t"/>
          <a:lstStyle/>
          <a:p>
            <a:pPr algn="l" indent="0" marL="0">
              <a:buNone/>
            </a:pPr>
            <a:r>
              <a:rPr lang="en-US" sz="650" dirty="0">
                <a:solidFill>
                  <a:srgbClr val="D6C3B9"/>
                </a:solidFill>
                <a:latin typeface="Inter" pitchFamily="34" charset="0"/>
                <a:ea typeface="Inter" pitchFamily="34" charset="-122"/>
                <a:cs typeface="Inter" pitchFamily="34" charset="-120"/>
              </a:rPr>
              <a:t>honest records wrongly flagged</a:t>
            </a:r>
            <a:endParaRPr lang="en-US" sz="650" dirty="0"/>
          </a:p>
        </p:txBody>
      </p:sp>
      <p:sp>
        <p:nvSpPr>
          <p:cNvPr id="158" name="Text 144"/>
          <p:cNvSpPr txBox="1"/>
          <p:nvPr/>
        </p:nvSpPr>
        <p:spPr>
          <a:xfrm>
            <a:off x="2095530" y="6212799"/>
            <a:ext cx="8001000" cy="313091"/>
          </a:xfrm>
          <a:prstGeom prst="rect">
            <a:avLst/>
          </a:prstGeom>
          <a:noFill/>
          <a:ln/>
        </p:spPr>
        <p:txBody>
          <a:bodyPr wrap="square" lIns="0" tIns="0" rIns="0" bIns="0" rtlCol="0" anchor="t"/>
          <a:lstStyle/>
          <a:p>
            <a:pPr algn="ctr" indent="0" marL="0">
              <a:lnSpc>
                <a:spcPts val="1232"/>
              </a:lnSpc>
              <a:buNone/>
            </a:pPr>
            <a:r>
              <a:rPr lang="en-US" sz="850" dirty="0">
                <a:solidFill>
                  <a:srgbClr val="5B4339"/>
                </a:solidFill>
                <a:latin typeface="Inter" pitchFamily="34" charset="0"/>
                <a:ea typeface="Inter" pitchFamily="34" charset="-122"/>
                <a:cs typeface="Inter" pitchFamily="34" charset="-120"/>
              </a:rPr>
              <a:t>Why these tools: free, proven and widely used. Numbers are handled in Python, where every rule can be tested. Screens are built in TypeScript, where the experience is polished.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EFDA"/>
        </a:solidFill>
      </p:bgPr>
    </p:bg>
    <p:spTree>
      <p:nvGrpSpPr>
        <p:cNvPr id="1" name=""/>
        <p:cNvGrpSpPr/>
        <p:nvPr/>
      </p:nvGrpSpPr>
      <p:grpSpPr>
        <a:xfrm>
          <a:off x="0" y="0"/>
          <a:ext cx="0" cy="0"/>
          <a:chOff x="0" y="0"/>
          <a:chExt cx="0" cy="0"/>
        </a:xfrm>
      </p:grpSpPr>
      <p:sp>
        <p:nvSpPr>
          <p:cNvPr id="2" name="Shape 0"/>
          <p:cNvSpPr/>
          <p:nvPr/>
        </p:nvSpPr>
        <p:spPr>
          <a:xfrm>
            <a:off x="2222696" y="1423712"/>
            <a:ext cx="7746614" cy="15874"/>
          </a:xfrm>
          <a:custGeom>
            <a:avLst/>
            <a:gdLst/>
            <a:ahLst/>
            <a:cxnLst/>
            <a:rect l="l" t="t" r="r" b="b"/>
            <a:pathLst>
              <a:path w="7746614" h="15874">
                <a:moveTo>
                  <a:pt x="0" y="15874"/>
                </a:moveTo>
                <a:lnTo>
                  <a:pt x="7746614" y="0"/>
                </a:lnTo>
              </a:path>
            </a:pathLst>
          </a:custGeom>
          <a:ln w="6350">
            <a:solidFill>
              <a:srgbClr val="2B0000"/>
            </a:solidFill>
            <a:prstDash val="solid"/>
          </a:ln>
        </p:spPr>
      </p:sp>
      <p:sp>
        <p:nvSpPr>
          <p:cNvPr id="3" name="Shape 1"/>
          <p:cNvSpPr/>
          <p:nvPr/>
        </p:nvSpPr>
        <p:spPr>
          <a:xfrm>
            <a:off x="10673873" y="5689433"/>
            <a:ext cx="2192009" cy="2084832"/>
          </a:xfrm>
          <a:custGeom>
            <a:avLst/>
            <a:gdLst/>
            <a:ahLst/>
            <a:cxnLst/>
            <a:rect l="l" t="t" r="r" b="b"/>
            <a:pathLst>
              <a:path w="2192009" h="2084832">
                <a:moveTo>
                  <a:pt x="5925" y="642960"/>
                </a:moveTo>
                <a:lnTo>
                  <a:pt x="513564" y="642960"/>
                </a:lnTo>
                <a:lnTo>
                  <a:pt x="548155" y="637236"/>
                </a:lnTo>
                <a:cubicBezTo>
                  <a:pt x="593830" y="629711"/>
                  <a:pt x="629665" y="593885"/>
                  <a:pt x="637236" y="548155"/>
                </a:cubicBezTo>
                <a:lnTo>
                  <a:pt x="642960" y="513564"/>
                </a:lnTo>
                <a:lnTo>
                  <a:pt x="642960" y="5925"/>
                </a:lnTo>
                <a:cubicBezTo>
                  <a:pt x="642960" y="2679"/>
                  <a:pt x="645594" y="0"/>
                  <a:pt x="648895" y="0"/>
                </a:cubicBezTo>
                <a:cubicBezTo>
                  <a:pt x="652187" y="0"/>
                  <a:pt x="654820" y="2633"/>
                  <a:pt x="654820" y="5925"/>
                </a:cubicBezTo>
                <a:lnTo>
                  <a:pt x="654820" y="513564"/>
                </a:lnTo>
                <a:lnTo>
                  <a:pt x="660544" y="548155"/>
                </a:lnTo>
                <a:cubicBezTo>
                  <a:pt x="664513" y="572186"/>
                  <a:pt x="676318" y="593418"/>
                  <a:pt x="693225" y="609301"/>
                </a:cubicBezTo>
                <a:cubicBezTo>
                  <a:pt x="697038" y="605379"/>
                  <a:pt x="700860" y="601410"/>
                  <a:pt x="704719" y="597496"/>
                </a:cubicBezTo>
                <a:cubicBezTo>
                  <a:pt x="704929" y="597286"/>
                  <a:pt x="705185" y="597085"/>
                  <a:pt x="705396" y="596820"/>
                </a:cubicBezTo>
                <a:cubicBezTo>
                  <a:pt x="705597" y="596619"/>
                  <a:pt x="705807" y="596363"/>
                  <a:pt x="706063" y="596152"/>
                </a:cubicBezTo>
                <a:cubicBezTo>
                  <a:pt x="706273" y="595951"/>
                  <a:pt x="706529" y="595741"/>
                  <a:pt x="706731" y="595485"/>
                </a:cubicBezTo>
                <a:cubicBezTo>
                  <a:pt x="706941" y="595274"/>
                  <a:pt x="707142" y="595018"/>
                  <a:pt x="707407" y="594817"/>
                </a:cubicBezTo>
                <a:cubicBezTo>
                  <a:pt x="708486" y="593729"/>
                  <a:pt x="709620" y="592650"/>
                  <a:pt x="710699" y="591562"/>
                </a:cubicBezTo>
                <a:cubicBezTo>
                  <a:pt x="711787" y="590428"/>
                  <a:pt x="712866" y="589349"/>
                  <a:pt x="714000" y="588215"/>
                </a:cubicBezTo>
                <a:cubicBezTo>
                  <a:pt x="793242" y="509028"/>
                  <a:pt x="878766" y="442835"/>
                  <a:pt x="966658" y="390302"/>
                </a:cubicBezTo>
                <a:cubicBezTo>
                  <a:pt x="1079202" y="321942"/>
                  <a:pt x="1195861" y="274622"/>
                  <a:pt x="1309384" y="249668"/>
                </a:cubicBezTo>
                <a:cubicBezTo>
                  <a:pt x="1382792" y="232504"/>
                  <a:pt x="1455588" y="223735"/>
                  <a:pt x="1526216" y="223690"/>
                </a:cubicBezTo>
                <a:cubicBezTo>
                  <a:pt x="1711647" y="223690"/>
                  <a:pt x="1882027" y="283848"/>
                  <a:pt x="2006989" y="408810"/>
                </a:cubicBezTo>
                <a:cubicBezTo>
                  <a:pt x="2131850" y="533882"/>
                  <a:pt x="2192009" y="704262"/>
                  <a:pt x="2192009" y="889693"/>
                </a:cubicBezTo>
                <a:cubicBezTo>
                  <a:pt x="2192009" y="1161837"/>
                  <a:pt x="2062722" y="1466670"/>
                  <a:pt x="1818312" y="1711135"/>
                </a:cubicBezTo>
                <a:cubicBezTo>
                  <a:pt x="1573847" y="1955545"/>
                  <a:pt x="1269013" y="2084832"/>
                  <a:pt x="996870" y="2084832"/>
                </a:cubicBezTo>
                <a:cubicBezTo>
                  <a:pt x="811439" y="2084832"/>
                  <a:pt x="641058" y="2024674"/>
                  <a:pt x="516087" y="1899712"/>
                </a:cubicBezTo>
                <a:cubicBezTo>
                  <a:pt x="391125" y="1774750"/>
                  <a:pt x="330967" y="1604370"/>
                  <a:pt x="330967" y="1418929"/>
                </a:cubicBezTo>
                <a:cubicBezTo>
                  <a:pt x="330967" y="1182923"/>
                  <a:pt x="428250" y="922374"/>
                  <a:pt x="613526" y="697870"/>
                </a:cubicBezTo>
                <a:cubicBezTo>
                  <a:pt x="597286" y="678430"/>
                  <a:pt x="574344" y="664769"/>
                  <a:pt x="548155" y="660444"/>
                </a:cubicBezTo>
                <a:lnTo>
                  <a:pt x="513564" y="654720"/>
                </a:lnTo>
                <a:lnTo>
                  <a:pt x="5925" y="654720"/>
                </a:lnTo>
                <a:cubicBezTo>
                  <a:pt x="2679" y="654720"/>
                  <a:pt x="0" y="652086"/>
                  <a:pt x="0" y="648785"/>
                </a:cubicBezTo>
                <a:cubicBezTo>
                  <a:pt x="0" y="645493"/>
                  <a:pt x="2633" y="642860"/>
                  <a:pt x="5925" y="642860"/>
                </a:cubicBezTo>
                <a:lnTo>
                  <a:pt x="5925" y="642960"/>
                </a:lnTo>
                <a:moveTo>
                  <a:pt x="977329" y="398916"/>
                </a:moveTo>
                <a:cubicBezTo>
                  <a:pt x="972693" y="401696"/>
                  <a:pt x="968103" y="404531"/>
                  <a:pt x="963512" y="407365"/>
                </a:cubicBezTo>
                <a:cubicBezTo>
                  <a:pt x="960367" y="409276"/>
                  <a:pt x="957276" y="411178"/>
                  <a:pt x="954131" y="413144"/>
                </a:cubicBezTo>
                <a:cubicBezTo>
                  <a:pt x="871551" y="464954"/>
                  <a:pt x="791797" y="527901"/>
                  <a:pt x="717612" y="601465"/>
                </a:cubicBezTo>
                <a:cubicBezTo>
                  <a:pt x="712455" y="606668"/>
                  <a:pt x="707352" y="611825"/>
                  <a:pt x="702351" y="617083"/>
                </a:cubicBezTo>
                <a:cubicBezTo>
                  <a:pt x="708276" y="621518"/>
                  <a:pt x="714722" y="625331"/>
                  <a:pt x="721526" y="628531"/>
                </a:cubicBezTo>
                <a:cubicBezTo>
                  <a:pt x="725604" y="624352"/>
                  <a:pt x="729627" y="620174"/>
                  <a:pt x="733742" y="616050"/>
                </a:cubicBezTo>
                <a:cubicBezTo>
                  <a:pt x="929597" y="420258"/>
                  <a:pt x="1169316" y="314371"/>
                  <a:pt x="1374233" y="314261"/>
                </a:cubicBezTo>
                <a:cubicBezTo>
                  <a:pt x="1497083" y="314261"/>
                  <a:pt x="1607616" y="352519"/>
                  <a:pt x="1687781" y="432676"/>
                </a:cubicBezTo>
                <a:cubicBezTo>
                  <a:pt x="1767992" y="512896"/>
                  <a:pt x="1806242" y="623374"/>
                  <a:pt x="1806196" y="746224"/>
                </a:cubicBezTo>
                <a:cubicBezTo>
                  <a:pt x="1806141" y="951141"/>
                  <a:pt x="1700254" y="1190814"/>
                  <a:pt x="1504407" y="1386715"/>
                </a:cubicBezTo>
                <a:cubicBezTo>
                  <a:pt x="1308561" y="1582506"/>
                  <a:pt x="1068842" y="1688394"/>
                  <a:pt x="863916" y="1688449"/>
                </a:cubicBezTo>
                <a:cubicBezTo>
                  <a:pt x="741066" y="1688449"/>
                  <a:pt x="630589" y="1650199"/>
                  <a:pt x="550377" y="1570034"/>
                </a:cubicBezTo>
                <a:cubicBezTo>
                  <a:pt x="470157" y="1489814"/>
                  <a:pt x="431908" y="1379290"/>
                  <a:pt x="431963" y="1256486"/>
                </a:cubicBezTo>
                <a:cubicBezTo>
                  <a:pt x="431963" y="1090340"/>
                  <a:pt x="501658" y="901242"/>
                  <a:pt x="632445" y="731218"/>
                </a:cubicBezTo>
                <a:cubicBezTo>
                  <a:pt x="629711" y="723437"/>
                  <a:pt x="626108" y="716067"/>
                  <a:pt x="621774" y="709209"/>
                </a:cubicBezTo>
                <a:cubicBezTo>
                  <a:pt x="465366" y="905622"/>
                  <a:pt x="382265" y="1126422"/>
                  <a:pt x="382311" y="1318665"/>
                </a:cubicBezTo>
                <a:cubicBezTo>
                  <a:pt x="382311" y="1457544"/>
                  <a:pt x="425516" y="1581318"/>
                  <a:pt x="515264" y="1671130"/>
                </a:cubicBezTo>
                <a:cubicBezTo>
                  <a:pt x="605022" y="1760878"/>
                  <a:pt x="728795" y="1804029"/>
                  <a:pt x="867729" y="1804084"/>
                </a:cubicBezTo>
                <a:cubicBezTo>
                  <a:pt x="1097710" y="1804129"/>
                  <a:pt x="1368619" y="1685248"/>
                  <a:pt x="1589721" y="1464092"/>
                </a:cubicBezTo>
                <a:cubicBezTo>
                  <a:pt x="1810887" y="1242980"/>
                  <a:pt x="1929768" y="972071"/>
                  <a:pt x="1929713" y="742100"/>
                </a:cubicBezTo>
                <a:cubicBezTo>
                  <a:pt x="1929713" y="603221"/>
                  <a:pt x="1886508" y="479438"/>
                  <a:pt x="1796759" y="389635"/>
                </a:cubicBezTo>
                <a:cubicBezTo>
                  <a:pt x="1707011" y="299877"/>
                  <a:pt x="1583229" y="256736"/>
                  <a:pt x="1444295" y="256681"/>
                </a:cubicBezTo>
                <a:cubicBezTo>
                  <a:pt x="1337118" y="256681"/>
                  <a:pt x="1221017" y="282504"/>
                  <a:pt x="1105235" y="332467"/>
                </a:cubicBezTo>
                <a:cubicBezTo>
                  <a:pt x="1062240" y="351687"/>
                  <a:pt x="1019501" y="373862"/>
                  <a:pt x="977384" y="398962"/>
                </a:cubicBezTo>
                <a:lnTo>
                  <a:pt x="977329" y="398916"/>
                </a:lnTo>
                <a:moveTo>
                  <a:pt x="733385" y="633268"/>
                </a:moveTo>
                <a:cubicBezTo>
                  <a:pt x="738588" y="634969"/>
                  <a:pt x="744002" y="636313"/>
                  <a:pt x="749525" y="637236"/>
                </a:cubicBezTo>
                <a:lnTo>
                  <a:pt x="784116" y="642960"/>
                </a:lnTo>
                <a:lnTo>
                  <a:pt x="807315" y="642960"/>
                </a:lnTo>
                <a:cubicBezTo>
                  <a:pt x="957587" y="499080"/>
                  <a:pt x="1140239" y="422371"/>
                  <a:pt x="1301136" y="422316"/>
                </a:cubicBezTo>
                <a:cubicBezTo>
                  <a:pt x="1408158" y="422316"/>
                  <a:pt x="1505697" y="456395"/>
                  <a:pt x="1576938" y="527636"/>
                </a:cubicBezTo>
                <a:cubicBezTo>
                  <a:pt x="1648188" y="598831"/>
                  <a:pt x="1682313" y="696425"/>
                  <a:pt x="1682258" y="803447"/>
                </a:cubicBezTo>
                <a:cubicBezTo>
                  <a:pt x="1682258" y="969447"/>
                  <a:pt x="1600547" y="1158591"/>
                  <a:pt x="1447696" y="1311496"/>
                </a:cubicBezTo>
                <a:cubicBezTo>
                  <a:pt x="1294790" y="1464348"/>
                  <a:pt x="1105647" y="1546013"/>
                  <a:pt x="939647" y="1546058"/>
                </a:cubicBezTo>
                <a:cubicBezTo>
                  <a:pt x="832625" y="1546058"/>
                  <a:pt x="735086" y="1511988"/>
                  <a:pt x="663845" y="1440738"/>
                </a:cubicBezTo>
                <a:cubicBezTo>
                  <a:pt x="592595" y="1369497"/>
                  <a:pt x="558470" y="1271958"/>
                  <a:pt x="558516" y="1164936"/>
                </a:cubicBezTo>
                <a:cubicBezTo>
                  <a:pt x="558516" y="1066209"/>
                  <a:pt x="587438" y="959343"/>
                  <a:pt x="642960" y="856802"/>
                </a:cubicBezTo>
                <a:lnTo>
                  <a:pt x="642960" y="784162"/>
                </a:lnTo>
                <a:lnTo>
                  <a:pt x="637236" y="749570"/>
                </a:lnTo>
                <a:cubicBezTo>
                  <a:pt x="637035" y="748235"/>
                  <a:pt x="636669" y="746946"/>
                  <a:pt x="636413" y="745657"/>
                </a:cubicBezTo>
                <a:cubicBezTo>
                  <a:pt x="510528" y="912068"/>
                  <a:pt x="443767" y="1095954"/>
                  <a:pt x="443813" y="1256486"/>
                </a:cubicBezTo>
                <a:cubicBezTo>
                  <a:pt x="443813" y="1376913"/>
                  <a:pt x="481194" y="1484044"/>
                  <a:pt x="558781" y="1561685"/>
                </a:cubicBezTo>
                <a:cubicBezTo>
                  <a:pt x="636413" y="1639263"/>
                  <a:pt x="743489" y="1676644"/>
                  <a:pt x="863971" y="1676644"/>
                </a:cubicBezTo>
                <a:cubicBezTo>
                  <a:pt x="1064819" y="1676690"/>
                  <a:pt x="1302160" y="1572302"/>
                  <a:pt x="1496050" y="1378357"/>
                </a:cubicBezTo>
                <a:cubicBezTo>
                  <a:pt x="1690049" y="1184422"/>
                  <a:pt x="1794391" y="947072"/>
                  <a:pt x="1794336" y="746278"/>
                </a:cubicBezTo>
                <a:cubicBezTo>
                  <a:pt x="1794336" y="625852"/>
                  <a:pt x="1756965" y="518721"/>
                  <a:pt x="1679378" y="441079"/>
                </a:cubicBezTo>
                <a:cubicBezTo>
                  <a:pt x="1601736" y="363492"/>
                  <a:pt x="1494660" y="326121"/>
                  <a:pt x="1374188" y="326121"/>
                </a:cubicBezTo>
                <a:cubicBezTo>
                  <a:pt x="1173331" y="326066"/>
                  <a:pt x="935989" y="430463"/>
                  <a:pt x="742100" y="624407"/>
                </a:cubicBezTo>
                <a:cubicBezTo>
                  <a:pt x="739155" y="627342"/>
                  <a:pt x="736275" y="630332"/>
                  <a:pt x="733385" y="633268"/>
                </a:cubicBezTo>
                <a:lnTo>
                  <a:pt x="733385" y="633268"/>
                </a:lnTo>
                <a:moveTo>
                  <a:pt x="648840" y="1297680"/>
                </a:moveTo>
                <a:cubicBezTo>
                  <a:pt x="645594" y="1297680"/>
                  <a:pt x="642915" y="1295056"/>
                  <a:pt x="642915" y="1291755"/>
                </a:cubicBezTo>
                <a:lnTo>
                  <a:pt x="642915" y="882423"/>
                </a:lnTo>
                <a:cubicBezTo>
                  <a:pt x="595073" y="977283"/>
                  <a:pt x="570275" y="1074923"/>
                  <a:pt x="570320" y="1164936"/>
                </a:cubicBezTo>
                <a:cubicBezTo>
                  <a:pt x="570320" y="1269480"/>
                  <a:pt x="603522" y="1363672"/>
                  <a:pt x="672194" y="1432389"/>
                </a:cubicBezTo>
                <a:cubicBezTo>
                  <a:pt x="740865" y="1501052"/>
                  <a:pt x="835048" y="1534199"/>
                  <a:pt x="939647" y="1534253"/>
                </a:cubicBezTo>
                <a:cubicBezTo>
                  <a:pt x="1101779" y="1534253"/>
                  <a:pt x="1288454" y="1454088"/>
                  <a:pt x="1439348" y="1303148"/>
                </a:cubicBezTo>
                <a:cubicBezTo>
                  <a:pt x="1590288" y="1152254"/>
                  <a:pt x="1670508" y="965579"/>
                  <a:pt x="1670453" y="803447"/>
                </a:cubicBezTo>
                <a:cubicBezTo>
                  <a:pt x="1670453" y="698894"/>
                  <a:pt x="1637261" y="604711"/>
                  <a:pt x="1568589" y="535994"/>
                </a:cubicBezTo>
                <a:cubicBezTo>
                  <a:pt x="1499918" y="467322"/>
                  <a:pt x="1405735" y="434175"/>
                  <a:pt x="1301136" y="434121"/>
                </a:cubicBezTo>
                <a:cubicBezTo>
                  <a:pt x="1147197" y="434121"/>
                  <a:pt x="971193" y="506450"/>
                  <a:pt x="824633" y="642915"/>
                </a:cubicBezTo>
                <a:lnTo>
                  <a:pt x="999503" y="642915"/>
                </a:lnTo>
                <a:cubicBezTo>
                  <a:pt x="1097088" y="580223"/>
                  <a:pt x="1201640" y="547278"/>
                  <a:pt x="1296391" y="547232"/>
                </a:cubicBezTo>
                <a:cubicBezTo>
                  <a:pt x="1382170" y="547232"/>
                  <a:pt x="1460178" y="574344"/>
                  <a:pt x="1516980" y="631210"/>
                </a:cubicBezTo>
                <a:cubicBezTo>
                  <a:pt x="1573792" y="688022"/>
                  <a:pt x="1600968" y="766020"/>
                  <a:pt x="1600913" y="851800"/>
                </a:cubicBezTo>
                <a:cubicBezTo>
                  <a:pt x="1600913" y="988265"/>
                  <a:pt x="1532653" y="1144929"/>
                  <a:pt x="1405579" y="1272058"/>
                </a:cubicBezTo>
                <a:cubicBezTo>
                  <a:pt x="1403156" y="1274482"/>
                  <a:pt x="1400678" y="1276850"/>
                  <a:pt x="1398255" y="1279227"/>
                </a:cubicBezTo>
                <a:cubicBezTo>
                  <a:pt x="1395886" y="1281696"/>
                  <a:pt x="1393518" y="1284174"/>
                  <a:pt x="1391040" y="1286597"/>
                </a:cubicBezTo>
                <a:cubicBezTo>
                  <a:pt x="1385837" y="1291800"/>
                  <a:pt x="1380579" y="1296857"/>
                  <a:pt x="1375267" y="1301804"/>
                </a:cubicBezTo>
                <a:cubicBezTo>
                  <a:pt x="1327480" y="1346865"/>
                  <a:pt x="1276850" y="1382847"/>
                  <a:pt x="1227518" y="1408213"/>
                </a:cubicBezTo>
                <a:cubicBezTo>
                  <a:pt x="1191015" y="1426976"/>
                  <a:pt x="1155290" y="1439970"/>
                  <a:pt x="1121987" y="1446563"/>
                </a:cubicBezTo>
                <a:cubicBezTo>
                  <a:pt x="1120798" y="1446819"/>
                  <a:pt x="1119674" y="1447129"/>
                  <a:pt x="1118485" y="1447385"/>
                </a:cubicBezTo>
                <a:cubicBezTo>
                  <a:pt x="1073112" y="1460589"/>
                  <a:pt x="1028215" y="1467338"/>
                  <a:pt x="985321" y="1467393"/>
                </a:cubicBezTo>
                <a:cubicBezTo>
                  <a:pt x="899541" y="1467393"/>
                  <a:pt x="821543" y="1440271"/>
                  <a:pt x="764731" y="1383460"/>
                </a:cubicBezTo>
                <a:cubicBezTo>
                  <a:pt x="707919" y="1326657"/>
                  <a:pt x="680753" y="1248650"/>
                  <a:pt x="680798" y="1162870"/>
                </a:cubicBezTo>
                <a:cubicBezTo>
                  <a:pt x="680798" y="1026414"/>
                  <a:pt x="749058" y="869741"/>
                  <a:pt x="876132" y="742612"/>
                </a:cubicBezTo>
                <a:cubicBezTo>
                  <a:pt x="909545" y="709209"/>
                  <a:pt x="945060" y="679875"/>
                  <a:pt x="981663" y="654765"/>
                </a:cubicBezTo>
                <a:lnTo>
                  <a:pt x="812106" y="654765"/>
                </a:lnTo>
                <a:cubicBezTo>
                  <a:pt x="808549" y="658222"/>
                  <a:pt x="804937" y="661678"/>
                  <a:pt x="801380" y="665235"/>
                </a:cubicBezTo>
                <a:cubicBezTo>
                  <a:pt x="740911" y="725650"/>
                  <a:pt x="691890" y="791843"/>
                  <a:pt x="654720" y="859847"/>
                </a:cubicBezTo>
                <a:lnTo>
                  <a:pt x="654720" y="1291755"/>
                </a:lnTo>
                <a:cubicBezTo>
                  <a:pt x="654720" y="1295001"/>
                  <a:pt x="652086" y="1297680"/>
                  <a:pt x="648785" y="1297680"/>
                </a:cubicBezTo>
                <a:lnTo>
                  <a:pt x="648840" y="1297680"/>
                </a:lnTo>
                <a:moveTo>
                  <a:pt x="1291755" y="654765"/>
                </a:moveTo>
                <a:lnTo>
                  <a:pt x="1003005" y="654765"/>
                </a:lnTo>
                <a:cubicBezTo>
                  <a:pt x="961812" y="681475"/>
                  <a:pt x="921862" y="713589"/>
                  <a:pt x="884536" y="750969"/>
                </a:cubicBezTo>
                <a:cubicBezTo>
                  <a:pt x="759373" y="876087"/>
                  <a:pt x="692612" y="1030328"/>
                  <a:pt x="692658" y="1162815"/>
                </a:cubicBezTo>
                <a:cubicBezTo>
                  <a:pt x="692658" y="1246181"/>
                  <a:pt x="718901" y="1320778"/>
                  <a:pt x="773134" y="1375056"/>
                </a:cubicBezTo>
                <a:cubicBezTo>
                  <a:pt x="827413" y="1429289"/>
                  <a:pt x="902010" y="1455533"/>
                  <a:pt x="985376" y="1455533"/>
                </a:cubicBezTo>
                <a:cubicBezTo>
                  <a:pt x="993057" y="1455533"/>
                  <a:pt x="1000793" y="1455277"/>
                  <a:pt x="1008574" y="1454865"/>
                </a:cubicBezTo>
                <a:cubicBezTo>
                  <a:pt x="945627" y="1450787"/>
                  <a:pt x="888916" y="1428467"/>
                  <a:pt x="846542" y="1386038"/>
                </a:cubicBezTo>
                <a:cubicBezTo>
                  <a:pt x="799423" y="1338919"/>
                  <a:pt x="777002" y="1274125"/>
                  <a:pt x="777002" y="1202719"/>
                </a:cubicBezTo>
                <a:cubicBezTo>
                  <a:pt x="777048" y="1086106"/>
                  <a:pt x="836283" y="951296"/>
                  <a:pt x="946038" y="841495"/>
                </a:cubicBezTo>
                <a:cubicBezTo>
                  <a:pt x="1055849" y="731739"/>
                  <a:pt x="1190659" y="672505"/>
                  <a:pt x="1307272" y="672450"/>
                </a:cubicBezTo>
                <a:cubicBezTo>
                  <a:pt x="1378723" y="672450"/>
                  <a:pt x="1443527" y="694880"/>
                  <a:pt x="1490591" y="741999"/>
                </a:cubicBezTo>
                <a:cubicBezTo>
                  <a:pt x="1537710" y="789118"/>
                  <a:pt x="1560131" y="853912"/>
                  <a:pt x="1560131" y="925318"/>
                </a:cubicBezTo>
                <a:cubicBezTo>
                  <a:pt x="1560131" y="925830"/>
                  <a:pt x="1560131" y="926397"/>
                  <a:pt x="1560131" y="926964"/>
                </a:cubicBezTo>
                <a:cubicBezTo>
                  <a:pt x="1560387" y="931710"/>
                  <a:pt x="1560542" y="936501"/>
                  <a:pt x="1560542" y="941347"/>
                </a:cubicBezTo>
                <a:cubicBezTo>
                  <a:pt x="1560542" y="965634"/>
                  <a:pt x="1557296" y="991200"/>
                  <a:pt x="1551115" y="1017444"/>
                </a:cubicBezTo>
                <a:cubicBezTo>
                  <a:pt x="1548015" y="1033162"/>
                  <a:pt x="1543434" y="1049402"/>
                  <a:pt x="1537554" y="1065998"/>
                </a:cubicBezTo>
                <a:cubicBezTo>
                  <a:pt x="1571579" y="993468"/>
                  <a:pt x="1589154" y="919749"/>
                  <a:pt x="1589108" y="851754"/>
                </a:cubicBezTo>
                <a:cubicBezTo>
                  <a:pt x="1589108" y="768389"/>
                  <a:pt x="1562865" y="693792"/>
                  <a:pt x="1508632" y="639513"/>
                </a:cubicBezTo>
                <a:cubicBezTo>
                  <a:pt x="1454344" y="585271"/>
                  <a:pt x="1379747" y="559037"/>
                  <a:pt x="1296391" y="559037"/>
                </a:cubicBezTo>
                <a:cubicBezTo>
                  <a:pt x="1209422" y="559037"/>
                  <a:pt x="1113117" y="587749"/>
                  <a:pt x="1021824" y="642860"/>
                </a:cubicBezTo>
                <a:lnTo>
                  <a:pt x="1291755" y="642860"/>
                </a:lnTo>
                <a:cubicBezTo>
                  <a:pt x="1295001" y="642860"/>
                  <a:pt x="1297680" y="645493"/>
                  <a:pt x="1297680" y="648785"/>
                </a:cubicBezTo>
                <a:cubicBezTo>
                  <a:pt x="1297680" y="652086"/>
                  <a:pt x="1295046" y="654720"/>
                  <a:pt x="1291755" y="654720"/>
                </a:cubicBezTo>
                <a:lnTo>
                  <a:pt x="1291755" y="654765"/>
                </a:lnTo>
                <a:moveTo>
                  <a:pt x="788853" y="1202719"/>
                </a:moveTo>
                <a:cubicBezTo>
                  <a:pt x="788853" y="1271748"/>
                  <a:pt x="810405" y="1333149"/>
                  <a:pt x="854946" y="1377690"/>
                </a:cubicBezTo>
                <a:cubicBezTo>
                  <a:pt x="878921" y="1401665"/>
                  <a:pt x="907789" y="1418884"/>
                  <a:pt x="940058" y="1429756"/>
                </a:cubicBezTo>
                <a:cubicBezTo>
                  <a:pt x="928153" y="1422797"/>
                  <a:pt x="917116" y="1414394"/>
                  <a:pt x="907222" y="1404500"/>
                </a:cubicBezTo>
                <a:cubicBezTo>
                  <a:pt x="872219" y="1369497"/>
                  <a:pt x="855723" y="1320723"/>
                  <a:pt x="855723" y="1265822"/>
                </a:cubicBezTo>
                <a:cubicBezTo>
                  <a:pt x="855723" y="1212778"/>
                  <a:pt x="870929" y="1153698"/>
                  <a:pt x="899696" y="1094253"/>
                </a:cubicBezTo>
                <a:cubicBezTo>
                  <a:pt x="928463" y="1034817"/>
                  <a:pt x="970736" y="975016"/>
                  <a:pt x="1025170" y="920627"/>
                </a:cubicBezTo>
                <a:cubicBezTo>
                  <a:pt x="1079614" y="866184"/>
                  <a:pt x="1139416" y="823911"/>
                  <a:pt x="1198806" y="795144"/>
                </a:cubicBezTo>
                <a:cubicBezTo>
                  <a:pt x="1258242" y="766432"/>
                  <a:pt x="1317266" y="751170"/>
                  <a:pt x="1370366" y="751170"/>
                </a:cubicBezTo>
                <a:cubicBezTo>
                  <a:pt x="1425321" y="751170"/>
                  <a:pt x="1474040" y="767621"/>
                  <a:pt x="1509043" y="802669"/>
                </a:cubicBezTo>
                <a:cubicBezTo>
                  <a:pt x="1518946" y="812572"/>
                  <a:pt x="1527295" y="823600"/>
                  <a:pt x="1534308" y="835515"/>
                </a:cubicBezTo>
                <a:cubicBezTo>
                  <a:pt x="1523427" y="803236"/>
                  <a:pt x="1506209" y="774369"/>
                  <a:pt x="1482233" y="750402"/>
                </a:cubicBezTo>
                <a:cubicBezTo>
                  <a:pt x="1437693" y="705853"/>
                  <a:pt x="1376300" y="684355"/>
                  <a:pt x="1307272" y="684310"/>
                </a:cubicBezTo>
                <a:cubicBezTo>
                  <a:pt x="1194682" y="684310"/>
                  <a:pt x="1062295" y="741999"/>
                  <a:pt x="954442" y="849898"/>
                </a:cubicBezTo>
                <a:cubicBezTo>
                  <a:pt x="846542" y="957743"/>
                  <a:pt x="788807" y="1090184"/>
                  <a:pt x="788853" y="1202719"/>
                </a:cubicBezTo>
                <a:lnTo>
                  <a:pt x="788853" y="1202719"/>
                </a:lnTo>
                <a:moveTo>
                  <a:pt x="910367" y="1099465"/>
                </a:moveTo>
                <a:cubicBezTo>
                  <a:pt x="882222" y="1157612"/>
                  <a:pt x="867574" y="1215046"/>
                  <a:pt x="867574" y="1265877"/>
                </a:cubicBezTo>
                <a:cubicBezTo>
                  <a:pt x="867574" y="1318556"/>
                  <a:pt x="883201" y="1363818"/>
                  <a:pt x="915570" y="1396197"/>
                </a:cubicBezTo>
                <a:cubicBezTo>
                  <a:pt x="942326" y="1422953"/>
                  <a:pt x="977896" y="1438214"/>
                  <a:pt x="1019145" y="1442749"/>
                </a:cubicBezTo>
                <a:cubicBezTo>
                  <a:pt x="1003161" y="1436980"/>
                  <a:pt x="988933" y="1428265"/>
                  <a:pt x="977128" y="1416460"/>
                </a:cubicBezTo>
                <a:cubicBezTo>
                  <a:pt x="953052" y="1392384"/>
                  <a:pt x="941859" y="1358515"/>
                  <a:pt x="941914" y="1319644"/>
                </a:cubicBezTo>
                <a:cubicBezTo>
                  <a:pt x="941914" y="1273860"/>
                  <a:pt x="957176" y="1220815"/>
                  <a:pt x="985321" y="1166015"/>
                </a:cubicBezTo>
                <a:cubicBezTo>
                  <a:pt x="1013521" y="1111215"/>
                  <a:pt x="1054660" y="1054760"/>
                  <a:pt x="1106991" y="1002438"/>
                </a:cubicBezTo>
                <a:cubicBezTo>
                  <a:pt x="1159258" y="950162"/>
                  <a:pt x="1215759" y="908978"/>
                  <a:pt x="1270559" y="880778"/>
                </a:cubicBezTo>
                <a:cubicBezTo>
                  <a:pt x="1325359" y="852623"/>
                  <a:pt x="1378412" y="837371"/>
                  <a:pt x="1424187" y="837371"/>
                </a:cubicBezTo>
                <a:cubicBezTo>
                  <a:pt x="1463058" y="837371"/>
                  <a:pt x="1496928" y="848499"/>
                  <a:pt x="1521004" y="872575"/>
                </a:cubicBezTo>
                <a:cubicBezTo>
                  <a:pt x="1532864" y="884380"/>
                  <a:pt x="1541523" y="898608"/>
                  <a:pt x="1547293" y="914592"/>
                </a:cubicBezTo>
                <a:cubicBezTo>
                  <a:pt x="1542757" y="873353"/>
                  <a:pt x="1527496" y="837782"/>
                  <a:pt x="1500741" y="811027"/>
                </a:cubicBezTo>
                <a:cubicBezTo>
                  <a:pt x="1468371" y="778648"/>
                  <a:pt x="1423108" y="763030"/>
                  <a:pt x="1370420" y="763030"/>
                </a:cubicBezTo>
                <a:cubicBezTo>
                  <a:pt x="1319644" y="763030"/>
                  <a:pt x="1262155" y="777670"/>
                  <a:pt x="1204009" y="805815"/>
                </a:cubicBezTo>
                <a:cubicBezTo>
                  <a:pt x="1145862" y="833915"/>
                  <a:pt x="1087084" y="875465"/>
                  <a:pt x="1033574" y="929030"/>
                </a:cubicBezTo>
                <a:cubicBezTo>
                  <a:pt x="980063" y="982541"/>
                  <a:pt x="938513" y="1041310"/>
                  <a:pt x="910367" y="1099456"/>
                </a:cubicBezTo>
                <a:lnTo>
                  <a:pt x="910367" y="1099465"/>
                </a:lnTo>
                <a:moveTo>
                  <a:pt x="1163437" y="1419551"/>
                </a:moveTo>
                <a:cubicBezTo>
                  <a:pt x="1240969" y="1389138"/>
                  <a:pt x="1318455" y="1339898"/>
                  <a:pt x="1387693" y="1273037"/>
                </a:cubicBezTo>
                <a:cubicBezTo>
                  <a:pt x="1391973" y="1268712"/>
                  <a:pt x="1396197" y="1264323"/>
                  <a:pt x="1400266" y="1259943"/>
                </a:cubicBezTo>
                <a:cubicBezTo>
                  <a:pt x="1401967" y="1258141"/>
                  <a:pt x="1403622" y="1256285"/>
                  <a:pt x="1405268" y="1254475"/>
                </a:cubicBezTo>
                <a:cubicBezTo>
                  <a:pt x="1408414" y="1251073"/>
                  <a:pt x="1411404" y="1247571"/>
                  <a:pt x="1414449" y="1244114"/>
                </a:cubicBezTo>
                <a:cubicBezTo>
                  <a:pt x="1486412" y="1161069"/>
                  <a:pt x="1530642" y="1067141"/>
                  <a:pt x="1544001" y="980219"/>
                </a:cubicBezTo>
                <a:cubicBezTo>
                  <a:pt x="1544202" y="976561"/>
                  <a:pt x="1544303" y="972949"/>
                  <a:pt x="1544303" y="969392"/>
                </a:cubicBezTo>
                <a:cubicBezTo>
                  <a:pt x="1544303" y="932688"/>
                  <a:pt x="1533897" y="902321"/>
                  <a:pt x="1512555" y="880979"/>
                </a:cubicBezTo>
                <a:cubicBezTo>
                  <a:pt x="1491213" y="859637"/>
                  <a:pt x="1460845" y="849276"/>
                  <a:pt x="1424141" y="849222"/>
                </a:cubicBezTo>
                <a:cubicBezTo>
                  <a:pt x="1380991" y="849222"/>
                  <a:pt x="1329492" y="863761"/>
                  <a:pt x="1275926" y="891339"/>
                </a:cubicBezTo>
                <a:cubicBezTo>
                  <a:pt x="1222361" y="918871"/>
                  <a:pt x="1166784" y="959343"/>
                  <a:pt x="1115339" y="1010842"/>
                </a:cubicBezTo>
                <a:cubicBezTo>
                  <a:pt x="1063886" y="1062295"/>
                  <a:pt x="1023369" y="1117863"/>
                  <a:pt x="995836" y="1171429"/>
                </a:cubicBezTo>
                <a:cubicBezTo>
                  <a:pt x="968258" y="1224994"/>
                  <a:pt x="953719" y="1276548"/>
                  <a:pt x="953719" y="1319644"/>
                </a:cubicBezTo>
                <a:cubicBezTo>
                  <a:pt x="953719" y="1356348"/>
                  <a:pt x="964134" y="1386715"/>
                  <a:pt x="985476" y="1408057"/>
                </a:cubicBezTo>
                <a:cubicBezTo>
                  <a:pt x="1006818" y="1429399"/>
                  <a:pt x="1037186" y="1439759"/>
                  <a:pt x="1073890" y="1439814"/>
                </a:cubicBezTo>
                <a:cubicBezTo>
                  <a:pt x="1077447" y="1439814"/>
                  <a:pt x="1081059" y="1439659"/>
                  <a:pt x="1084716" y="1439503"/>
                </a:cubicBezTo>
                <a:cubicBezTo>
                  <a:pt x="1110493" y="1435535"/>
                  <a:pt x="1136892" y="1428878"/>
                  <a:pt x="1163437" y="1419551"/>
                </a:cubicBezTo>
                <a:lnTo>
                  <a:pt x="1163437" y="1419551"/>
                </a:lnTo>
                <a:moveTo>
                  <a:pt x="793087" y="656887"/>
                </a:moveTo>
                <a:cubicBezTo>
                  <a:pt x="793809" y="656164"/>
                  <a:pt x="794531" y="655488"/>
                  <a:pt x="795245" y="654765"/>
                </a:cubicBezTo>
                <a:lnTo>
                  <a:pt x="784162" y="654765"/>
                </a:lnTo>
                <a:lnTo>
                  <a:pt x="749570" y="660489"/>
                </a:lnTo>
                <a:cubicBezTo>
                  <a:pt x="703896" y="668015"/>
                  <a:pt x="668070" y="703850"/>
                  <a:pt x="660489" y="749570"/>
                </a:cubicBezTo>
                <a:lnTo>
                  <a:pt x="654765" y="784162"/>
                </a:lnTo>
                <a:lnTo>
                  <a:pt x="654765" y="835826"/>
                </a:lnTo>
                <a:cubicBezTo>
                  <a:pt x="691058" y="773290"/>
                  <a:pt x="737308" y="712665"/>
                  <a:pt x="793087" y="656887"/>
                </a:cubicBezTo>
                <a:lnTo>
                  <a:pt x="793087" y="656887"/>
                </a:lnTo>
                <a:moveTo>
                  <a:pt x="1504819" y="241109"/>
                </a:moveTo>
                <a:cubicBezTo>
                  <a:pt x="1478832" y="241164"/>
                  <a:pt x="1452488" y="242554"/>
                  <a:pt x="1425888" y="245077"/>
                </a:cubicBezTo>
                <a:cubicBezTo>
                  <a:pt x="1432024" y="244922"/>
                  <a:pt x="1438214" y="244767"/>
                  <a:pt x="1444295" y="244767"/>
                </a:cubicBezTo>
                <a:cubicBezTo>
                  <a:pt x="1585597" y="244767"/>
                  <a:pt x="1712781" y="288850"/>
                  <a:pt x="1805108" y="381177"/>
                </a:cubicBezTo>
                <a:cubicBezTo>
                  <a:pt x="1897444" y="473513"/>
                  <a:pt x="1941518" y="600688"/>
                  <a:pt x="1941518" y="741999"/>
                </a:cubicBezTo>
                <a:cubicBezTo>
                  <a:pt x="1941472" y="976040"/>
                  <a:pt x="1821037" y="1249272"/>
                  <a:pt x="1598024" y="1472339"/>
                </a:cubicBezTo>
                <a:cubicBezTo>
                  <a:pt x="1374956" y="1695352"/>
                  <a:pt x="1101678" y="1815779"/>
                  <a:pt x="867683" y="1815834"/>
                </a:cubicBezTo>
                <a:cubicBezTo>
                  <a:pt x="726372" y="1815834"/>
                  <a:pt x="599197" y="1771760"/>
                  <a:pt x="506861" y="1679424"/>
                </a:cubicBezTo>
                <a:cubicBezTo>
                  <a:pt x="414534" y="1587097"/>
                  <a:pt x="370460" y="1459913"/>
                  <a:pt x="370460" y="1318611"/>
                </a:cubicBezTo>
                <a:cubicBezTo>
                  <a:pt x="370460" y="1242103"/>
                  <a:pt x="383444" y="1161425"/>
                  <a:pt x="408554" y="1079714"/>
                </a:cubicBezTo>
                <a:cubicBezTo>
                  <a:pt x="394792" y="1118586"/>
                  <a:pt x="383344" y="1157457"/>
                  <a:pt x="374474" y="1196117"/>
                </a:cubicBezTo>
                <a:cubicBezTo>
                  <a:pt x="374218" y="1197361"/>
                  <a:pt x="373907" y="1198596"/>
                  <a:pt x="373651" y="1199830"/>
                </a:cubicBezTo>
                <a:cubicBezTo>
                  <a:pt x="372572" y="1204521"/>
                  <a:pt x="371594" y="1209267"/>
                  <a:pt x="370615" y="1213957"/>
                </a:cubicBezTo>
                <a:cubicBezTo>
                  <a:pt x="359167" y="1270358"/>
                  <a:pt x="353288" y="1325779"/>
                  <a:pt x="353288" y="1379336"/>
                </a:cubicBezTo>
                <a:cubicBezTo>
                  <a:pt x="353288" y="1534665"/>
                  <a:pt x="402062" y="1673965"/>
                  <a:pt x="503304" y="1775262"/>
                </a:cubicBezTo>
                <a:cubicBezTo>
                  <a:pt x="604610" y="1876513"/>
                  <a:pt x="743855" y="1925278"/>
                  <a:pt x="899230" y="1925278"/>
                </a:cubicBezTo>
                <a:cubicBezTo>
                  <a:pt x="1148797" y="1925278"/>
                  <a:pt x="1439293" y="1799027"/>
                  <a:pt x="1675355" y="1562920"/>
                </a:cubicBezTo>
                <a:cubicBezTo>
                  <a:pt x="1911462" y="1326858"/>
                  <a:pt x="2037768" y="1036363"/>
                  <a:pt x="2037713" y="786795"/>
                </a:cubicBezTo>
                <a:cubicBezTo>
                  <a:pt x="2037713" y="631466"/>
                  <a:pt x="1988948" y="492176"/>
                  <a:pt x="1887697" y="390869"/>
                </a:cubicBezTo>
                <a:cubicBezTo>
                  <a:pt x="1789289" y="292462"/>
                  <a:pt x="1654890" y="243788"/>
                  <a:pt x="1504764" y="241109"/>
                </a:cubicBezTo>
                <a:lnTo>
                  <a:pt x="1504819" y="241109"/>
                </a:lnTo>
                <a:moveTo>
                  <a:pt x="1896100" y="382576"/>
                </a:moveTo>
                <a:cubicBezTo>
                  <a:pt x="1999930" y="486397"/>
                  <a:pt x="2049628" y="629098"/>
                  <a:pt x="2049628" y="786850"/>
                </a:cubicBezTo>
                <a:cubicBezTo>
                  <a:pt x="2049628" y="1040377"/>
                  <a:pt x="1921776" y="1333305"/>
                  <a:pt x="1683758" y="1571323"/>
                </a:cubicBezTo>
                <a:cubicBezTo>
                  <a:pt x="1445740" y="1809287"/>
                  <a:pt x="1152766" y="1937138"/>
                  <a:pt x="899285" y="1937193"/>
                </a:cubicBezTo>
                <a:cubicBezTo>
                  <a:pt x="741533" y="1937193"/>
                  <a:pt x="598831" y="1887541"/>
                  <a:pt x="495010" y="1783665"/>
                </a:cubicBezTo>
                <a:cubicBezTo>
                  <a:pt x="444792" y="1733456"/>
                  <a:pt x="407365" y="1674120"/>
                  <a:pt x="381954" y="1608384"/>
                </a:cubicBezTo>
                <a:cubicBezTo>
                  <a:pt x="409432" y="1695974"/>
                  <a:pt x="455362" y="1774750"/>
                  <a:pt x="520476" y="1839910"/>
                </a:cubicBezTo>
                <a:cubicBezTo>
                  <a:pt x="634813" y="1954256"/>
                  <a:pt x="791230" y="2009467"/>
                  <a:pt x="963467" y="2009522"/>
                </a:cubicBezTo>
                <a:cubicBezTo>
                  <a:pt x="1223028" y="2009522"/>
                  <a:pt x="1518169" y="1883728"/>
                  <a:pt x="1755831" y="1646075"/>
                </a:cubicBezTo>
                <a:cubicBezTo>
                  <a:pt x="1993538" y="1408414"/>
                  <a:pt x="2119378" y="1113273"/>
                  <a:pt x="2119323" y="853711"/>
                </a:cubicBezTo>
                <a:cubicBezTo>
                  <a:pt x="2119323" y="681475"/>
                  <a:pt x="2064057" y="525067"/>
                  <a:pt x="1949711" y="410721"/>
                </a:cubicBezTo>
                <a:cubicBezTo>
                  <a:pt x="1896776" y="357777"/>
                  <a:pt x="1834753" y="317516"/>
                  <a:pt x="1766346" y="289517"/>
                </a:cubicBezTo>
                <a:cubicBezTo>
                  <a:pt x="1814078" y="313337"/>
                  <a:pt x="1857750" y="344217"/>
                  <a:pt x="1896100" y="382576"/>
                </a:cubicBezTo>
                <a:lnTo>
                  <a:pt x="1896100" y="382576"/>
                </a:lnTo>
                <a:moveTo>
                  <a:pt x="524445" y="1891363"/>
                </a:moveTo>
                <a:cubicBezTo>
                  <a:pt x="646883" y="2013792"/>
                  <a:pt x="813907" y="2072981"/>
                  <a:pt x="996815" y="2073027"/>
                </a:cubicBezTo>
                <a:cubicBezTo>
                  <a:pt x="1265200" y="2073027"/>
                  <a:pt x="1567455" y="1945231"/>
                  <a:pt x="1809908" y="1702777"/>
                </a:cubicBezTo>
                <a:cubicBezTo>
                  <a:pt x="2052407" y="1460324"/>
                  <a:pt x="2180204" y="1158078"/>
                  <a:pt x="2180158" y="889693"/>
                </a:cubicBezTo>
                <a:cubicBezTo>
                  <a:pt x="2180158" y="706785"/>
                  <a:pt x="2120923" y="539752"/>
                  <a:pt x="1998485" y="417314"/>
                </a:cubicBezTo>
                <a:cubicBezTo>
                  <a:pt x="1918942" y="337825"/>
                  <a:pt x="1820625" y="284982"/>
                  <a:pt x="1711336" y="257714"/>
                </a:cubicBezTo>
                <a:cubicBezTo>
                  <a:pt x="1804751" y="285293"/>
                  <a:pt x="1888940" y="333180"/>
                  <a:pt x="1958069" y="402363"/>
                </a:cubicBezTo>
                <a:cubicBezTo>
                  <a:pt x="2074993" y="519233"/>
                  <a:pt x="2131128" y="678997"/>
                  <a:pt x="2131128" y="853711"/>
                </a:cubicBezTo>
                <a:cubicBezTo>
                  <a:pt x="2131128" y="1117095"/>
                  <a:pt x="2003798" y="1414760"/>
                  <a:pt x="1764179" y="1654424"/>
                </a:cubicBezTo>
                <a:cubicBezTo>
                  <a:pt x="1524515" y="1894042"/>
                  <a:pt x="1226850" y="2021327"/>
                  <a:pt x="963467" y="2021373"/>
                </a:cubicBezTo>
                <a:cubicBezTo>
                  <a:pt x="788752" y="2021373"/>
                  <a:pt x="628988" y="1965238"/>
                  <a:pt x="512119" y="1848313"/>
                </a:cubicBezTo>
                <a:cubicBezTo>
                  <a:pt x="424839" y="1761034"/>
                  <a:pt x="371384" y="1649788"/>
                  <a:pt x="349941" y="1526316"/>
                </a:cubicBezTo>
                <a:cubicBezTo>
                  <a:pt x="368960" y="1666741"/>
                  <a:pt x="426440" y="1793358"/>
                  <a:pt x="524445" y="1891409"/>
                </a:cubicBezTo>
                <a:lnTo>
                  <a:pt x="524445" y="1891363"/>
                </a:lnTo>
              </a:path>
            </a:pathLst>
          </a:custGeom>
          <a:solidFill>
            <a:srgbClr val="FF8F43"/>
          </a:solidFill>
          <a:ln/>
        </p:spPr>
      </p:sp>
      <p:sp>
        <p:nvSpPr>
          <p:cNvPr id="4" name="Shape 2"/>
          <p:cNvSpPr/>
          <p:nvPr/>
        </p:nvSpPr>
        <p:spPr>
          <a:xfrm>
            <a:off x="10896941" y="6472260"/>
            <a:ext cx="218478" cy="218478"/>
          </a:xfrm>
          <a:custGeom>
            <a:avLst/>
            <a:gdLst/>
            <a:ahLst/>
            <a:cxnLst/>
            <a:rect l="l" t="t" r="r" b="b"/>
            <a:pathLst>
              <a:path w="218478" h="218478">
                <a:moveTo>
                  <a:pt x="44952" y="116659"/>
                </a:moveTo>
                <a:lnTo>
                  <a:pt x="0" y="109243"/>
                </a:lnTo>
                <a:lnTo>
                  <a:pt x="44952" y="101818"/>
                </a:lnTo>
                <a:cubicBezTo>
                  <a:pt x="74130" y="97018"/>
                  <a:pt x="97018" y="74130"/>
                  <a:pt x="101818" y="44952"/>
                </a:cubicBezTo>
                <a:lnTo>
                  <a:pt x="109243" y="0"/>
                </a:lnTo>
                <a:lnTo>
                  <a:pt x="116659" y="44952"/>
                </a:lnTo>
                <a:cubicBezTo>
                  <a:pt x="121460" y="74130"/>
                  <a:pt x="144347" y="97018"/>
                  <a:pt x="173526" y="101818"/>
                </a:cubicBezTo>
                <a:lnTo>
                  <a:pt x="218478" y="109243"/>
                </a:lnTo>
                <a:lnTo>
                  <a:pt x="173526" y="116659"/>
                </a:lnTo>
                <a:cubicBezTo>
                  <a:pt x="144347" y="121460"/>
                  <a:pt x="121460" y="144347"/>
                  <a:pt x="116659" y="173526"/>
                </a:cubicBezTo>
                <a:lnTo>
                  <a:pt x="109243" y="218478"/>
                </a:lnTo>
                <a:lnTo>
                  <a:pt x="101818" y="173526"/>
                </a:lnTo>
                <a:cubicBezTo>
                  <a:pt x="97018" y="144347"/>
                  <a:pt x="74130" y="121460"/>
                  <a:pt x="44952" y="116659"/>
                </a:cubicBezTo>
              </a:path>
            </a:pathLst>
          </a:custGeom>
          <a:solidFill>
            <a:srgbClr val="FF8F43"/>
          </a:solidFill>
          <a:ln/>
        </p:spPr>
      </p:sp>
      <p:sp>
        <p:nvSpPr>
          <p:cNvPr id="5" name="Shape 3"/>
          <p:cNvSpPr/>
          <p:nvPr/>
        </p:nvSpPr>
        <p:spPr>
          <a:xfrm>
            <a:off x="12019139" y="5695414"/>
            <a:ext cx="188686" cy="188686"/>
          </a:xfrm>
          <a:custGeom>
            <a:avLst/>
            <a:gdLst/>
            <a:ahLst/>
            <a:cxnLst/>
            <a:rect l="l" t="t" r="r" b="b"/>
            <a:pathLst>
              <a:path w="188686" h="188686">
                <a:moveTo>
                  <a:pt x="87947" y="38816"/>
                </a:moveTo>
                <a:lnTo>
                  <a:pt x="94339" y="0"/>
                </a:lnTo>
                <a:lnTo>
                  <a:pt x="100730" y="38816"/>
                </a:lnTo>
                <a:cubicBezTo>
                  <a:pt x="104909" y="64026"/>
                  <a:pt x="124651" y="83768"/>
                  <a:pt x="149861" y="87947"/>
                </a:cubicBezTo>
                <a:lnTo>
                  <a:pt x="188686" y="94339"/>
                </a:lnTo>
                <a:lnTo>
                  <a:pt x="149861" y="100730"/>
                </a:lnTo>
                <a:cubicBezTo>
                  <a:pt x="124651" y="104909"/>
                  <a:pt x="104909" y="124651"/>
                  <a:pt x="100730" y="149861"/>
                </a:cubicBezTo>
                <a:lnTo>
                  <a:pt x="94339" y="188686"/>
                </a:lnTo>
                <a:lnTo>
                  <a:pt x="87947" y="149861"/>
                </a:lnTo>
                <a:cubicBezTo>
                  <a:pt x="83768" y="124651"/>
                  <a:pt x="64026" y="104909"/>
                  <a:pt x="38816" y="100730"/>
                </a:cubicBezTo>
                <a:lnTo>
                  <a:pt x="0" y="94339"/>
                </a:lnTo>
                <a:lnTo>
                  <a:pt x="38816" y="87947"/>
                </a:lnTo>
                <a:cubicBezTo>
                  <a:pt x="64026" y="83768"/>
                  <a:pt x="83768" y="64026"/>
                  <a:pt x="87947" y="38816"/>
                </a:cubicBezTo>
                <a:lnTo>
                  <a:pt x="87947" y="38816"/>
                </a:lnTo>
              </a:path>
            </a:pathLst>
          </a:custGeom>
          <a:solidFill>
            <a:srgbClr val="FF8F43"/>
          </a:solidFill>
          <a:ln/>
        </p:spPr>
      </p:sp>
      <p:sp>
        <p:nvSpPr>
          <p:cNvPr id="6" name="Shape 4"/>
          <p:cNvSpPr/>
          <p:nvPr/>
        </p:nvSpPr>
        <p:spPr>
          <a:xfrm>
            <a:off x="11079593" y="6036951"/>
            <a:ext cx="130220" cy="130220"/>
          </a:xfrm>
          <a:custGeom>
            <a:avLst/>
            <a:gdLst/>
            <a:ahLst/>
            <a:cxnLst/>
            <a:rect l="l" t="t" r="r" b="b"/>
            <a:pathLst>
              <a:path w="130220" h="130220">
                <a:moveTo>
                  <a:pt x="60680" y="26810"/>
                </a:moveTo>
                <a:lnTo>
                  <a:pt x="65114" y="0"/>
                </a:lnTo>
                <a:lnTo>
                  <a:pt x="69540" y="26810"/>
                </a:lnTo>
                <a:cubicBezTo>
                  <a:pt x="72430" y="44184"/>
                  <a:pt x="86045" y="57845"/>
                  <a:pt x="103409" y="60680"/>
                </a:cubicBezTo>
                <a:lnTo>
                  <a:pt x="130220" y="65114"/>
                </a:lnTo>
                <a:lnTo>
                  <a:pt x="103409" y="69540"/>
                </a:lnTo>
                <a:cubicBezTo>
                  <a:pt x="86045" y="72430"/>
                  <a:pt x="72384" y="86045"/>
                  <a:pt x="69540" y="103419"/>
                </a:cubicBezTo>
                <a:lnTo>
                  <a:pt x="65114" y="130220"/>
                </a:lnTo>
                <a:lnTo>
                  <a:pt x="60680" y="103419"/>
                </a:lnTo>
                <a:cubicBezTo>
                  <a:pt x="57790" y="86045"/>
                  <a:pt x="44184" y="72384"/>
                  <a:pt x="26810" y="69540"/>
                </a:cubicBezTo>
                <a:lnTo>
                  <a:pt x="0" y="65114"/>
                </a:lnTo>
                <a:lnTo>
                  <a:pt x="26810" y="60680"/>
                </a:lnTo>
                <a:cubicBezTo>
                  <a:pt x="44184" y="57790"/>
                  <a:pt x="57845" y="44184"/>
                  <a:pt x="60680" y="26810"/>
                </a:cubicBezTo>
              </a:path>
            </a:pathLst>
          </a:custGeom>
          <a:solidFill>
            <a:srgbClr val="FF8F43"/>
          </a:solidFill>
          <a:ln/>
        </p:spPr>
      </p:sp>
      <p:sp>
        <p:nvSpPr>
          <p:cNvPr id="7" name="Shape 5"/>
          <p:cNvSpPr/>
          <p:nvPr/>
        </p:nvSpPr>
        <p:spPr>
          <a:xfrm>
            <a:off x="1013100" y="5689479"/>
            <a:ext cx="831647" cy="123087"/>
          </a:xfrm>
          <a:custGeom>
            <a:avLst/>
            <a:gdLst/>
            <a:ahLst/>
            <a:cxnLst/>
            <a:rect l="l" t="t" r="r" b="b"/>
            <a:pathLst>
              <a:path w="831647" h="123087">
                <a:moveTo>
                  <a:pt x="829608" y="45656"/>
                </a:moveTo>
                <a:cubicBezTo>
                  <a:pt x="827578" y="41843"/>
                  <a:pt x="822832" y="40407"/>
                  <a:pt x="819019" y="42437"/>
                </a:cubicBezTo>
                <a:cubicBezTo>
                  <a:pt x="811457" y="46479"/>
                  <a:pt x="803986" y="50667"/>
                  <a:pt x="796762" y="54718"/>
                </a:cubicBezTo>
                <a:cubicBezTo>
                  <a:pt x="748345" y="81821"/>
                  <a:pt x="702607" y="107433"/>
                  <a:pt x="608725" y="107433"/>
                </a:cubicBezTo>
                <a:cubicBezTo>
                  <a:pt x="514835" y="107433"/>
                  <a:pt x="469087" y="81821"/>
                  <a:pt x="420670" y="54718"/>
                </a:cubicBezTo>
                <a:cubicBezTo>
                  <a:pt x="372636" y="27816"/>
                  <a:pt x="322957" y="0"/>
                  <a:pt x="224979" y="0"/>
                </a:cubicBezTo>
                <a:cubicBezTo>
                  <a:pt x="127001" y="0"/>
                  <a:pt x="77331" y="27816"/>
                  <a:pt x="29288" y="54718"/>
                </a:cubicBezTo>
                <a:cubicBezTo>
                  <a:pt x="21479" y="59089"/>
                  <a:pt x="13396" y="63606"/>
                  <a:pt x="5276" y="67912"/>
                </a:cubicBezTo>
                <a:cubicBezTo>
                  <a:pt x="1454" y="69933"/>
                  <a:pt x="0" y="74670"/>
                  <a:pt x="2021" y="78492"/>
                </a:cubicBezTo>
                <a:cubicBezTo>
                  <a:pt x="4051" y="82314"/>
                  <a:pt x="8787" y="83777"/>
                  <a:pt x="12610" y="81747"/>
                </a:cubicBezTo>
                <a:cubicBezTo>
                  <a:pt x="20894" y="77358"/>
                  <a:pt x="29050" y="72795"/>
                  <a:pt x="36933" y="68379"/>
                </a:cubicBezTo>
                <a:cubicBezTo>
                  <a:pt x="85359" y="41258"/>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76" y="64374"/>
                  <a:pt x="818973" y="60213"/>
                  <a:pt x="826398" y="56254"/>
                </a:cubicBezTo>
                <a:cubicBezTo>
                  <a:pt x="830211" y="54215"/>
                  <a:pt x="831647" y="49478"/>
                  <a:pt x="829608" y="45656"/>
                </a:cubicBezTo>
              </a:path>
            </a:pathLst>
          </a:custGeom>
          <a:solidFill>
            <a:srgbClr val="2B0000"/>
          </a:solidFill>
          <a:ln/>
        </p:spPr>
      </p:sp>
      <p:sp>
        <p:nvSpPr>
          <p:cNvPr id="8" name="Shape 6"/>
          <p:cNvSpPr/>
          <p:nvPr/>
        </p:nvSpPr>
        <p:spPr>
          <a:xfrm>
            <a:off x="1013100" y="5849874"/>
            <a:ext cx="831647" cy="123087"/>
          </a:xfrm>
          <a:custGeom>
            <a:avLst/>
            <a:gdLst/>
            <a:ahLst/>
            <a:cxnLst/>
            <a:rect l="l" t="t" r="r" b="b"/>
            <a:pathLst>
              <a:path w="831647" h="123087">
                <a:moveTo>
                  <a:pt x="829608" y="45656"/>
                </a:moveTo>
                <a:cubicBezTo>
                  <a:pt x="827578" y="41843"/>
                  <a:pt x="822832" y="40398"/>
                  <a:pt x="819019" y="42437"/>
                </a:cubicBezTo>
                <a:cubicBezTo>
                  <a:pt x="811457" y="46479"/>
                  <a:pt x="803986" y="50658"/>
                  <a:pt x="796762" y="54709"/>
                </a:cubicBezTo>
                <a:cubicBezTo>
                  <a:pt x="748345" y="81821"/>
                  <a:pt x="702607" y="107424"/>
                  <a:pt x="608725" y="107424"/>
                </a:cubicBezTo>
                <a:cubicBezTo>
                  <a:pt x="514835" y="107424"/>
                  <a:pt x="469087" y="81821"/>
                  <a:pt x="420670" y="54709"/>
                </a:cubicBezTo>
                <a:cubicBezTo>
                  <a:pt x="372636" y="27807"/>
                  <a:pt x="322957" y="0"/>
                  <a:pt x="224979" y="0"/>
                </a:cubicBezTo>
                <a:cubicBezTo>
                  <a:pt x="127001" y="0"/>
                  <a:pt x="77322" y="27807"/>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67"/>
                  <a:pt x="413025" y="68379"/>
                </a:cubicBezTo>
                <a:cubicBezTo>
                  <a:pt x="461068" y="95271"/>
                  <a:pt x="510738" y="123087"/>
                  <a:pt x="608725" y="123087"/>
                </a:cubicBezTo>
                <a:cubicBezTo>
                  <a:pt x="706694" y="123087"/>
                  <a:pt x="756364" y="95271"/>
                  <a:pt x="804407" y="68379"/>
                </a:cubicBezTo>
                <a:cubicBezTo>
                  <a:pt x="811576" y="64365"/>
                  <a:pt x="818973" y="60213"/>
                  <a:pt x="826398" y="56254"/>
                </a:cubicBezTo>
                <a:cubicBezTo>
                  <a:pt x="830211" y="54206"/>
                  <a:pt x="831647" y="49469"/>
                  <a:pt x="829608" y="45656"/>
                </a:cubicBezTo>
              </a:path>
            </a:pathLst>
          </a:custGeom>
          <a:solidFill>
            <a:srgbClr val="2B0000"/>
          </a:solidFill>
          <a:ln/>
        </p:spPr>
      </p:sp>
      <p:sp>
        <p:nvSpPr>
          <p:cNvPr id="9" name="Shape 7"/>
          <p:cNvSpPr/>
          <p:nvPr/>
        </p:nvSpPr>
        <p:spPr>
          <a:xfrm>
            <a:off x="1013100" y="6010260"/>
            <a:ext cx="831647" cy="123087"/>
          </a:xfrm>
          <a:custGeom>
            <a:avLst/>
            <a:gdLst/>
            <a:ahLst/>
            <a:cxnLst/>
            <a:rect l="l" t="t" r="r" b="b"/>
            <a:pathLst>
              <a:path w="831647" h="123087">
                <a:moveTo>
                  <a:pt x="829608" y="45656"/>
                </a:moveTo>
                <a:cubicBezTo>
                  <a:pt x="827578" y="41843"/>
                  <a:pt x="822832" y="40407"/>
                  <a:pt x="819019" y="42446"/>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18"/>
                </a:cubicBezTo>
                <a:cubicBezTo>
                  <a:pt x="21470" y="59089"/>
                  <a:pt x="13396" y="63606"/>
                  <a:pt x="5276" y="67912"/>
                </a:cubicBezTo>
                <a:cubicBezTo>
                  <a:pt x="1454" y="69933"/>
                  <a:pt x="0" y="74670"/>
                  <a:pt x="2021" y="78501"/>
                </a:cubicBezTo>
                <a:cubicBezTo>
                  <a:pt x="4051" y="82314"/>
                  <a:pt x="8787" y="83777"/>
                  <a:pt x="12610" y="81747"/>
                </a:cubicBezTo>
                <a:cubicBezTo>
                  <a:pt x="20894" y="77358"/>
                  <a:pt x="29041" y="72795"/>
                  <a:pt x="36933" y="68379"/>
                </a:cubicBezTo>
                <a:cubicBezTo>
                  <a:pt x="85350" y="41267"/>
                  <a:pt x="131088" y="15664"/>
                  <a:pt x="224979" y="15664"/>
                </a:cubicBezTo>
                <a:cubicBezTo>
                  <a:pt x="318870" y="15664"/>
                  <a:pt x="364608" y="41267"/>
                  <a:pt x="413025" y="68370"/>
                </a:cubicBezTo>
                <a:cubicBezTo>
                  <a:pt x="461068" y="95271"/>
                  <a:pt x="510738" y="123087"/>
                  <a:pt x="608725" y="123087"/>
                </a:cubicBezTo>
                <a:cubicBezTo>
                  <a:pt x="706694" y="123087"/>
                  <a:pt x="756364" y="95271"/>
                  <a:pt x="804407" y="68370"/>
                </a:cubicBezTo>
                <a:cubicBezTo>
                  <a:pt x="811567" y="64365"/>
                  <a:pt x="818973" y="60222"/>
                  <a:pt x="826398" y="56254"/>
                </a:cubicBezTo>
                <a:cubicBezTo>
                  <a:pt x="830211" y="54215"/>
                  <a:pt x="831647" y="49469"/>
                  <a:pt x="829608" y="45656"/>
                </a:cubicBezTo>
              </a:path>
            </a:pathLst>
          </a:custGeom>
          <a:solidFill>
            <a:srgbClr val="2B0000"/>
          </a:solidFill>
          <a:ln/>
        </p:spPr>
      </p:sp>
      <p:sp>
        <p:nvSpPr>
          <p:cNvPr id="10" name="Shape 8"/>
          <p:cNvSpPr/>
          <p:nvPr/>
        </p:nvSpPr>
        <p:spPr>
          <a:xfrm>
            <a:off x="1013100" y="6170655"/>
            <a:ext cx="831647" cy="123087"/>
          </a:xfrm>
          <a:custGeom>
            <a:avLst/>
            <a:gdLst/>
            <a:ahLst/>
            <a:cxnLst/>
            <a:rect l="l" t="t" r="r" b="b"/>
            <a:pathLst>
              <a:path w="831647" h="123087">
                <a:moveTo>
                  <a:pt x="826398" y="56254"/>
                </a:moveTo>
                <a:cubicBezTo>
                  <a:pt x="830211" y="54215"/>
                  <a:pt x="831647" y="49469"/>
                  <a:pt x="829608" y="45656"/>
                </a:cubicBezTo>
                <a:cubicBezTo>
                  <a:pt x="827578" y="41843"/>
                  <a:pt x="822832" y="40398"/>
                  <a:pt x="819019" y="42437"/>
                </a:cubicBezTo>
                <a:cubicBezTo>
                  <a:pt x="811457" y="46479"/>
                  <a:pt x="803986" y="50667"/>
                  <a:pt x="796762" y="54709"/>
                </a:cubicBezTo>
                <a:cubicBezTo>
                  <a:pt x="748336" y="81821"/>
                  <a:pt x="702607" y="107433"/>
                  <a:pt x="608725" y="107433"/>
                </a:cubicBezTo>
                <a:cubicBezTo>
                  <a:pt x="514835" y="107433"/>
                  <a:pt x="469087" y="81821"/>
                  <a:pt x="420670" y="54709"/>
                </a:cubicBezTo>
                <a:cubicBezTo>
                  <a:pt x="372636" y="27816"/>
                  <a:pt x="322957" y="0"/>
                  <a:pt x="224979" y="0"/>
                </a:cubicBezTo>
                <a:cubicBezTo>
                  <a:pt x="127001" y="0"/>
                  <a:pt x="77322" y="27816"/>
                  <a:pt x="29279" y="54709"/>
                </a:cubicBezTo>
                <a:cubicBezTo>
                  <a:pt x="21470" y="59089"/>
                  <a:pt x="13396" y="63606"/>
                  <a:pt x="5276" y="67912"/>
                </a:cubicBezTo>
                <a:cubicBezTo>
                  <a:pt x="1454" y="69933"/>
                  <a:pt x="0" y="74670"/>
                  <a:pt x="2021" y="78492"/>
                </a:cubicBezTo>
                <a:cubicBezTo>
                  <a:pt x="4051" y="82314"/>
                  <a:pt x="8787" y="83777"/>
                  <a:pt x="12610" y="81747"/>
                </a:cubicBezTo>
                <a:cubicBezTo>
                  <a:pt x="20894" y="77358"/>
                  <a:pt x="29041" y="72786"/>
                  <a:pt x="36933" y="68379"/>
                </a:cubicBezTo>
                <a:cubicBezTo>
                  <a:pt x="85350" y="41267"/>
                  <a:pt x="131088" y="15655"/>
                  <a:pt x="224979" y="15655"/>
                </a:cubicBezTo>
                <a:cubicBezTo>
                  <a:pt x="318870" y="15655"/>
                  <a:pt x="364608" y="41258"/>
                  <a:pt x="413025" y="68379"/>
                </a:cubicBezTo>
                <a:cubicBezTo>
                  <a:pt x="461068" y="95271"/>
                  <a:pt x="510738" y="123087"/>
                  <a:pt x="608725" y="123087"/>
                </a:cubicBezTo>
                <a:cubicBezTo>
                  <a:pt x="706694" y="123087"/>
                  <a:pt x="756364" y="95271"/>
                  <a:pt x="804407" y="68379"/>
                </a:cubicBezTo>
                <a:cubicBezTo>
                  <a:pt x="811567" y="64365"/>
                  <a:pt x="818973" y="60213"/>
                  <a:pt x="826398" y="56254"/>
                </a:cubicBezTo>
              </a:path>
            </a:pathLst>
          </a:custGeom>
          <a:solidFill>
            <a:srgbClr val="2B0000"/>
          </a:solidFill>
          <a:ln/>
        </p:spPr>
      </p:sp>
      <p:sp>
        <p:nvSpPr>
          <p:cNvPr id="11" name="Shape 9"/>
          <p:cNvSpPr/>
          <p:nvPr/>
        </p:nvSpPr>
        <p:spPr>
          <a:xfrm>
            <a:off x="925611" y="2878211"/>
            <a:ext cx="282010" cy="361051"/>
          </a:xfrm>
          <a:custGeom>
            <a:avLst/>
            <a:gdLst/>
            <a:ahLst/>
            <a:cxnLst/>
            <a:rect l="l" t="t" r="r" b="b"/>
            <a:pathLst>
              <a:path w="282010" h="361051">
                <a:moveTo>
                  <a:pt x="186858" y="171011"/>
                </a:moveTo>
                <a:cubicBezTo>
                  <a:pt x="168140" y="168314"/>
                  <a:pt x="153464" y="153564"/>
                  <a:pt x="150867" y="134828"/>
                </a:cubicBezTo>
                <a:lnTo>
                  <a:pt x="141375" y="0"/>
                </a:lnTo>
                <a:lnTo>
                  <a:pt x="131290" y="134033"/>
                </a:lnTo>
                <a:cubicBezTo>
                  <a:pt x="128592" y="152458"/>
                  <a:pt x="114209" y="166969"/>
                  <a:pt x="95811" y="169832"/>
                </a:cubicBezTo>
                <a:lnTo>
                  <a:pt x="0" y="180530"/>
                </a:lnTo>
                <a:lnTo>
                  <a:pt x="95820" y="191219"/>
                </a:lnTo>
                <a:cubicBezTo>
                  <a:pt x="114209" y="194081"/>
                  <a:pt x="128592" y="208602"/>
                  <a:pt x="131290" y="227018"/>
                </a:cubicBezTo>
                <a:lnTo>
                  <a:pt x="141375" y="361051"/>
                </a:lnTo>
                <a:lnTo>
                  <a:pt x="150867" y="226223"/>
                </a:lnTo>
                <a:cubicBezTo>
                  <a:pt x="153464" y="207496"/>
                  <a:pt x="168140" y="192737"/>
                  <a:pt x="186858" y="190049"/>
                </a:cubicBezTo>
                <a:lnTo>
                  <a:pt x="282010" y="180530"/>
                </a:lnTo>
                <a:lnTo>
                  <a:pt x="186858" y="171011"/>
                </a:lnTo>
              </a:path>
            </a:pathLst>
          </a:custGeom>
          <a:solidFill>
            <a:srgbClr val="FFEFDA"/>
          </a:solidFill>
          <a:ln/>
        </p:spPr>
      </p:sp>
      <p:pic>
        <p:nvPicPr>
          <p:cNvPr id="12" name="Image 0" descr="D:\Projects\20. fintechthon\deck\out\template_assets\p7_x57.png">    </p:cNvPr>
          <p:cNvPicPr>
            <a:picLocks noChangeAspect="1"/>
          </p:cNvPicPr>
          <p:nvPr/>
        </p:nvPicPr>
        <p:blipFill>
          <a:blip r:embed="rId1"/>
          <a:stretch>
            <a:fillRect/>
          </a:stretch>
        </p:blipFill>
        <p:spPr>
          <a:xfrm>
            <a:off x="544734" y="278171"/>
            <a:ext cx="901700" cy="901700"/>
          </a:xfrm>
          <a:prstGeom prst="rect">
            <a:avLst/>
          </a:prstGeom>
        </p:spPr>
      </p:pic>
      <p:sp>
        <p:nvSpPr>
          <p:cNvPr id="13" name="Text 10"/>
          <p:cNvSpPr txBox="1"/>
          <p:nvPr/>
        </p:nvSpPr>
        <p:spPr>
          <a:xfrm>
            <a:off x="2987523" y="389232"/>
            <a:ext cx="6216836" cy="875744"/>
          </a:xfrm>
          <a:prstGeom prst="rect">
            <a:avLst/>
          </a:prstGeom>
          <a:noFill/>
          <a:ln/>
        </p:spPr>
        <p:txBody>
          <a:bodyPr wrap="none" lIns="0" tIns="0" rIns="0" bIns="0" rtlCol="0" anchor="t"/>
          <a:lstStyle/>
          <a:p>
            <a:pPr algn="ctr" indent="0" marL="0">
              <a:buNone/>
            </a:pPr>
            <a:r>
              <a:rPr lang="en-US" sz="6968" b="1" spc="-376" kern="0" dirty="0">
                <a:solidFill>
                  <a:srgbClr val="000000"/>
                </a:solidFill>
                <a:latin typeface="League Spartan" pitchFamily="34" charset="0"/>
                <a:ea typeface="League Spartan" pitchFamily="34" charset="-122"/>
                <a:cs typeface="League Spartan" pitchFamily="34" charset="-120"/>
              </a:rPr>
              <a:t>Feature / USP</a:t>
            </a:r>
            <a:endParaRPr lang="en-US" sz="6968" dirty="0"/>
          </a:p>
        </p:txBody>
      </p:sp>
      <p:sp>
        <p:nvSpPr>
          <p:cNvPr id="14" name="Shape 11"/>
          <p:cNvSpPr/>
          <p:nvPr/>
        </p:nvSpPr>
        <p:spPr>
          <a:xfrm>
            <a:off x="888980" y="1600200"/>
            <a:ext cx="2527310" cy="1062441"/>
          </a:xfrm>
          <a:prstGeom prst="roundRect">
            <a:avLst>
              <a:gd name="adj" fmla="val 10758"/>
            </a:avLst>
          </a:prstGeom>
          <a:solidFill>
            <a:srgbClr val="FFFFFF"/>
          </a:solidFill>
          <a:ln w="6350">
            <a:solidFill>
              <a:srgbClr val="24110C">
                <a:alpha val="13000"/>
              </a:srgbClr>
            </a:solidFill>
            <a:prstDash val="solid"/>
          </a:ln>
        </p:spPr>
      </p:sp>
      <p:sp>
        <p:nvSpPr>
          <p:cNvPr id="15" name="Shape 12"/>
          <p:cNvSpPr/>
          <p:nvPr/>
        </p:nvSpPr>
        <p:spPr>
          <a:xfrm>
            <a:off x="1009680" y="1714500"/>
            <a:ext cx="254020" cy="254020"/>
          </a:xfrm>
          <a:prstGeom prst="roundRect">
            <a:avLst>
              <a:gd name="adj" fmla="val 27502"/>
            </a:avLst>
          </a:prstGeom>
          <a:solidFill>
            <a:srgbClr val="FDDDBF"/>
          </a:solidFill>
          <a:ln/>
        </p:spPr>
      </p:sp>
      <p:pic>
        <p:nvPicPr>
          <p:cNvPr id="16" name="Image 1" descr="D:\Projects\20. fintechthon\deck\out\assets\s7_img079.png">    </p:cNvPr>
          <p:cNvPicPr>
            <a:picLocks noChangeAspect="1"/>
          </p:cNvPicPr>
          <p:nvPr/>
        </p:nvPicPr>
        <p:blipFill>
          <a:blip r:embed="rId2"/>
          <a:stretch>
            <a:fillRect/>
          </a:stretch>
        </p:blipFill>
        <p:spPr>
          <a:xfrm>
            <a:off x="1060430" y="1765341"/>
            <a:ext cx="152430" cy="152430"/>
          </a:xfrm>
          <a:prstGeom prst="rect">
            <a:avLst/>
          </a:prstGeom>
        </p:spPr>
      </p:pic>
      <p:sp>
        <p:nvSpPr>
          <p:cNvPr id="17" name="Text 13"/>
          <p:cNvSpPr txBox="1"/>
          <p:nvPr/>
        </p:nvSpPr>
        <p:spPr>
          <a:xfrm>
            <a:off x="1327160" y="1679570"/>
            <a:ext cx="791779" cy="266730"/>
          </a:xfrm>
          <a:prstGeom prst="rect">
            <a:avLst/>
          </a:prstGeom>
          <a:noFill/>
          <a:ln/>
        </p:spPr>
        <p:txBody>
          <a:bodyPr wrap="none" lIns="0" tIns="0" rIns="0" bIns="0" rtlCol="0" anchor="t"/>
          <a:lstStyle/>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Shows money,</a:t>
            </a:r>
            <a:endParaRPr lang="en-US" sz="1000" dirty="0"/>
          </a:p>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not rows</a:t>
            </a:r>
            <a:endParaRPr lang="en-US" sz="1000" dirty="0"/>
          </a:p>
        </p:txBody>
      </p:sp>
      <p:sp>
        <p:nvSpPr>
          <p:cNvPr id="18" name="Text 14"/>
          <p:cNvSpPr txBox="1"/>
          <p:nvPr/>
        </p:nvSpPr>
        <p:spPr>
          <a:xfrm>
            <a:off x="1009680" y="2026950"/>
            <a:ext cx="2286000" cy="392278"/>
          </a:xfrm>
          <a:prstGeom prst="rect">
            <a:avLst/>
          </a:prstGeom>
          <a:noFill/>
          <a:ln/>
        </p:spPr>
        <p:txBody>
          <a:bodyPr wrap="square" lIns="0" tIns="0" rIns="0" bIns="0" rtlCol="0" anchor="t"/>
          <a:lstStyle/>
          <a:p>
            <a:pPr algn="l" indent="0" marL="0">
              <a:lnSpc>
                <a:spcPts val="1029"/>
              </a:lnSpc>
              <a:buNone/>
            </a:pPr>
            <a:r>
              <a:rPr lang="en-US" sz="725" dirty="0">
                <a:solidFill>
                  <a:srgbClr val="5B4339"/>
                </a:solidFill>
                <a:latin typeface="Inter" pitchFamily="34" charset="0"/>
                <a:ea typeface="Inter" pitchFamily="34" charset="-122"/>
                <a:cs typeface="Inter" pitchFamily="34" charset="-120"/>
              </a:rPr>
              <a:t>Every problem shows the rupees at risk and the rupees you can still claim, sorted so the nearest deadline comes first. You fix what costs most, first.</a:t>
            </a:r>
            <a:endParaRPr lang="en-US" sz="725" dirty="0"/>
          </a:p>
        </p:txBody>
      </p:sp>
      <p:sp>
        <p:nvSpPr>
          <p:cNvPr id="19" name="Shape 15"/>
          <p:cNvSpPr/>
          <p:nvPr/>
        </p:nvSpPr>
        <p:spPr>
          <a:xfrm>
            <a:off x="3517880" y="1600200"/>
            <a:ext cx="2527310" cy="1062441"/>
          </a:xfrm>
          <a:prstGeom prst="roundRect">
            <a:avLst>
              <a:gd name="adj" fmla="val 10758"/>
            </a:avLst>
          </a:prstGeom>
          <a:solidFill>
            <a:srgbClr val="FFFFFF"/>
          </a:solidFill>
          <a:ln w="6350">
            <a:solidFill>
              <a:srgbClr val="24110C">
                <a:alpha val="13000"/>
              </a:srgbClr>
            </a:solidFill>
            <a:prstDash val="solid"/>
          </a:ln>
        </p:spPr>
      </p:sp>
      <p:sp>
        <p:nvSpPr>
          <p:cNvPr id="20" name="Shape 16"/>
          <p:cNvSpPr/>
          <p:nvPr/>
        </p:nvSpPr>
        <p:spPr>
          <a:xfrm>
            <a:off x="3638580" y="1714500"/>
            <a:ext cx="254020" cy="254020"/>
          </a:xfrm>
          <a:prstGeom prst="roundRect">
            <a:avLst>
              <a:gd name="adj" fmla="val 27502"/>
            </a:avLst>
          </a:prstGeom>
          <a:solidFill>
            <a:srgbClr val="DDF3E8"/>
          </a:solidFill>
          <a:ln/>
        </p:spPr>
      </p:sp>
      <p:pic>
        <p:nvPicPr>
          <p:cNvPr id="21" name="Image 2" descr="D:\Projects\20. fintechthon\deck\out\assets\s7_img080.png">    </p:cNvPr>
          <p:cNvPicPr>
            <a:picLocks noChangeAspect="1"/>
          </p:cNvPicPr>
          <p:nvPr/>
        </p:nvPicPr>
        <p:blipFill>
          <a:blip r:embed="rId3"/>
          <a:stretch>
            <a:fillRect/>
          </a:stretch>
        </p:blipFill>
        <p:spPr>
          <a:xfrm>
            <a:off x="3689330" y="1765341"/>
            <a:ext cx="152430" cy="152430"/>
          </a:xfrm>
          <a:prstGeom prst="rect">
            <a:avLst/>
          </a:prstGeom>
        </p:spPr>
      </p:pic>
      <p:sp>
        <p:nvSpPr>
          <p:cNvPr id="22" name="Text 17"/>
          <p:cNvSpPr txBox="1"/>
          <p:nvPr/>
        </p:nvSpPr>
        <p:spPr>
          <a:xfrm>
            <a:off x="3956060" y="1679570"/>
            <a:ext cx="770473" cy="266730"/>
          </a:xfrm>
          <a:prstGeom prst="rect">
            <a:avLst/>
          </a:prstGeom>
          <a:noFill/>
          <a:ln/>
        </p:spPr>
        <p:txBody>
          <a:bodyPr wrap="none" lIns="0" tIns="0" rIns="0" bIns="0" rtlCol="0" anchor="t"/>
          <a:lstStyle/>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Every flag</a:t>
            </a:r>
            <a:endParaRPr lang="en-US" sz="1000" dirty="0"/>
          </a:p>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explains itself</a:t>
            </a:r>
            <a:endParaRPr lang="en-US" sz="1000" dirty="0"/>
          </a:p>
        </p:txBody>
      </p:sp>
      <p:sp>
        <p:nvSpPr>
          <p:cNvPr id="23" name="Text 18"/>
          <p:cNvSpPr txBox="1"/>
          <p:nvPr/>
        </p:nvSpPr>
        <p:spPr>
          <a:xfrm>
            <a:off x="3638580" y="2026950"/>
            <a:ext cx="2286000" cy="522945"/>
          </a:xfrm>
          <a:prstGeom prst="rect">
            <a:avLst/>
          </a:prstGeom>
          <a:noFill/>
          <a:ln/>
        </p:spPr>
        <p:txBody>
          <a:bodyPr wrap="square" lIns="0" tIns="0" rIns="0" bIns="0" rtlCol="0" anchor="t"/>
          <a:lstStyle/>
          <a:p>
            <a:pPr algn="l" indent="0" marL="0">
              <a:lnSpc>
                <a:spcPts val="1029"/>
              </a:lnSpc>
              <a:buNone/>
            </a:pPr>
            <a:r>
              <a:rPr lang="en-US" sz="725" dirty="0">
                <a:solidFill>
                  <a:srgbClr val="5B4339"/>
                </a:solidFill>
                <a:latin typeface="Inter" pitchFamily="34" charset="0"/>
                <a:ea typeface="Inter" pitchFamily="34" charset="-122"/>
                <a:cs typeface="Inter" pitchFamily="34" charset="-120"/>
              </a:rPr>
              <a:t>Each flag gives a plain-language reason, the GST rule behind it, both records side by side and how sure we are. Anyone can check it, so there is no black box.</a:t>
            </a:r>
            <a:endParaRPr lang="en-US" sz="725" dirty="0"/>
          </a:p>
        </p:txBody>
      </p:sp>
      <p:sp>
        <p:nvSpPr>
          <p:cNvPr id="24" name="Shape 19"/>
          <p:cNvSpPr/>
          <p:nvPr/>
        </p:nvSpPr>
        <p:spPr>
          <a:xfrm>
            <a:off x="6146780" y="1600200"/>
            <a:ext cx="2527310" cy="1062441"/>
          </a:xfrm>
          <a:prstGeom prst="roundRect">
            <a:avLst>
              <a:gd name="adj" fmla="val 10758"/>
            </a:avLst>
          </a:prstGeom>
          <a:solidFill>
            <a:srgbClr val="FFFFFF"/>
          </a:solidFill>
          <a:ln w="6350">
            <a:solidFill>
              <a:srgbClr val="24110C">
                <a:alpha val="13000"/>
              </a:srgbClr>
            </a:solidFill>
            <a:prstDash val="solid"/>
          </a:ln>
        </p:spPr>
      </p:sp>
      <p:sp>
        <p:nvSpPr>
          <p:cNvPr id="25" name="Shape 20"/>
          <p:cNvSpPr/>
          <p:nvPr/>
        </p:nvSpPr>
        <p:spPr>
          <a:xfrm>
            <a:off x="6267480" y="1714500"/>
            <a:ext cx="254020" cy="254020"/>
          </a:xfrm>
          <a:prstGeom prst="roundRect">
            <a:avLst>
              <a:gd name="adj" fmla="val 27502"/>
            </a:avLst>
          </a:prstGeom>
          <a:solidFill>
            <a:srgbClr val="E6E2FB"/>
          </a:solidFill>
          <a:ln/>
        </p:spPr>
      </p:sp>
      <p:pic>
        <p:nvPicPr>
          <p:cNvPr id="26" name="Image 3" descr="D:\Projects\20. fintechthon\deck\out\assets\s7_img081.png">    </p:cNvPr>
          <p:cNvPicPr>
            <a:picLocks noChangeAspect="1"/>
          </p:cNvPicPr>
          <p:nvPr/>
        </p:nvPicPr>
        <p:blipFill>
          <a:blip r:embed="rId4"/>
          <a:stretch>
            <a:fillRect/>
          </a:stretch>
        </p:blipFill>
        <p:spPr>
          <a:xfrm>
            <a:off x="6318230" y="1765341"/>
            <a:ext cx="152430" cy="152430"/>
          </a:xfrm>
          <a:prstGeom prst="rect">
            <a:avLst/>
          </a:prstGeom>
        </p:spPr>
      </p:pic>
      <p:sp>
        <p:nvSpPr>
          <p:cNvPr id="27" name="Text 21"/>
          <p:cNvSpPr txBox="1"/>
          <p:nvPr/>
        </p:nvSpPr>
        <p:spPr>
          <a:xfrm>
            <a:off x="6584960" y="1679570"/>
            <a:ext cx="531084" cy="266730"/>
          </a:xfrm>
          <a:prstGeom prst="rect">
            <a:avLst/>
          </a:prstGeom>
          <a:noFill/>
          <a:ln/>
        </p:spPr>
        <p:txBody>
          <a:bodyPr wrap="none" lIns="0" tIns="0" rIns="0" bIns="0" rtlCol="0" anchor="t"/>
          <a:lstStyle/>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Fixes, not</a:t>
            </a:r>
            <a:endParaRPr lang="en-US" sz="1000" dirty="0"/>
          </a:p>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just finds</a:t>
            </a:r>
            <a:endParaRPr lang="en-US" sz="1000" dirty="0"/>
          </a:p>
        </p:txBody>
      </p:sp>
      <p:sp>
        <p:nvSpPr>
          <p:cNvPr id="28" name="Text 22"/>
          <p:cNvSpPr txBox="1"/>
          <p:nvPr/>
        </p:nvSpPr>
        <p:spPr>
          <a:xfrm>
            <a:off x="6267480" y="2026950"/>
            <a:ext cx="2286000" cy="392278"/>
          </a:xfrm>
          <a:prstGeom prst="rect">
            <a:avLst/>
          </a:prstGeom>
          <a:noFill/>
          <a:ln/>
        </p:spPr>
        <p:txBody>
          <a:bodyPr wrap="square" lIns="0" tIns="0" rIns="0" bIns="0" rtlCol="0" anchor="t"/>
          <a:lstStyle/>
          <a:p>
            <a:pPr algn="l" indent="0" marL="0">
              <a:lnSpc>
                <a:spcPts val="1029"/>
              </a:lnSpc>
              <a:buNone/>
            </a:pPr>
            <a:r>
              <a:rPr lang="en-US" sz="725" dirty="0">
                <a:solidFill>
                  <a:srgbClr val="5B4339"/>
                </a:solidFill>
                <a:latin typeface="Inter" pitchFamily="34" charset="0"/>
                <a:ea typeface="Inter" pitchFamily="34" charset="-122"/>
                <a:cs typeface="Inter" pitchFamily="34" charset="-120"/>
              </a:rPr>
              <a:t>It drafts the supplier email, credit note request or accounting correction for each problem. Nothing is sent until you approve, so you stay in control.</a:t>
            </a:r>
            <a:endParaRPr lang="en-US" sz="725" dirty="0"/>
          </a:p>
        </p:txBody>
      </p:sp>
      <p:sp>
        <p:nvSpPr>
          <p:cNvPr id="29" name="Shape 23"/>
          <p:cNvSpPr/>
          <p:nvPr/>
        </p:nvSpPr>
        <p:spPr>
          <a:xfrm>
            <a:off x="8775680" y="1600200"/>
            <a:ext cx="2527310" cy="1062441"/>
          </a:xfrm>
          <a:prstGeom prst="roundRect">
            <a:avLst>
              <a:gd name="adj" fmla="val 10758"/>
            </a:avLst>
          </a:prstGeom>
          <a:solidFill>
            <a:srgbClr val="FFFFFF"/>
          </a:solidFill>
          <a:ln w="6350">
            <a:solidFill>
              <a:srgbClr val="24110C">
                <a:alpha val="13000"/>
              </a:srgbClr>
            </a:solidFill>
            <a:prstDash val="solid"/>
          </a:ln>
        </p:spPr>
      </p:sp>
      <p:sp>
        <p:nvSpPr>
          <p:cNvPr id="30" name="Shape 24"/>
          <p:cNvSpPr/>
          <p:nvPr/>
        </p:nvSpPr>
        <p:spPr>
          <a:xfrm>
            <a:off x="8896380" y="1714500"/>
            <a:ext cx="254020" cy="254020"/>
          </a:xfrm>
          <a:prstGeom prst="roundRect">
            <a:avLst>
              <a:gd name="adj" fmla="val 27502"/>
            </a:avLst>
          </a:prstGeom>
          <a:solidFill>
            <a:srgbClr val="FBE1DF"/>
          </a:solidFill>
          <a:ln/>
        </p:spPr>
      </p:sp>
      <p:pic>
        <p:nvPicPr>
          <p:cNvPr id="31" name="Image 4" descr="D:\Projects\20. fintechthon\deck\out\assets\s7_img082.png">    </p:cNvPr>
          <p:cNvPicPr>
            <a:picLocks noChangeAspect="1"/>
          </p:cNvPicPr>
          <p:nvPr/>
        </p:nvPicPr>
        <p:blipFill>
          <a:blip r:embed="rId5"/>
          <a:stretch>
            <a:fillRect/>
          </a:stretch>
        </p:blipFill>
        <p:spPr>
          <a:xfrm>
            <a:off x="8947130" y="1765341"/>
            <a:ext cx="152430" cy="152430"/>
          </a:xfrm>
          <a:prstGeom prst="rect">
            <a:avLst/>
          </a:prstGeom>
        </p:spPr>
      </p:pic>
      <p:sp>
        <p:nvSpPr>
          <p:cNvPr id="32" name="Text 25"/>
          <p:cNvSpPr txBox="1"/>
          <p:nvPr/>
        </p:nvSpPr>
        <p:spPr>
          <a:xfrm>
            <a:off x="9213860" y="1679570"/>
            <a:ext cx="585125" cy="266730"/>
          </a:xfrm>
          <a:prstGeom prst="rect">
            <a:avLst/>
          </a:prstGeom>
          <a:noFill/>
          <a:ln/>
        </p:spPr>
        <p:txBody>
          <a:bodyPr wrap="none" lIns="0" tIns="0" rIns="0" bIns="0" rtlCol="0" anchor="t"/>
          <a:lstStyle/>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Spots fake</a:t>
            </a:r>
            <a:endParaRPr lang="en-US" sz="1000" dirty="0"/>
          </a:p>
          <a:p>
            <a:pPr algn="l" indent="0" marL="0">
              <a:lnSpc>
                <a:spcPts val="1050"/>
              </a:lnSpc>
              <a:buNone/>
            </a:pPr>
            <a:r>
              <a:rPr lang="en-US" sz="1000" b="1" dirty="0">
                <a:solidFill>
                  <a:srgbClr val="24110C"/>
                </a:solidFill>
                <a:latin typeface="League Spartan" pitchFamily="34" charset="0"/>
                <a:ea typeface="League Spartan" pitchFamily="34" charset="-122"/>
                <a:cs typeface="League Spartan" pitchFamily="34" charset="-120"/>
              </a:rPr>
              <a:t>suppliers</a:t>
            </a:r>
            <a:endParaRPr lang="en-US" sz="1000" dirty="0"/>
          </a:p>
        </p:txBody>
      </p:sp>
      <p:sp>
        <p:nvSpPr>
          <p:cNvPr id="33" name="Text 26"/>
          <p:cNvSpPr txBox="1"/>
          <p:nvPr/>
        </p:nvSpPr>
        <p:spPr>
          <a:xfrm>
            <a:off x="8896380" y="2026950"/>
            <a:ext cx="2286000" cy="392278"/>
          </a:xfrm>
          <a:prstGeom prst="rect">
            <a:avLst/>
          </a:prstGeom>
          <a:noFill/>
          <a:ln/>
        </p:spPr>
        <p:txBody>
          <a:bodyPr wrap="square" lIns="0" tIns="0" rIns="0" bIns="0" rtlCol="0" anchor="t"/>
          <a:lstStyle/>
          <a:p>
            <a:pPr algn="l" indent="0" marL="0">
              <a:lnSpc>
                <a:spcPts val="1029"/>
              </a:lnSpc>
              <a:buNone/>
            </a:pPr>
            <a:r>
              <a:rPr lang="en-US" sz="725" dirty="0">
                <a:solidFill>
                  <a:srgbClr val="5B4339"/>
                </a:solidFill>
                <a:latin typeface="Inter" pitchFamily="34" charset="0"/>
                <a:ea typeface="Inter" pitchFamily="34" charset="-122"/>
                <a:cs typeface="Inter" pitchFamily="34" charset="-120"/>
              </a:rPr>
              <a:t>It links suppliers that share an owner (PAN), bank account or address, revealing money moving in circles before the tax department finds it.</a:t>
            </a:r>
            <a:endParaRPr lang="en-US" sz="725" dirty="0"/>
          </a:p>
        </p:txBody>
      </p:sp>
      <p:sp>
        <p:nvSpPr>
          <p:cNvPr id="34" name="Shape 27"/>
          <p:cNvSpPr/>
          <p:nvPr/>
        </p:nvSpPr>
        <p:spPr>
          <a:xfrm>
            <a:off x="888980" y="2870210"/>
            <a:ext cx="5333970" cy="2794041"/>
          </a:xfrm>
          <a:prstGeom prst="roundRect">
            <a:avLst>
              <a:gd name="adj" fmla="val 3636"/>
            </a:avLst>
          </a:prstGeom>
          <a:solidFill>
            <a:srgbClr val="FFFFFF"/>
          </a:solidFill>
          <a:ln w="6350">
            <a:solidFill>
              <a:srgbClr val="24110C">
                <a:alpha val="18000"/>
              </a:srgbClr>
            </a:solidFill>
            <a:prstDash val="solid"/>
          </a:ln>
          <a:effectLst>
            <a:outerShdw sx="100000" sy="100000" kx="0" ky="0" algn="bl" rotWithShape="0" blurRad="177800" dist="76200" dir="5400000">
              <a:srgbClr val="50200A">
                <a:alpha val="22000"/>
              </a:srgbClr>
            </a:outerShdw>
          </a:effectLst>
        </p:spPr>
      </p:sp>
      <p:sp>
        <p:nvSpPr>
          <p:cNvPr id="35" name="Shape 28"/>
          <p:cNvSpPr/>
          <p:nvPr/>
        </p:nvSpPr>
        <p:spPr>
          <a:xfrm>
            <a:off x="895380" y="2876520"/>
            <a:ext cx="5321259" cy="241310"/>
          </a:xfrm>
          <a:prstGeom prst="roundRect">
            <a:avLst>
              <a:gd name="adj" fmla="val 42099"/>
            </a:avLst>
          </a:prstGeom>
          <a:solidFill>
            <a:srgbClr val="F4ECE4"/>
          </a:solidFill>
          <a:ln/>
        </p:spPr>
      </p:sp>
      <p:sp>
        <p:nvSpPr>
          <p:cNvPr id="36" name="Shape 29"/>
          <p:cNvSpPr/>
          <p:nvPr/>
        </p:nvSpPr>
        <p:spPr>
          <a:xfrm>
            <a:off x="895380" y="3016240"/>
            <a:ext cx="101590" cy="101590"/>
          </a:xfrm>
          <a:prstGeom prst="rect">
            <a:avLst/>
          </a:prstGeom>
          <a:solidFill>
            <a:srgbClr val="F4ECE4"/>
          </a:solidFill>
          <a:ln/>
        </p:spPr>
      </p:sp>
      <p:sp>
        <p:nvSpPr>
          <p:cNvPr id="37" name="Shape 30"/>
          <p:cNvSpPr/>
          <p:nvPr/>
        </p:nvSpPr>
        <p:spPr>
          <a:xfrm>
            <a:off x="6115050" y="3016240"/>
            <a:ext cx="101590" cy="101590"/>
          </a:xfrm>
          <a:prstGeom prst="rect">
            <a:avLst/>
          </a:prstGeom>
          <a:solidFill>
            <a:srgbClr val="F4ECE4"/>
          </a:solidFill>
          <a:ln/>
        </p:spPr>
      </p:sp>
      <p:sp>
        <p:nvSpPr>
          <p:cNvPr id="38" name="Shape 31"/>
          <p:cNvSpPr/>
          <p:nvPr/>
        </p:nvSpPr>
        <p:spPr>
          <a:xfrm>
            <a:off x="895380" y="3114721"/>
            <a:ext cx="5321259" cy="0"/>
          </a:xfrm>
          <a:prstGeom prst="line">
            <a:avLst/>
          </a:prstGeom>
          <a:noFill/>
          <a:ln w="6350">
            <a:solidFill>
              <a:srgbClr val="24110C">
                <a:alpha val="13000"/>
              </a:srgbClr>
            </a:solidFill>
            <a:prstDash val="solid"/>
          </a:ln>
        </p:spPr>
      </p:sp>
      <p:sp>
        <p:nvSpPr>
          <p:cNvPr id="39" name="Shape 32"/>
          <p:cNvSpPr/>
          <p:nvPr/>
        </p:nvSpPr>
        <p:spPr>
          <a:xfrm>
            <a:off x="984260" y="2959090"/>
            <a:ext cx="69860" cy="69860"/>
          </a:xfrm>
          <a:prstGeom prst="ellipse">
            <a:avLst/>
          </a:prstGeom>
          <a:solidFill>
            <a:srgbClr val="F26B5B"/>
          </a:solidFill>
          <a:ln/>
        </p:spPr>
      </p:sp>
      <p:sp>
        <p:nvSpPr>
          <p:cNvPr id="40" name="Shape 33"/>
          <p:cNvSpPr/>
          <p:nvPr/>
        </p:nvSpPr>
        <p:spPr>
          <a:xfrm>
            <a:off x="1104870" y="2959090"/>
            <a:ext cx="69860" cy="69860"/>
          </a:xfrm>
          <a:prstGeom prst="ellipse">
            <a:avLst/>
          </a:prstGeom>
          <a:solidFill>
            <a:srgbClr val="F5BE4F"/>
          </a:solidFill>
          <a:ln/>
        </p:spPr>
      </p:sp>
      <p:sp>
        <p:nvSpPr>
          <p:cNvPr id="41" name="Shape 34"/>
          <p:cNvSpPr/>
          <p:nvPr/>
        </p:nvSpPr>
        <p:spPr>
          <a:xfrm>
            <a:off x="1225570" y="2959090"/>
            <a:ext cx="69860" cy="69860"/>
          </a:xfrm>
          <a:prstGeom prst="ellipse">
            <a:avLst/>
          </a:prstGeom>
          <a:solidFill>
            <a:srgbClr val="5BC46A"/>
          </a:solidFill>
          <a:ln/>
        </p:spPr>
      </p:sp>
      <p:sp>
        <p:nvSpPr>
          <p:cNvPr id="42" name="Shape 35"/>
          <p:cNvSpPr/>
          <p:nvPr/>
        </p:nvSpPr>
        <p:spPr>
          <a:xfrm>
            <a:off x="1435059" y="2917850"/>
            <a:ext cx="2667030" cy="152430"/>
          </a:xfrm>
          <a:prstGeom prst="roundRect">
            <a:avLst>
              <a:gd name="adj" fmla="val 29154"/>
            </a:avLst>
          </a:prstGeom>
          <a:solidFill>
            <a:srgbClr val="FFFFFF"/>
          </a:solidFill>
          <a:ln w="6350">
            <a:solidFill>
              <a:srgbClr val="24110C">
                <a:alpha val="13000"/>
              </a:srgbClr>
            </a:solidFill>
            <a:prstDash val="solid"/>
          </a:ln>
        </p:spPr>
      </p:sp>
      <p:sp>
        <p:nvSpPr>
          <p:cNvPr id="43" name="Text 36"/>
          <p:cNvSpPr txBox="1"/>
          <p:nvPr/>
        </p:nvSpPr>
        <p:spPr>
          <a:xfrm>
            <a:off x="1504920" y="2940070"/>
            <a:ext cx="1998970" cy="107991"/>
          </a:xfrm>
          <a:prstGeom prst="rect">
            <a:avLst/>
          </a:prstGeom>
          <a:noFill/>
          <a:ln/>
        </p:spPr>
        <p:txBody>
          <a:bodyPr wrap="none" lIns="0" tIns="0" rIns="0" bIns="0" rtlCol="0" anchor="t"/>
          <a:lstStyle/>
          <a:p>
            <a:pPr algn="l" indent="0" marL="0">
              <a:buNone/>
            </a:pPr>
            <a:r>
              <a:rPr lang="en-US" sz="625" dirty="0">
                <a:solidFill>
                  <a:srgbClr val="8C7368"/>
                </a:solidFill>
                <a:latin typeface="JetBrains Mono Medium" pitchFamily="34" charset="0"/>
                <a:ea typeface="JetBrains Mono Medium" pitchFamily="34" charset="-122"/>
                <a:cs typeface="JetBrains Mono Medium" pitchFamily="34" charset="-120"/>
              </a:rPr>
              <a:t>app.ledgerlens.in/issues/UB-2526-1187</a:t>
            </a:r>
            <a:endParaRPr lang="en-US" sz="625" dirty="0"/>
          </a:p>
        </p:txBody>
      </p:sp>
      <p:sp>
        <p:nvSpPr>
          <p:cNvPr id="44" name="Shape 37"/>
          <p:cNvSpPr/>
          <p:nvPr/>
        </p:nvSpPr>
        <p:spPr>
          <a:xfrm>
            <a:off x="895380" y="3117830"/>
            <a:ext cx="5321259" cy="2540020"/>
          </a:xfrm>
          <a:prstGeom prst="roundRect">
            <a:avLst>
              <a:gd name="adj" fmla="val 4000"/>
            </a:avLst>
          </a:prstGeom>
          <a:solidFill>
            <a:srgbClr val="FBF8F5"/>
          </a:solidFill>
          <a:ln/>
        </p:spPr>
      </p:sp>
      <p:sp>
        <p:nvSpPr>
          <p:cNvPr id="45" name="Shape 38"/>
          <p:cNvSpPr/>
          <p:nvPr/>
        </p:nvSpPr>
        <p:spPr>
          <a:xfrm>
            <a:off x="895380" y="3117830"/>
            <a:ext cx="101590" cy="101590"/>
          </a:xfrm>
          <a:prstGeom prst="rect">
            <a:avLst/>
          </a:prstGeom>
          <a:solidFill>
            <a:srgbClr val="FBF8F5"/>
          </a:solidFill>
          <a:ln/>
        </p:spPr>
      </p:sp>
      <p:sp>
        <p:nvSpPr>
          <p:cNvPr id="46" name="Shape 39"/>
          <p:cNvSpPr/>
          <p:nvPr/>
        </p:nvSpPr>
        <p:spPr>
          <a:xfrm>
            <a:off x="6115050" y="3117830"/>
            <a:ext cx="101590" cy="101590"/>
          </a:xfrm>
          <a:prstGeom prst="rect">
            <a:avLst/>
          </a:prstGeom>
          <a:solidFill>
            <a:srgbClr val="FBF8F5"/>
          </a:solidFill>
          <a:ln/>
        </p:spPr>
      </p:sp>
      <p:sp>
        <p:nvSpPr>
          <p:cNvPr id="47" name="Shape 40"/>
          <p:cNvSpPr/>
          <p:nvPr/>
        </p:nvSpPr>
        <p:spPr>
          <a:xfrm>
            <a:off x="1009680" y="3206709"/>
            <a:ext cx="858073" cy="139720"/>
          </a:xfrm>
          <a:prstGeom prst="roundRect">
            <a:avLst>
              <a:gd name="adj" fmla="val 50000"/>
            </a:avLst>
          </a:prstGeom>
          <a:solidFill>
            <a:srgbClr val="FBE1DF"/>
          </a:solidFill>
          <a:ln/>
        </p:spPr>
      </p:sp>
      <p:sp>
        <p:nvSpPr>
          <p:cNvPr id="48" name="Text 41"/>
          <p:cNvSpPr txBox="1"/>
          <p:nvPr/>
        </p:nvSpPr>
        <p:spPr>
          <a:xfrm>
            <a:off x="1073140" y="3225820"/>
            <a:ext cx="844174" cy="101590"/>
          </a:xfrm>
          <a:prstGeom prst="rect">
            <a:avLst/>
          </a:prstGeom>
          <a:noFill/>
          <a:ln/>
        </p:spPr>
        <p:txBody>
          <a:bodyPr wrap="none" lIns="0" tIns="0" rIns="0" bIns="0" rtlCol="0" anchor="t"/>
          <a:lstStyle/>
          <a:p>
            <a:pPr algn="l" indent="0" marL="0">
              <a:buNone/>
            </a:pPr>
            <a:r>
              <a:rPr lang="en-US" sz="650" dirty="0">
                <a:solidFill>
                  <a:srgbClr val="D64545"/>
                </a:solidFill>
                <a:latin typeface="Inter SemiBold" pitchFamily="34" charset="0"/>
                <a:ea typeface="Inter SemiBold" pitchFamily="34" charset="-122"/>
                <a:cs typeface="Inter SemiBold" pitchFamily="34" charset="-120"/>
              </a:rPr>
              <a:t>Tax rate mismatch</a:t>
            </a:r>
            <a:endParaRPr lang="en-US" sz="650" dirty="0"/>
          </a:p>
        </p:txBody>
      </p:sp>
      <p:sp>
        <p:nvSpPr>
          <p:cNvPr id="49" name="Shape 42"/>
          <p:cNvSpPr/>
          <p:nvPr/>
        </p:nvSpPr>
        <p:spPr>
          <a:xfrm>
            <a:off x="1918503" y="3206709"/>
            <a:ext cx="732526" cy="139720"/>
          </a:xfrm>
          <a:prstGeom prst="roundRect">
            <a:avLst>
              <a:gd name="adj" fmla="val 50000"/>
            </a:avLst>
          </a:prstGeom>
          <a:solidFill>
            <a:srgbClr val="FDDDBF"/>
          </a:solidFill>
          <a:ln/>
        </p:spPr>
      </p:sp>
      <p:sp>
        <p:nvSpPr>
          <p:cNvPr id="50" name="Text 43"/>
          <p:cNvSpPr txBox="1"/>
          <p:nvPr/>
        </p:nvSpPr>
        <p:spPr>
          <a:xfrm>
            <a:off x="1981962" y="3225820"/>
            <a:ext cx="703631" cy="101590"/>
          </a:xfrm>
          <a:prstGeom prst="rect">
            <a:avLst/>
          </a:prstGeom>
          <a:noFill/>
          <a:ln/>
        </p:spPr>
        <p:txBody>
          <a:bodyPr wrap="none" lIns="0" tIns="0" rIns="0" bIns="0" rtlCol="0" anchor="t"/>
          <a:lstStyle/>
          <a:p>
            <a:pPr algn="l" indent="0" marL="0">
              <a:buNone/>
            </a:pPr>
            <a:r>
              <a:rPr lang="en-US" sz="650" dirty="0">
                <a:solidFill>
                  <a:srgbClr val="D2601A"/>
                </a:solidFill>
                <a:latin typeface="Inter SemiBold" pitchFamily="34" charset="0"/>
                <a:ea typeface="Inter SemiBold" pitchFamily="34" charset="-122"/>
                <a:cs typeface="Inter SemiBold" pitchFamily="34" charset="-120"/>
              </a:rPr>
              <a:t>₹42,000 at risk</a:t>
            </a:r>
            <a:endParaRPr lang="en-US" sz="650" dirty="0"/>
          </a:p>
        </p:txBody>
      </p:sp>
      <p:sp>
        <p:nvSpPr>
          <p:cNvPr id="51" name="Shape 44"/>
          <p:cNvSpPr/>
          <p:nvPr/>
        </p:nvSpPr>
        <p:spPr>
          <a:xfrm>
            <a:off x="2701869" y="3206709"/>
            <a:ext cx="512064" cy="139720"/>
          </a:xfrm>
          <a:prstGeom prst="roundRect">
            <a:avLst>
              <a:gd name="adj" fmla="val 50000"/>
            </a:avLst>
          </a:prstGeom>
          <a:solidFill>
            <a:srgbClr val="EFE7E0"/>
          </a:solidFill>
          <a:ln/>
        </p:spPr>
      </p:sp>
      <p:sp>
        <p:nvSpPr>
          <p:cNvPr id="52" name="Text 45"/>
          <p:cNvSpPr txBox="1"/>
          <p:nvPr/>
        </p:nvSpPr>
        <p:spPr>
          <a:xfrm>
            <a:off x="2765328" y="3225820"/>
            <a:ext cx="456651" cy="101590"/>
          </a:xfrm>
          <a:prstGeom prst="rect">
            <a:avLst/>
          </a:prstGeom>
          <a:noFill/>
          <a:ln/>
        </p:spPr>
        <p:txBody>
          <a:bodyPr wrap="none" lIns="0" tIns="0" rIns="0" bIns="0" rtlCol="0" anchor="t"/>
          <a:lstStyle/>
          <a:p>
            <a:pPr algn="l" indent="0" marL="0">
              <a:buNone/>
            </a:pPr>
            <a:r>
              <a:rPr lang="en-US" sz="650" dirty="0">
                <a:solidFill>
                  <a:srgbClr val="5B4339"/>
                </a:solidFill>
                <a:latin typeface="Inter SemiBold" pitchFamily="34" charset="0"/>
                <a:ea typeface="Inter SemiBold" pitchFamily="34" charset="-122"/>
                <a:cs typeface="Inter SemiBold" pitchFamily="34" charset="-120"/>
              </a:rPr>
              <a:t>98% sure</a:t>
            </a:r>
            <a:endParaRPr lang="en-US" sz="650" dirty="0"/>
          </a:p>
        </p:txBody>
      </p:sp>
      <p:sp>
        <p:nvSpPr>
          <p:cNvPr id="53" name="Text 46"/>
          <p:cNvSpPr txBox="1"/>
          <p:nvPr/>
        </p:nvSpPr>
        <p:spPr>
          <a:xfrm>
            <a:off x="1009680" y="3390870"/>
            <a:ext cx="2705618" cy="127010"/>
          </a:xfrm>
          <a:prstGeom prst="rect">
            <a:avLst/>
          </a:prstGeom>
          <a:noFill/>
          <a:ln/>
        </p:spPr>
        <p:txBody>
          <a:bodyPr wrap="none" lIns="0" tIns="0" rIns="0" bIns="0" rtlCol="0" anchor="t"/>
          <a:lstStyle/>
          <a:p>
            <a:pPr algn="l" indent="0" marL="0">
              <a:buNone/>
            </a:pPr>
            <a:r>
              <a:rPr lang="en-US" sz="800" b="1" dirty="0">
                <a:solidFill>
                  <a:srgbClr val="24110C"/>
                </a:solidFill>
                <a:latin typeface="Inter" pitchFamily="34" charset="0"/>
                <a:ea typeface="Inter" pitchFamily="34" charset="-122"/>
                <a:cs typeface="Inter" pitchFamily="34" charset="-120"/>
              </a:rPr>
              <a:t>UltraBuild Cements · </a:t>
            </a:r>
            <a:pPr algn="l" indent="0" marL="0">
              <a:buNone/>
            </a:pPr>
            <a:r>
              <a:rPr lang="en-US" sz="700" b="1" dirty="0">
                <a:solidFill>
                  <a:srgbClr val="24110C"/>
                </a:solidFill>
                <a:latin typeface="JetBrains Mono Medium" pitchFamily="34" charset="0"/>
                <a:ea typeface="JetBrains Mono Medium" pitchFamily="34" charset="-122"/>
                <a:cs typeface="JetBrains Mono Medium" pitchFamily="34" charset="-120"/>
              </a:rPr>
              <a:t>UB/2526/1187</a:t>
            </a:r>
            <a:pPr algn="l" indent="0" marL="0">
              <a:buNone/>
            </a:pPr>
            <a:r>
              <a:rPr lang="en-US" sz="800" b="1" dirty="0">
                <a:solidFill>
                  <a:srgbClr val="24110C"/>
                </a:solidFill>
                <a:latin typeface="Inter" pitchFamily="34" charset="0"/>
                <a:ea typeface="Inter" pitchFamily="34" charset="-122"/>
                <a:cs typeface="Inter" pitchFamily="34" charset="-120"/>
              </a:rPr>
              <a:t> · 24 Sep 2025</a:t>
            </a:r>
            <a:endParaRPr lang="en-US" sz="800" dirty="0"/>
          </a:p>
        </p:txBody>
      </p:sp>
      <p:sp>
        <p:nvSpPr>
          <p:cNvPr id="54" name="Shape 47"/>
          <p:cNvSpPr/>
          <p:nvPr/>
        </p:nvSpPr>
        <p:spPr>
          <a:xfrm>
            <a:off x="1009680" y="3581430"/>
            <a:ext cx="2411730" cy="1301740"/>
          </a:xfrm>
          <a:prstGeom prst="roundRect">
            <a:avLst>
              <a:gd name="adj" fmla="val 5851"/>
            </a:avLst>
          </a:prstGeom>
          <a:solidFill>
            <a:srgbClr val="FFFFFF"/>
          </a:solidFill>
          <a:ln w="6350">
            <a:solidFill>
              <a:srgbClr val="24110C">
                <a:alpha val="13000"/>
              </a:srgbClr>
            </a:solidFill>
            <a:prstDash val="solid"/>
          </a:ln>
        </p:spPr>
      </p:sp>
      <p:sp>
        <p:nvSpPr>
          <p:cNvPr id="55" name="Shape 48"/>
          <p:cNvSpPr/>
          <p:nvPr/>
        </p:nvSpPr>
        <p:spPr>
          <a:xfrm>
            <a:off x="1079541" y="3638580"/>
            <a:ext cx="679033" cy="155539"/>
          </a:xfrm>
          <a:prstGeom prst="rect">
            <a:avLst/>
          </a:prstGeom>
          <a:ln/>
        </p:spPr>
      </p:sp>
      <p:sp>
        <p:nvSpPr>
          <p:cNvPr id="56" name="Shape 49"/>
          <p:cNvSpPr/>
          <p:nvPr/>
        </p:nvSpPr>
        <p:spPr>
          <a:xfrm>
            <a:off x="1079541" y="3790920"/>
            <a:ext cx="679033" cy="0"/>
          </a:xfrm>
          <a:prstGeom prst="line">
            <a:avLst/>
          </a:prstGeom>
          <a:noFill/>
          <a:ln w="6350">
            <a:solidFill>
              <a:srgbClr val="24110C">
                <a:alpha val="13000"/>
              </a:srgbClr>
            </a:solidFill>
            <a:prstDash val="solid"/>
          </a:ln>
        </p:spPr>
      </p:sp>
      <p:sp>
        <p:nvSpPr>
          <p:cNvPr id="57" name="Text 50"/>
          <p:cNvSpPr txBox="1"/>
          <p:nvPr/>
        </p:nvSpPr>
        <p:spPr>
          <a:xfrm>
            <a:off x="1117580" y="3670310"/>
            <a:ext cx="215798" cy="88880"/>
          </a:xfrm>
          <a:prstGeom prst="rect">
            <a:avLst/>
          </a:prstGeom>
          <a:noFill/>
          <a:ln/>
        </p:spPr>
        <p:txBody>
          <a:bodyPr wrap="none" lIns="0" tIns="0" rIns="0" bIns="0" rtlCol="0" anchor="t"/>
          <a:lstStyle/>
          <a:p>
            <a:pPr algn="l" indent="0" marL="0">
              <a:buNone/>
            </a:pPr>
            <a:r>
              <a:rPr lang="en-US" sz="575" dirty="0">
                <a:solidFill>
                  <a:srgbClr val="8C7368"/>
                </a:solidFill>
                <a:latin typeface="Inter SemiBold" pitchFamily="34" charset="0"/>
                <a:ea typeface="Inter SemiBold" pitchFamily="34" charset="-122"/>
                <a:cs typeface="Inter SemiBold" pitchFamily="34" charset="-120"/>
              </a:rPr>
              <a:t>Field</a:t>
            </a:r>
            <a:endParaRPr lang="en-US" sz="575" dirty="0"/>
          </a:p>
        </p:txBody>
      </p:sp>
      <p:sp>
        <p:nvSpPr>
          <p:cNvPr id="58" name="Shape 51"/>
          <p:cNvSpPr/>
          <p:nvPr/>
        </p:nvSpPr>
        <p:spPr>
          <a:xfrm>
            <a:off x="1758574" y="3638580"/>
            <a:ext cx="543702" cy="155539"/>
          </a:xfrm>
          <a:prstGeom prst="rect">
            <a:avLst/>
          </a:prstGeom>
          <a:ln/>
        </p:spPr>
      </p:sp>
      <p:sp>
        <p:nvSpPr>
          <p:cNvPr id="59" name="Shape 52"/>
          <p:cNvSpPr/>
          <p:nvPr/>
        </p:nvSpPr>
        <p:spPr>
          <a:xfrm>
            <a:off x="1758574" y="3790920"/>
            <a:ext cx="543702" cy="0"/>
          </a:xfrm>
          <a:prstGeom prst="line">
            <a:avLst/>
          </a:prstGeom>
          <a:noFill/>
          <a:ln w="6350">
            <a:solidFill>
              <a:srgbClr val="24110C">
                <a:alpha val="13000"/>
              </a:srgbClr>
            </a:solidFill>
            <a:prstDash val="solid"/>
          </a:ln>
        </p:spPr>
      </p:sp>
      <p:sp>
        <p:nvSpPr>
          <p:cNvPr id="60" name="Text 53"/>
          <p:cNvSpPr txBox="1"/>
          <p:nvPr/>
        </p:nvSpPr>
        <p:spPr>
          <a:xfrm>
            <a:off x="1793413" y="3670310"/>
            <a:ext cx="470825" cy="88880"/>
          </a:xfrm>
          <a:prstGeom prst="rect">
            <a:avLst/>
          </a:prstGeom>
          <a:noFill/>
          <a:ln/>
        </p:spPr>
        <p:txBody>
          <a:bodyPr wrap="none" lIns="0" tIns="0" rIns="0" bIns="0" rtlCol="0" anchor="t"/>
          <a:lstStyle/>
          <a:p>
            <a:pPr algn="r" indent="0" marL="0">
              <a:buNone/>
            </a:pPr>
            <a:r>
              <a:rPr lang="en-US" sz="575" dirty="0">
                <a:solidFill>
                  <a:srgbClr val="8C7368"/>
                </a:solidFill>
                <a:latin typeface="Inter SemiBold" pitchFamily="34" charset="0"/>
                <a:ea typeface="Inter SemiBold" pitchFamily="34" charset="-122"/>
                <a:cs typeface="Inter SemiBold" pitchFamily="34" charset="-120"/>
              </a:rPr>
              <a:t>Your books</a:t>
            </a:r>
            <a:endParaRPr lang="en-US" sz="575" dirty="0"/>
          </a:p>
        </p:txBody>
      </p:sp>
      <p:sp>
        <p:nvSpPr>
          <p:cNvPr id="61" name="Shape 54"/>
          <p:cNvSpPr/>
          <p:nvPr/>
        </p:nvSpPr>
        <p:spPr>
          <a:xfrm>
            <a:off x="2302276" y="3638580"/>
            <a:ext cx="524591" cy="155539"/>
          </a:xfrm>
          <a:prstGeom prst="rect">
            <a:avLst/>
          </a:prstGeom>
          <a:ln/>
        </p:spPr>
      </p:sp>
      <p:sp>
        <p:nvSpPr>
          <p:cNvPr id="62" name="Shape 55"/>
          <p:cNvSpPr/>
          <p:nvPr/>
        </p:nvSpPr>
        <p:spPr>
          <a:xfrm>
            <a:off x="2302276" y="3790920"/>
            <a:ext cx="524591" cy="0"/>
          </a:xfrm>
          <a:prstGeom prst="line">
            <a:avLst/>
          </a:prstGeom>
          <a:noFill/>
          <a:ln w="6350">
            <a:solidFill>
              <a:srgbClr val="24110C">
                <a:alpha val="13000"/>
              </a:srgbClr>
            </a:solidFill>
            <a:prstDash val="solid"/>
          </a:ln>
        </p:spPr>
      </p:sp>
      <p:sp>
        <p:nvSpPr>
          <p:cNvPr id="63" name="Text 56"/>
          <p:cNvSpPr txBox="1"/>
          <p:nvPr/>
        </p:nvSpPr>
        <p:spPr>
          <a:xfrm>
            <a:off x="2401214" y="3670310"/>
            <a:ext cx="387523" cy="88880"/>
          </a:xfrm>
          <a:prstGeom prst="rect">
            <a:avLst/>
          </a:prstGeom>
          <a:noFill/>
          <a:ln/>
        </p:spPr>
        <p:txBody>
          <a:bodyPr wrap="none" lIns="0" tIns="0" rIns="0" bIns="0" rtlCol="0" anchor="t"/>
          <a:lstStyle/>
          <a:p>
            <a:pPr algn="r" indent="0" marL="0">
              <a:buNone/>
            </a:pPr>
            <a:r>
              <a:rPr lang="en-US" sz="575" dirty="0">
                <a:solidFill>
                  <a:srgbClr val="8C7368"/>
                </a:solidFill>
                <a:latin typeface="Inter SemiBold" pitchFamily="34" charset="0"/>
                <a:ea typeface="Inter SemiBold" pitchFamily="34" charset="-122"/>
                <a:cs typeface="Inter SemiBold" pitchFamily="34" charset="-120"/>
              </a:rPr>
              <a:t>GSTR-2B</a:t>
            </a:r>
            <a:endParaRPr lang="en-US" sz="575" dirty="0"/>
          </a:p>
        </p:txBody>
      </p:sp>
      <p:sp>
        <p:nvSpPr>
          <p:cNvPr id="64" name="Shape 57"/>
          <p:cNvSpPr/>
          <p:nvPr/>
        </p:nvSpPr>
        <p:spPr>
          <a:xfrm>
            <a:off x="2826868" y="3638580"/>
            <a:ext cx="524683" cy="155539"/>
          </a:xfrm>
          <a:prstGeom prst="rect">
            <a:avLst/>
          </a:prstGeom>
          <a:ln/>
        </p:spPr>
      </p:sp>
      <p:sp>
        <p:nvSpPr>
          <p:cNvPr id="65" name="Shape 58"/>
          <p:cNvSpPr/>
          <p:nvPr/>
        </p:nvSpPr>
        <p:spPr>
          <a:xfrm>
            <a:off x="2826868" y="3790920"/>
            <a:ext cx="524683" cy="0"/>
          </a:xfrm>
          <a:prstGeom prst="line">
            <a:avLst/>
          </a:prstGeom>
          <a:noFill/>
          <a:ln w="6350">
            <a:solidFill>
              <a:srgbClr val="24110C">
                <a:alpha val="13000"/>
              </a:srgbClr>
            </a:solidFill>
            <a:prstDash val="solid"/>
          </a:ln>
        </p:spPr>
      </p:sp>
      <p:sp>
        <p:nvSpPr>
          <p:cNvPr id="66" name="Text 59"/>
          <p:cNvSpPr txBox="1"/>
          <p:nvPr/>
        </p:nvSpPr>
        <p:spPr>
          <a:xfrm>
            <a:off x="2917393" y="3670310"/>
            <a:ext cx="396027" cy="88880"/>
          </a:xfrm>
          <a:prstGeom prst="rect">
            <a:avLst/>
          </a:prstGeom>
          <a:noFill/>
          <a:ln/>
        </p:spPr>
        <p:txBody>
          <a:bodyPr wrap="none" lIns="0" tIns="0" rIns="0" bIns="0" rtlCol="0" anchor="t"/>
          <a:lstStyle/>
          <a:p>
            <a:pPr algn="r" indent="0" marL="0">
              <a:buNone/>
            </a:pPr>
            <a:r>
              <a:rPr lang="en-US" sz="575" dirty="0">
                <a:solidFill>
                  <a:srgbClr val="8C7368"/>
                </a:solidFill>
                <a:latin typeface="Inter SemiBold" pitchFamily="34" charset="0"/>
                <a:ea typeface="Inter SemiBold" pitchFamily="34" charset="-122"/>
                <a:cs typeface="Inter SemiBold" pitchFamily="34" charset="-120"/>
              </a:rPr>
              <a:t>Expected</a:t>
            </a:r>
            <a:endParaRPr lang="en-US" sz="575" dirty="0"/>
          </a:p>
        </p:txBody>
      </p:sp>
      <p:sp>
        <p:nvSpPr>
          <p:cNvPr id="67" name="Shape 60"/>
          <p:cNvSpPr/>
          <p:nvPr/>
        </p:nvSpPr>
        <p:spPr>
          <a:xfrm>
            <a:off x="1079541" y="3794120"/>
            <a:ext cx="679033" cy="203180"/>
          </a:xfrm>
          <a:prstGeom prst="rect">
            <a:avLst/>
          </a:prstGeom>
          <a:ln/>
        </p:spPr>
      </p:sp>
      <p:sp>
        <p:nvSpPr>
          <p:cNvPr id="68" name="Shape 61"/>
          <p:cNvSpPr/>
          <p:nvPr/>
        </p:nvSpPr>
        <p:spPr>
          <a:xfrm>
            <a:off x="1079541" y="3994191"/>
            <a:ext cx="679033" cy="0"/>
          </a:xfrm>
          <a:prstGeom prst="line">
            <a:avLst/>
          </a:prstGeom>
          <a:noFill/>
          <a:ln w="6350">
            <a:solidFill>
              <a:srgbClr val="24110C">
                <a:alpha val="7000"/>
              </a:srgbClr>
            </a:solidFill>
            <a:prstDash val="solid"/>
          </a:ln>
        </p:spPr>
      </p:sp>
      <p:sp>
        <p:nvSpPr>
          <p:cNvPr id="69" name="Text 62"/>
          <p:cNvSpPr txBox="1"/>
          <p:nvPr/>
        </p:nvSpPr>
        <p:spPr>
          <a:xfrm>
            <a:off x="1117580" y="3848070"/>
            <a:ext cx="215524"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HSN</a:t>
            </a:r>
            <a:endParaRPr lang="en-US" sz="625" dirty="0"/>
          </a:p>
        </p:txBody>
      </p:sp>
      <p:sp>
        <p:nvSpPr>
          <p:cNvPr id="70" name="Shape 63"/>
          <p:cNvSpPr/>
          <p:nvPr/>
        </p:nvSpPr>
        <p:spPr>
          <a:xfrm>
            <a:off x="1758574" y="3794120"/>
            <a:ext cx="543702" cy="203180"/>
          </a:xfrm>
          <a:prstGeom prst="rect">
            <a:avLst/>
          </a:prstGeom>
          <a:ln/>
        </p:spPr>
      </p:sp>
      <p:sp>
        <p:nvSpPr>
          <p:cNvPr id="71" name="Shape 64"/>
          <p:cNvSpPr/>
          <p:nvPr/>
        </p:nvSpPr>
        <p:spPr>
          <a:xfrm>
            <a:off x="1758574" y="3994191"/>
            <a:ext cx="543702" cy="0"/>
          </a:xfrm>
          <a:prstGeom prst="line">
            <a:avLst/>
          </a:prstGeom>
          <a:noFill/>
          <a:ln w="6350">
            <a:solidFill>
              <a:srgbClr val="24110C">
                <a:alpha val="7000"/>
              </a:srgbClr>
            </a:solidFill>
            <a:prstDash val="solid"/>
          </a:ln>
        </p:spPr>
      </p:sp>
      <p:sp>
        <p:nvSpPr>
          <p:cNvPr id="72" name="Text 65"/>
          <p:cNvSpPr txBox="1"/>
          <p:nvPr/>
        </p:nvSpPr>
        <p:spPr>
          <a:xfrm>
            <a:off x="2025396" y="3841760"/>
            <a:ext cx="238750" cy="107991"/>
          </a:xfrm>
          <a:prstGeom prst="rect">
            <a:avLst/>
          </a:prstGeom>
          <a:noFill/>
          <a:ln/>
        </p:spPr>
        <p:txBody>
          <a:bodyPr wrap="none" lIns="0" tIns="0" rIns="0" bIns="0" rtlCol="0" anchor="t"/>
          <a:lstStyle/>
          <a:p>
            <a:pPr algn="r" indent="0" marL="0">
              <a:buNone/>
            </a:pPr>
            <a:r>
              <a:rPr lang="en-US" sz="625" dirty="0">
                <a:solidFill>
                  <a:srgbClr val="24110C"/>
                </a:solidFill>
                <a:latin typeface="JetBrains Mono Medium" pitchFamily="34" charset="0"/>
                <a:ea typeface="JetBrains Mono Medium" pitchFamily="34" charset="-122"/>
                <a:cs typeface="JetBrains Mono Medium" pitchFamily="34" charset="-120"/>
              </a:rPr>
              <a:t>2523</a:t>
            </a:r>
            <a:endParaRPr lang="en-US" sz="625" dirty="0"/>
          </a:p>
        </p:txBody>
      </p:sp>
      <p:sp>
        <p:nvSpPr>
          <p:cNvPr id="73" name="Shape 66"/>
          <p:cNvSpPr/>
          <p:nvPr/>
        </p:nvSpPr>
        <p:spPr>
          <a:xfrm>
            <a:off x="2302276" y="3794120"/>
            <a:ext cx="524591" cy="203180"/>
          </a:xfrm>
          <a:prstGeom prst="rect">
            <a:avLst/>
          </a:prstGeom>
          <a:ln/>
        </p:spPr>
      </p:sp>
      <p:sp>
        <p:nvSpPr>
          <p:cNvPr id="74" name="Shape 67"/>
          <p:cNvSpPr/>
          <p:nvPr/>
        </p:nvSpPr>
        <p:spPr>
          <a:xfrm>
            <a:off x="2302276" y="3994191"/>
            <a:ext cx="524591" cy="0"/>
          </a:xfrm>
          <a:prstGeom prst="line">
            <a:avLst/>
          </a:prstGeom>
          <a:noFill/>
          <a:ln w="6350">
            <a:solidFill>
              <a:srgbClr val="24110C">
                <a:alpha val="7000"/>
              </a:srgbClr>
            </a:solidFill>
            <a:prstDash val="solid"/>
          </a:ln>
        </p:spPr>
      </p:sp>
      <p:sp>
        <p:nvSpPr>
          <p:cNvPr id="75" name="Text 68"/>
          <p:cNvSpPr txBox="1"/>
          <p:nvPr/>
        </p:nvSpPr>
        <p:spPr>
          <a:xfrm>
            <a:off x="2549987" y="3841760"/>
            <a:ext cx="238750" cy="107991"/>
          </a:xfrm>
          <a:prstGeom prst="rect">
            <a:avLst/>
          </a:prstGeom>
          <a:noFill/>
          <a:ln/>
        </p:spPr>
        <p:txBody>
          <a:bodyPr wrap="none" lIns="0" tIns="0" rIns="0" bIns="0" rtlCol="0" anchor="t"/>
          <a:lstStyle/>
          <a:p>
            <a:pPr algn="r" indent="0" marL="0">
              <a:buNone/>
            </a:pPr>
            <a:r>
              <a:rPr lang="en-US" sz="625" dirty="0">
                <a:solidFill>
                  <a:srgbClr val="24110C"/>
                </a:solidFill>
                <a:latin typeface="JetBrains Mono Medium" pitchFamily="34" charset="0"/>
                <a:ea typeface="JetBrains Mono Medium" pitchFamily="34" charset="-122"/>
                <a:cs typeface="JetBrains Mono Medium" pitchFamily="34" charset="-120"/>
              </a:rPr>
              <a:t>2523</a:t>
            </a:r>
            <a:endParaRPr lang="en-US" sz="625" dirty="0"/>
          </a:p>
        </p:txBody>
      </p:sp>
      <p:sp>
        <p:nvSpPr>
          <p:cNvPr id="76" name="Shape 69"/>
          <p:cNvSpPr/>
          <p:nvPr/>
        </p:nvSpPr>
        <p:spPr>
          <a:xfrm>
            <a:off x="2826868" y="3794120"/>
            <a:ext cx="524683" cy="203180"/>
          </a:xfrm>
          <a:prstGeom prst="rect">
            <a:avLst/>
          </a:prstGeom>
          <a:ln/>
        </p:spPr>
      </p:sp>
      <p:sp>
        <p:nvSpPr>
          <p:cNvPr id="77" name="Shape 70"/>
          <p:cNvSpPr/>
          <p:nvPr/>
        </p:nvSpPr>
        <p:spPr>
          <a:xfrm>
            <a:off x="2826868" y="3994191"/>
            <a:ext cx="524683" cy="0"/>
          </a:xfrm>
          <a:prstGeom prst="line">
            <a:avLst/>
          </a:prstGeom>
          <a:noFill/>
          <a:ln w="6350">
            <a:solidFill>
              <a:srgbClr val="24110C">
                <a:alpha val="7000"/>
              </a:srgbClr>
            </a:solidFill>
            <a:prstDash val="solid"/>
          </a:ln>
        </p:spPr>
      </p:sp>
      <p:sp>
        <p:nvSpPr>
          <p:cNvPr id="78" name="Text 71"/>
          <p:cNvSpPr txBox="1"/>
          <p:nvPr/>
        </p:nvSpPr>
        <p:spPr>
          <a:xfrm>
            <a:off x="3074670" y="3841760"/>
            <a:ext cx="238750" cy="107991"/>
          </a:xfrm>
          <a:prstGeom prst="rect">
            <a:avLst/>
          </a:prstGeom>
          <a:noFill/>
          <a:ln/>
        </p:spPr>
        <p:txBody>
          <a:bodyPr wrap="none" lIns="0" tIns="0" rIns="0" bIns="0" rtlCol="0" anchor="t"/>
          <a:lstStyle/>
          <a:p>
            <a:pPr algn="r" indent="0" marL="0">
              <a:buNone/>
            </a:pPr>
            <a:r>
              <a:rPr lang="en-US" sz="625" dirty="0">
                <a:solidFill>
                  <a:srgbClr val="24110C"/>
                </a:solidFill>
                <a:latin typeface="JetBrains Mono Medium" pitchFamily="34" charset="0"/>
                <a:ea typeface="JetBrains Mono Medium" pitchFamily="34" charset="-122"/>
                <a:cs typeface="JetBrains Mono Medium" pitchFamily="34" charset="-120"/>
              </a:rPr>
              <a:t>2523</a:t>
            </a:r>
            <a:endParaRPr lang="en-US" sz="625" dirty="0"/>
          </a:p>
        </p:txBody>
      </p:sp>
      <p:sp>
        <p:nvSpPr>
          <p:cNvPr id="79" name="Shape 72"/>
          <p:cNvSpPr/>
          <p:nvPr/>
        </p:nvSpPr>
        <p:spPr>
          <a:xfrm>
            <a:off x="1079541" y="3997300"/>
            <a:ext cx="679033" cy="203180"/>
          </a:xfrm>
          <a:prstGeom prst="rect">
            <a:avLst/>
          </a:prstGeom>
          <a:ln/>
        </p:spPr>
      </p:sp>
      <p:sp>
        <p:nvSpPr>
          <p:cNvPr id="80" name="Shape 73"/>
          <p:cNvSpPr/>
          <p:nvPr/>
        </p:nvSpPr>
        <p:spPr>
          <a:xfrm>
            <a:off x="1079541" y="4197370"/>
            <a:ext cx="679033" cy="0"/>
          </a:xfrm>
          <a:prstGeom prst="line">
            <a:avLst/>
          </a:prstGeom>
          <a:noFill/>
          <a:ln w="6350">
            <a:solidFill>
              <a:srgbClr val="24110C">
                <a:alpha val="7000"/>
              </a:srgbClr>
            </a:solidFill>
            <a:prstDash val="solid"/>
          </a:ln>
        </p:spPr>
      </p:sp>
      <p:sp>
        <p:nvSpPr>
          <p:cNvPr id="81" name="Text 74"/>
          <p:cNvSpPr txBox="1"/>
          <p:nvPr/>
        </p:nvSpPr>
        <p:spPr>
          <a:xfrm>
            <a:off x="1117580" y="4051341"/>
            <a:ext cx="602955"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Taxable value</a:t>
            </a:r>
            <a:endParaRPr lang="en-US" sz="625" dirty="0"/>
          </a:p>
        </p:txBody>
      </p:sp>
      <p:sp>
        <p:nvSpPr>
          <p:cNvPr id="82" name="Shape 75"/>
          <p:cNvSpPr/>
          <p:nvPr/>
        </p:nvSpPr>
        <p:spPr>
          <a:xfrm>
            <a:off x="1758574" y="3997300"/>
            <a:ext cx="543702" cy="203180"/>
          </a:xfrm>
          <a:prstGeom prst="rect">
            <a:avLst/>
          </a:prstGeom>
          <a:ln/>
        </p:spPr>
      </p:sp>
      <p:sp>
        <p:nvSpPr>
          <p:cNvPr id="83" name="Shape 76"/>
          <p:cNvSpPr/>
          <p:nvPr/>
        </p:nvSpPr>
        <p:spPr>
          <a:xfrm>
            <a:off x="1758574" y="4197370"/>
            <a:ext cx="543702" cy="0"/>
          </a:xfrm>
          <a:prstGeom prst="line">
            <a:avLst/>
          </a:prstGeom>
          <a:noFill/>
          <a:ln w="6350">
            <a:solidFill>
              <a:srgbClr val="24110C">
                <a:alpha val="7000"/>
              </a:srgbClr>
            </a:solidFill>
            <a:prstDash val="solid"/>
          </a:ln>
        </p:spPr>
      </p:sp>
      <p:sp>
        <p:nvSpPr>
          <p:cNvPr id="84" name="Text 77"/>
          <p:cNvSpPr txBox="1"/>
          <p:nvPr/>
        </p:nvSpPr>
        <p:spPr>
          <a:xfrm>
            <a:off x="1812066" y="4044940"/>
            <a:ext cx="452079" cy="107991"/>
          </a:xfrm>
          <a:prstGeom prst="rect">
            <a:avLst/>
          </a:prstGeom>
          <a:noFill/>
          <a:ln/>
        </p:spPr>
        <p:txBody>
          <a:bodyPr wrap="none" lIns="0" tIns="0" rIns="0" bIns="0" rtlCol="0" anchor="t"/>
          <a:lstStyle/>
          <a:p>
            <a:pPr algn="r" indent="0" marL="0">
              <a:buNone/>
            </a:pPr>
            <a:r>
              <a:rPr lang="en-US" sz="625" dirty="0">
                <a:solidFill>
                  <a:srgbClr val="24110C"/>
                </a:solidFill>
                <a:latin typeface="JetBrains Mono Medium" pitchFamily="34" charset="0"/>
                <a:ea typeface="JetBrains Mono Medium" pitchFamily="34" charset="-122"/>
                <a:cs typeface="JetBrains Mono Medium" pitchFamily="34" charset="-120"/>
              </a:rPr>
              <a:t>4,20,000</a:t>
            </a:r>
            <a:endParaRPr lang="en-US" sz="625" dirty="0"/>
          </a:p>
        </p:txBody>
      </p:sp>
      <p:sp>
        <p:nvSpPr>
          <p:cNvPr id="85" name="Shape 78"/>
          <p:cNvSpPr/>
          <p:nvPr/>
        </p:nvSpPr>
        <p:spPr>
          <a:xfrm>
            <a:off x="2302276" y="3997300"/>
            <a:ext cx="524591" cy="203180"/>
          </a:xfrm>
          <a:prstGeom prst="rect">
            <a:avLst/>
          </a:prstGeom>
          <a:ln/>
        </p:spPr>
      </p:sp>
      <p:sp>
        <p:nvSpPr>
          <p:cNvPr id="86" name="Shape 79"/>
          <p:cNvSpPr/>
          <p:nvPr/>
        </p:nvSpPr>
        <p:spPr>
          <a:xfrm>
            <a:off x="2302276" y="4197370"/>
            <a:ext cx="524591" cy="0"/>
          </a:xfrm>
          <a:prstGeom prst="line">
            <a:avLst/>
          </a:prstGeom>
          <a:noFill/>
          <a:ln w="6350">
            <a:solidFill>
              <a:srgbClr val="24110C">
                <a:alpha val="7000"/>
              </a:srgbClr>
            </a:solidFill>
            <a:prstDash val="solid"/>
          </a:ln>
        </p:spPr>
      </p:sp>
      <p:sp>
        <p:nvSpPr>
          <p:cNvPr id="87" name="Text 80"/>
          <p:cNvSpPr txBox="1"/>
          <p:nvPr/>
        </p:nvSpPr>
        <p:spPr>
          <a:xfrm>
            <a:off x="2336658" y="4044940"/>
            <a:ext cx="452079" cy="107991"/>
          </a:xfrm>
          <a:prstGeom prst="rect">
            <a:avLst/>
          </a:prstGeom>
          <a:noFill/>
          <a:ln/>
        </p:spPr>
        <p:txBody>
          <a:bodyPr wrap="none" lIns="0" tIns="0" rIns="0" bIns="0" rtlCol="0" anchor="t"/>
          <a:lstStyle/>
          <a:p>
            <a:pPr algn="r" indent="0" marL="0">
              <a:buNone/>
            </a:pPr>
            <a:r>
              <a:rPr lang="en-US" sz="625" dirty="0">
                <a:solidFill>
                  <a:srgbClr val="24110C"/>
                </a:solidFill>
                <a:latin typeface="JetBrains Mono Medium" pitchFamily="34" charset="0"/>
                <a:ea typeface="JetBrains Mono Medium" pitchFamily="34" charset="-122"/>
                <a:cs typeface="JetBrains Mono Medium" pitchFamily="34" charset="-120"/>
              </a:rPr>
              <a:t>4,20,000</a:t>
            </a:r>
            <a:endParaRPr lang="en-US" sz="625" dirty="0"/>
          </a:p>
        </p:txBody>
      </p:sp>
      <p:sp>
        <p:nvSpPr>
          <p:cNvPr id="88" name="Shape 81"/>
          <p:cNvSpPr/>
          <p:nvPr/>
        </p:nvSpPr>
        <p:spPr>
          <a:xfrm>
            <a:off x="2826868" y="3997300"/>
            <a:ext cx="524683" cy="203180"/>
          </a:xfrm>
          <a:prstGeom prst="rect">
            <a:avLst/>
          </a:prstGeom>
          <a:ln/>
        </p:spPr>
      </p:sp>
      <p:sp>
        <p:nvSpPr>
          <p:cNvPr id="89" name="Shape 82"/>
          <p:cNvSpPr/>
          <p:nvPr/>
        </p:nvSpPr>
        <p:spPr>
          <a:xfrm>
            <a:off x="2826868" y="4197370"/>
            <a:ext cx="524683" cy="0"/>
          </a:xfrm>
          <a:prstGeom prst="line">
            <a:avLst/>
          </a:prstGeom>
          <a:noFill/>
          <a:ln w="6350">
            <a:solidFill>
              <a:srgbClr val="24110C">
                <a:alpha val="7000"/>
              </a:srgbClr>
            </a:solidFill>
            <a:prstDash val="solid"/>
          </a:ln>
        </p:spPr>
      </p:sp>
      <p:sp>
        <p:nvSpPr>
          <p:cNvPr id="90" name="Text 83"/>
          <p:cNvSpPr txBox="1"/>
          <p:nvPr/>
        </p:nvSpPr>
        <p:spPr>
          <a:xfrm>
            <a:off x="2861249" y="4044940"/>
            <a:ext cx="452079" cy="107991"/>
          </a:xfrm>
          <a:prstGeom prst="rect">
            <a:avLst/>
          </a:prstGeom>
          <a:noFill/>
          <a:ln/>
        </p:spPr>
        <p:txBody>
          <a:bodyPr wrap="none" lIns="0" tIns="0" rIns="0" bIns="0" rtlCol="0" anchor="t"/>
          <a:lstStyle/>
          <a:p>
            <a:pPr algn="r" indent="0" marL="0">
              <a:buNone/>
            </a:pPr>
            <a:r>
              <a:rPr lang="en-US" sz="625" dirty="0">
                <a:solidFill>
                  <a:srgbClr val="24110C"/>
                </a:solidFill>
                <a:latin typeface="JetBrains Mono Medium" pitchFamily="34" charset="0"/>
                <a:ea typeface="JetBrains Mono Medium" pitchFamily="34" charset="-122"/>
                <a:cs typeface="JetBrains Mono Medium" pitchFamily="34" charset="-120"/>
              </a:rPr>
              <a:t>4,20,000</a:t>
            </a:r>
            <a:endParaRPr lang="en-US" sz="625" dirty="0"/>
          </a:p>
        </p:txBody>
      </p:sp>
      <p:sp>
        <p:nvSpPr>
          <p:cNvPr id="91" name="Shape 84"/>
          <p:cNvSpPr/>
          <p:nvPr/>
        </p:nvSpPr>
        <p:spPr>
          <a:xfrm>
            <a:off x="1079541" y="4200571"/>
            <a:ext cx="679033" cy="203180"/>
          </a:xfrm>
          <a:prstGeom prst="rect">
            <a:avLst/>
          </a:prstGeom>
          <a:ln/>
        </p:spPr>
      </p:sp>
      <p:sp>
        <p:nvSpPr>
          <p:cNvPr id="92" name="Shape 85"/>
          <p:cNvSpPr/>
          <p:nvPr/>
        </p:nvSpPr>
        <p:spPr>
          <a:xfrm>
            <a:off x="1079541" y="4400550"/>
            <a:ext cx="679033" cy="0"/>
          </a:xfrm>
          <a:prstGeom prst="line">
            <a:avLst/>
          </a:prstGeom>
          <a:noFill/>
          <a:ln w="6350">
            <a:solidFill>
              <a:srgbClr val="24110C">
                <a:alpha val="7000"/>
              </a:srgbClr>
            </a:solidFill>
            <a:prstDash val="solid"/>
          </a:ln>
        </p:spPr>
      </p:sp>
      <p:sp>
        <p:nvSpPr>
          <p:cNvPr id="93" name="Text 86"/>
          <p:cNvSpPr txBox="1"/>
          <p:nvPr/>
        </p:nvSpPr>
        <p:spPr>
          <a:xfrm>
            <a:off x="1117580" y="4254520"/>
            <a:ext cx="212232"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Rate</a:t>
            </a:r>
            <a:endParaRPr lang="en-US" sz="625" dirty="0"/>
          </a:p>
        </p:txBody>
      </p:sp>
      <p:sp>
        <p:nvSpPr>
          <p:cNvPr id="94" name="Shape 87"/>
          <p:cNvSpPr/>
          <p:nvPr/>
        </p:nvSpPr>
        <p:spPr>
          <a:xfrm>
            <a:off x="1758574" y="4200571"/>
            <a:ext cx="543702" cy="203180"/>
          </a:xfrm>
          <a:prstGeom prst="rect">
            <a:avLst/>
          </a:prstGeom>
          <a:ln/>
        </p:spPr>
      </p:sp>
      <p:sp>
        <p:nvSpPr>
          <p:cNvPr id="95" name="Shape 88"/>
          <p:cNvSpPr/>
          <p:nvPr/>
        </p:nvSpPr>
        <p:spPr>
          <a:xfrm>
            <a:off x="1758574" y="4400550"/>
            <a:ext cx="543702" cy="0"/>
          </a:xfrm>
          <a:prstGeom prst="line">
            <a:avLst/>
          </a:prstGeom>
          <a:noFill/>
          <a:ln w="6350">
            <a:solidFill>
              <a:srgbClr val="24110C">
                <a:alpha val="7000"/>
              </a:srgbClr>
            </a:solidFill>
            <a:prstDash val="solid"/>
          </a:ln>
        </p:spPr>
      </p:sp>
      <p:sp>
        <p:nvSpPr>
          <p:cNvPr id="96" name="Text 89"/>
          <p:cNvSpPr txBox="1"/>
          <p:nvPr/>
        </p:nvSpPr>
        <p:spPr>
          <a:xfrm>
            <a:off x="2078797" y="4248120"/>
            <a:ext cx="185440" cy="107991"/>
          </a:xfrm>
          <a:prstGeom prst="rect">
            <a:avLst/>
          </a:prstGeom>
          <a:noFill/>
          <a:ln/>
        </p:spPr>
        <p:txBody>
          <a:bodyPr wrap="none" lIns="0" tIns="0" rIns="0" bIns="0" rtlCol="0" anchor="t"/>
          <a:lstStyle/>
          <a:p>
            <a:pPr algn="r" indent="0" marL="0">
              <a:buNone/>
            </a:pPr>
            <a:r>
              <a:rPr lang="en-US" sz="625" b="1" dirty="0">
                <a:solidFill>
                  <a:srgbClr val="D64545"/>
                </a:solidFill>
                <a:latin typeface="JetBrains Mono Medium" pitchFamily="34" charset="0"/>
                <a:ea typeface="JetBrains Mono Medium" pitchFamily="34" charset="-122"/>
                <a:cs typeface="JetBrains Mono Medium" pitchFamily="34" charset="-120"/>
              </a:rPr>
              <a:t>28%</a:t>
            </a:r>
            <a:endParaRPr lang="en-US" sz="625" dirty="0"/>
          </a:p>
        </p:txBody>
      </p:sp>
      <p:sp>
        <p:nvSpPr>
          <p:cNvPr id="97" name="Shape 90"/>
          <p:cNvSpPr/>
          <p:nvPr/>
        </p:nvSpPr>
        <p:spPr>
          <a:xfrm>
            <a:off x="2302276" y="4200571"/>
            <a:ext cx="524591" cy="203180"/>
          </a:xfrm>
          <a:prstGeom prst="rect">
            <a:avLst/>
          </a:prstGeom>
          <a:ln/>
        </p:spPr>
      </p:sp>
      <p:sp>
        <p:nvSpPr>
          <p:cNvPr id="98" name="Shape 91"/>
          <p:cNvSpPr/>
          <p:nvPr/>
        </p:nvSpPr>
        <p:spPr>
          <a:xfrm>
            <a:off x="2302276" y="4400550"/>
            <a:ext cx="524591" cy="0"/>
          </a:xfrm>
          <a:prstGeom prst="line">
            <a:avLst/>
          </a:prstGeom>
          <a:noFill/>
          <a:ln w="6350">
            <a:solidFill>
              <a:srgbClr val="24110C">
                <a:alpha val="7000"/>
              </a:srgbClr>
            </a:solidFill>
            <a:prstDash val="solid"/>
          </a:ln>
        </p:spPr>
      </p:sp>
      <p:sp>
        <p:nvSpPr>
          <p:cNvPr id="99" name="Text 92"/>
          <p:cNvSpPr txBox="1"/>
          <p:nvPr/>
        </p:nvSpPr>
        <p:spPr>
          <a:xfrm>
            <a:off x="2603297" y="4248120"/>
            <a:ext cx="185440" cy="107991"/>
          </a:xfrm>
          <a:prstGeom prst="rect">
            <a:avLst/>
          </a:prstGeom>
          <a:noFill/>
          <a:ln/>
        </p:spPr>
        <p:txBody>
          <a:bodyPr wrap="none" lIns="0" tIns="0" rIns="0" bIns="0" rtlCol="0" anchor="t"/>
          <a:lstStyle/>
          <a:p>
            <a:pPr algn="r" indent="0" marL="0">
              <a:buNone/>
            </a:pPr>
            <a:r>
              <a:rPr lang="en-US" sz="625" b="1" dirty="0">
                <a:solidFill>
                  <a:srgbClr val="D64545"/>
                </a:solidFill>
                <a:latin typeface="JetBrains Mono Medium" pitchFamily="34" charset="0"/>
                <a:ea typeface="JetBrains Mono Medium" pitchFamily="34" charset="-122"/>
                <a:cs typeface="JetBrains Mono Medium" pitchFamily="34" charset="-120"/>
              </a:rPr>
              <a:t>28%</a:t>
            </a:r>
            <a:endParaRPr lang="en-US" sz="625" dirty="0"/>
          </a:p>
        </p:txBody>
      </p:sp>
      <p:sp>
        <p:nvSpPr>
          <p:cNvPr id="100" name="Shape 93"/>
          <p:cNvSpPr/>
          <p:nvPr/>
        </p:nvSpPr>
        <p:spPr>
          <a:xfrm>
            <a:off x="2826868" y="4200571"/>
            <a:ext cx="524683" cy="203180"/>
          </a:xfrm>
          <a:prstGeom prst="rect">
            <a:avLst/>
          </a:prstGeom>
          <a:ln/>
        </p:spPr>
      </p:sp>
      <p:sp>
        <p:nvSpPr>
          <p:cNvPr id="101" name="Shape 94"/>
          <p:cNvSpPr/>
          <p:nvPr/>
        </p:nvSpPr>
        <p:spPr>
          <a:xfrm>
            <a:off x="2826868" y="4400550"/>
            <a:ext cx="524683" cy="0"/>
          </a:xfrm>
          <a:prstGeom prst="line">
            <a:avLst/>
          </a:prstGeom>
          <a:noFill/>
          <a:ln w="6350">
            <a:solidFill>
              <a:srgbClr val="24110C">
                <a:alpha val="7000"/>
              </a:srgbClr>
            </a:solidFill>
            <a:prstDash val="solid"/>
          </a:ln>
        </p:spPr>
      </p:sp>
      <p:sp>
        <p:nvSpPr>
          <p:cNvPr id="102" name="Text 95"/>
          <p:cNvSpPr txBox="1"/>
          <p:nvPr/>
        </p:nvSpPr>
        <p:spPr>
          <a:xfrm>
            <a:off x="3127980" y="4248120"/>
            <a:ext cx="185440" cy="107991"/>
          </a:xfrm>
          <a:prstGeom prst="rect">
            <a:avLst/>
          </a:prstGeom>
          <a:noFill/>
          <a:ln/>
        </p:spPr>
        <p:txBody>
          <a:bodyPr wrap="none" lIns="0" tIns="0" rIns="0" bIns="0" rtlCol="0" anchor="t"/>
          <a:lstStyle/>
          <a:p>
            <a:pPr algn="r" indent="0" marL="0">
              <a:buNone/>
            </a:pPr>
            <a:r>
              <a:rPr lang="en-US" sz="625" b="1" dirty="0">
                <a:solidFill>
                  <a:srgbClr val="2E9D6A"/>
                </a:solidFill>
                <a:latin typeface="JetBrains Mono Medium" pitchFamily="34" charset="0"/>
                <a:ea typeface="JetBrains Mono Medium" pitchFamily="34" charset="-122"/>
                <a:cs typeface="JetBrains Mono Medium" pitchFamily="34" charset="-120"/>
              </a:rPr>
              <a:t>18%</a:t>
            </a:r>
            <a:endParaRPr lang="en-US" sz="625" dirty="0"/>
          </a:p>
        </p:txBody>
      </p:sp>
      <p:sp>
        <p:nvSpPr>
          <p:cNvPr id="103" name="Shape 96"/>
          <p:cNvSpPr/>
          <p:nvPr/>
        </p:nvSpPr>
        <p:spPr>
          <a:xfrm>
            <a:off x="1079541" y="4403750"/>
            <a:ext cx="679033" cy="203180"/>
          </a:xfrm>
          <a:prstGeom prst="rect">
            <a:avLst/>
          </a:prstGeom>
          <a:ln/>
        </p:spPr>
      </p:sp>
      <p:sp>
        <p:nvSpPr>
          <p:cNvPr id="104" name="Shape 97"/>
          <p:cNvSpPr/>
          <p:nvPr/>
        </p:nvSpPr>
        <p:spPr>
          <a:xfrm>
            <a:off x="1079541" y="4603730"/>
            <a:ext cx="679033" cy="0"/>
          </a:xfrm>
          <a:prstGeom prst="line">
            <a:avLst/>
          </a:prstGeom>
          <a:noFill/>
          <a:ln w="6350">
            <a:solidFill>
              <a:srgbClr val="24110C">
                <a:alpha val="7000"/>
              </a:srgbClr>
            </a:solidFill>
            <a:prstDash val="solid"/>
          </a:ln>
        </p:spPr>
      </p:sp>
      <p:sp>
        <p:nvSpPr>
          <p:cNvPr id="105" name="Text 98"/>
          <p:cNvSpPr txBox="1"/>
          <p:nvPr/>
        </p:nvSpPr>
        <p:spPr>
          <a:xfrm>
            <a:off x="1117580" y="4457700"/>
            <a:ext cx="229606" cy="95280"/>
          </a:xfrm>
          <a:prstGeom prst="rect">
            <a:avLst/>
          </a:prstGeom>
          <a:noFill/>
          <a:ln/>
        </p:spPr>
        <p:txBody>
          <a:bodyPr wrap="none" lIns="0" tIns="0" rIns="0" bIns="0" rtlCol="0" anchor="t"/>
          <a:lstStyle/>
          <a:p>
            <a:pPr algn="l" indent="0" marL="0">
              <a:buNone/>
            </a:pPr>
            <a:r>
              <a:rPr lang="en-US" sz="625" dirty="0">
                <a:solidFill>
                  <a:srgbClr val="24110C"/>
                </a:solidFill>
                <a:latin typeface="Inter" pitchFamily="34" charset="0"/>
                <a:ea typeface="Inter" pitchFamily="34" charset="-122"/>
                <a:cs typeface="Inter" pitchFamily="34" charset="-120"/>
              </a:rPr>
              <a:t>IGST</a:t>
            </a:r>
            <a:endParaRPr lang="en-US" sz="625" dirty="0"/>
          </a:p>
        </p:txBody>
      </p:sp>
      <p:sp>
        <p:nvSpPr>
          <p:cNvPr id="106" name="Shape 99"/>
          <p:cNvSpPr/>
          <p:nvPr/>
        </p:nvSpPr>
        <p:spPr>
          <a:xfrm>
            <a:off x="1758574" y="4403750"/>
            <a:ext cx="543702" cy="203180"/>
          </a:xfrm>
          <a:prstGeom prst="rect">
            <a:avLst/>
          </a:prstGeom>
          <a:ln/>
        </p:spPr>
      </p:sp>
      <p:sp>
        <p:nvSpPr>
          <p:cNvPr id="107" name="Shape 100"/>
          <p:cNvSpPr/>
          <p:nvPr/>
        </p:nvSpPr>
        <p:spPr>
          <a:xfrm>
            <a:off x="1758574" y="4603730"/>
            <a:ext cx="543702" cy="0"/>
          </a:xfrm>
          <a:prstGeom prst="line">
            <a:avLst/>
          </a:prstGeom>
          <a:noFill/>
          <a:ln w="6350">
            <a:solidFill>
              <a:srgbClr val="24110C">
                <a:alpha val="7000"/>
              </a:srgbClr>
            </a:solidFill>
            <a:prstDash val="solid"/>
          </a:ln>
        </p:spPr>
      </p:sp>
      <p:sp>
        <p:nvSpPr>
          <p:cNvPr id="108" name="Text 101"/>
          <p:cNvSpPr txBox="1"/>
          <p:nvPr/>
        </p:nvSpPr>
        <p:spPr>
          <a:xfrm>
            <a:off x="1812066" y="4451391"/>
            <a:ext cx="452079" cy="107991"/>
          </a:xfrm>
          <a:prstGeom prst="rect">
            <a:avLst/>
          </a:prstGeom>
          <a:noFill/>
          <a:ln/>
        </p:spPr>
        <p:txBody>
          <a:bodyPr wrap="none" lIns="0" tIns="0" rIns="0" bIns="0" rtlCol="0" anchor="t"/>
          <a:lstStyle/>
          <a:p>
            <a:pPr algn="r" indent="0" marL="0">
              <a:buNone/>
            </a:pPr>
            <a:r>
              <a:rPr lang="en-US" sz="625" dirty="0">
                <a:solidFill>
                  <a:srgbClr val="D64545"/>
                </a:solidFill>
                <a:latin typeface="JetBrains Mono Medium" pitchFamily="34" charset="0"/>
                <a:ea typeface="JetBrains Mono Medium" pitchFamily="34" charset="-122"/>
                <a:cs typeface="JetBrains Mono Medium" pitchFamily="34" charset="-120"/>
              </a:rPr>
              <a:t>1,17,600</a:t>
            </a:r>
            <a:endParaRPr lang="en-US" sz="625" dirty="0"/>
          </a:p>
        </p:txBody>
      </p:sp>
      <p:sp>
        <p:nvSpPr>
          <p:cNvPr id="109" name="Shape 102"/>
          <p:cNvSpPr/>
          <p:nvPr/>
        </p:nvSpPr>
        <p:spPr>
          <a:xfrm>
            <a:off x="2302276" y="4403750"/>
            <a:ext cx="524591" cy="203180"/>
          </a:xfrm>
          <a:prstGeom prst="rect">
            <a:avLst/>
          </a:prstGeom>
          <a:ln/>
        </p:spPr>
      </p:sp>
      <p:sp>
        <p:nvSpPr>
          <p:cNvPr id="110" name="Shape 103"/>
          <p:cNvSpPr/>
          <p:nvPr/>
        </p:nvSpPr>
        <p:spPr>
          <a:xfrm>
            <a:off x="2302276" y="4603730"/>
            <a:ext cx="524591" cy="0"/>
          </a:xfrm>
          <a:prstGeom prst="line">
            <a:avLst/>
          </a:prstGeom>
          <a:noFill/>
          <a:ln w="6350">
            <a:solidFill>
              <a:srgbClr val="24110C">
                <a:alpha val="7000"/>
              </a:srgbClr>
            </a:solidFill>
            <a:prstDash val="solid"/>
          </a:ln>
        </p:spPr>
      </p:sp>
      <p:sp>
        <p:nvSpPr>
          <p:cNvPr id="111" name="Text 104"/>
          <p:cNvSpPr txBox="1"/>
          <p:nvPr/>
        </p:nvSpPr>
        <p:spPr>
          <a:xfrm>
            <a:off x="2336658" y="4451391"/>
            <a:ext cx="452079" cy="107991"/>
          </a:xfrm>
          <a:prstGeom prst="rect">
            <a:avLst/>
          </a:prstGeom>
          <a:noFill/>
          <a:ln/>
        </p:spPr>
        <p:txBody>
          <a:bodyPr wrap="none" lIns="0" tIns="0" rIns="0" bIns="0" rtlCol="0" anchor="t"/>
          <a:lstStyle/>
          <a:p>
            <a:pPr algn="r" indent="0" marL="0">
              <a:buNone/>
            </a:pPr>
            <a:r>
              <a:rPr lang="en-US" sz="625" dirty="0">
                <a:solidFill>
                  <a:srgbClr val="D64545"/>
                </a:solidFill>
                <a:latin typeface="JetBrains Mono Medium" pitchFamily="34" charset="0"/>
                <a:ea typeface="JetBrains Mono Medium" pitchFamily="34" charset="-122"/>
                <a:cs typeface="JetBrains Mono Medium" pitchFamily="34" charset="-120"/>
              </a:rPr>
              <a:t>1,17,600</a:t>
            </a:r>
            <a:endParaRPr lang="en-US" sz="625" dirty="0"/>
          </a:p>
        </p:txBody>
      </p:sp>
      <p:sp>
        <p:nvSpPr>
          <p:cNvPr id="112" name="Shape 105"/>
          <p:cNvSpPr/>
          <p:nvPr/>
        </p:nvSpPr>
        <p:spPr>
          <a:xfrm>
            <a:off x="2826868" y="4403750"/>
            <a:ext cx="524683" cy="203180"/>
          </a:xfrm>
          <a:prstGeom prst="rect">
            <a:avLst/>
          </a:prstGeom>
          <a:ln/>
        </p:spPr>
      </p:sp>
      <p:sp>
        <p:nvSpPr>
          <p:cNvPr id="113" name="Shape 106"/>
          <p:cNvSpPr/>
          <p:nvPr/>
        </p:nvSpPr>
        <p:spPr>
          <a:xfrm>
            <a:off x="2826868" y="4603730"/>
            <a:ext cx="524683" cy="0"/>
          </a:xfrm>
          <a:prstGeom prst="line">
            <a:avLst/>
          </a:prstGeom>
          <a:noFill/>
          <a:ln w="6350">
            <a:solidFill>
              <a:srgbClr val="24110C">
                <a:alpha val="7000"/>
              </a:srgbClr>
            </a:solidFill>
            <a:prstDash val="solid"/>
          </a:ln>
        </p:spPr>
      </p:sp>
      <p:sp>
        <p:nvSpPr>
          <p:cNvPr id="114" name="Text 107"/>
          <p:cNvSpPr txBox="1"/>
          <p:nvPr/>
        </p:nvSpPr>
        <p:spPr>
          <a:xfrm>
            <a:off x="2967960" y="4451391"/>
            <a:ext cx="345460" cy="107991"/>
          </a:xfrm>
          <a:prstGeom prst="rect">
            <a:avLst/>
          </a:prstGeom>
          <a:noFill/>
          <a:ln/>
        </p:spPr>
        <p:txBody>
          <a:bodyPr wrap="none" lIns="0" tIns="0" rIns="0" bIns="0" rtlCol="0" anchor="t"/>
          <a:lstStyle/>
          <a:p>
            <a:pPr algn="r" indent="0" marL="0">
              <a:buNone/>
            </a:pPr>
            <a:r>
              <a:rPr lang="en-US" sz="625" dirty="0">
                <a:solidFill>
                  <a:srgbClr val="2E9D6A"/>
                </a:solidFill>
                <a:latin typeface="JetBrains Mono Medium" pitchFamily="34" charset="0"/>
                <a:ea typeface="JetBrains Mono Medium" pitchFamily="34" charset="-122"/>
                <a:cs typeface="JetBrains Mono Medium" pitchFamily="34" charset="-120"/>
              </a:rPr>
              <a:t>75,600</a:t>
            </a:r>
            <a:endParaRPr lang="en-US" sz="625" dirty="0"/>
          </a:p>
        </p:txBody>
      </p:sp>
      <p:sp>
        <p:nvSpPr>
          <p:cNvPr id="115" name="Text 108"/>
          <p:cNvSpPr txBox="1"/>
          <p:nvPr/>
        </p:nvSpPr>
        <p:spPr>
          <a:xfrm>
            <a:off x="1079541" y="4648170"/>
            <a:ext cx="2272010" cy="177759"/>
          </a:xfrm>
          <a:prstGeom prst="rect">
            <a:avLst/>
          </a:prstGeom>
          <a:noFill/>
          <a:ln/>
        </p:spPr>
        <p:txBody>
          <a:bodyPr wrap="squar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Rule: cement moved to 18% under GST 2.0, effective 22 Sep 2025</a:t>
            </a:r>
            <a:endParaRPr lang="en-US" sz="575" dirty="0"/>
          </a:p>
        </p:txBody>
      </p:sp>
      <p:sp>
        <p:nvSpPr>
          <p:cNvPr id="116" name="Shape 109"/>
          <p:cNvSpPr/>
          <p:nvPr/>
        </p:nvSpPr>
        <p:spPr>
          <a:xfrm>
            <a:off x="3497580" y="3581430"/>
            <a:ext cx="2604760" cy="1301740"/>
          </a:xfrm>
          <a:prstGeom prst="roundRect">
            <a:avLst>
              <a:gd name="adj" fmla="val 5851"/>
            </a:avLst>
          </a:prstGeom>
          <a:solidFill>
            <a:srgbClr val="FFF9F3"/>
          </a:solidFill>
          <a:ln w="6350">
            <a:solidFill>
              <a:srgbClr val="F0C9A6"/>
            </a:solidFill>
            <a:prstDash val="solid"/>
          </a:ln>
        </p:spPr>
      </p:sp>
      <p:sp>
        <p:nvSpPr>
          <p:cNvPr id="117" name="Text 110"/>
          <p:cNvSpPr txBox="1"/>
          <p:nvPr/>
        </p:nvSpPr>
        <p:spPr>
          <a:xfrm>
            <a:off x="3719779" y="3651291"/>
            <a:ext cx="959388" cy="95280"/>
          </a:xfrm>
          <a:prstGeom prst="rect">
            <a:avLst/>
          </a:prstGeom>
          <a:noFill/>
          <a:ln/>
        </p:spPr>
        <p:txBody>
          <a:bodyPr wrap="none" lIns="0" tIns="0" rIns="0" bIns="0" rtlCol="0" anchor="t"/>
          <a:lstStyle/>
          <a:p>
            <a:pPr algn="l" indent="0" marL="0">
              <a:buNone/>
            </a:pPr>
            <a:r>
              <a:rPr lang="en-US" sz="625" b="1" dirty="0">
                <a:solidFill>
                  <a:srgbClr val="D2601A"/>
                </a:solidFill>
                <a:latin typeface="Inter" pitchFamily="34" charset="0"/>
                <a:ea typeface="Inter" pitchFamily="34" charset="-122"/>
                <a:cs typeface="Inter" pitchFamily="34" charset="-120"/>
              </a:rPr>
              <a:t>Why this was flagged</a:t>
            </a:r>
            <a:endParaRPr lang="en-US" sz="625" dirty="0"/>
          </a:p>
        </p:txBody>
      </p:sp>
      <p:pic>
        <p:nvPicPr>
          <p:cNvPr id="118" name="Image 5" descr="D:\Projects\20. fintechthon\deck\out\assets\s7_img083.png">    </p:cNvPr>
          <p:cNvPicPr>
            <a:picLocks noChangeAspect="1"/>
          </p:cNvPicPr>
          <p:nvPr/>
        </p:nvPicPr>
        <p:blipFill>
          <a:blip r:embed="rId6"/>
          <a:stretch>
            <a:fillRect/>
          </a:stretch>
        </p:blipFill>
        <p:spPr>
          <a:xfrm>
            <a:off x="3573750" y="3644890"/>
            <a:ext cx="107991" cy="107991"/>
          </a:xfrm>
          <a:prstGeom prst="rect">
            <a:avLst/>
          </a:prstGeom>
        </p:spPr>
      </p:pic>
      <p:sp>
        <p:nvSpPr>
          <p:cNvPr id="119" name="Text 111"/>
          <p:cNvSpPr txBox="1"/>
          <p:nvPr/>
        </p:nvSpPr>
        <p:spPr>
          <a:xfrm>
            <a:off x="3580150" y="3774277"/>
            <a:ext cx="2439711" cy="488655"/>
          </a:xfrm>
          <a:prstGeom prst="rect">
            <a:avLst/>
          </a:prstGeom>
          <a:noFill/>
          <a:ln/>
        </p:spPr>
        <p:txBody>
          <a:bodyPr wrap="square" lIns="0" tIns="0" rIns="0" bIns="0" rtlCol="0" anchor="t"/>
          <a:lstStyle/>
          <a:p>
            <a:pPr algn="l" indent="0" marL="0">
              <a:lnSpc>
                <a:spcPts val="962"/>
              </a:lnSpc>
              <a:buNone/>
            </a:pPr>
            <a:r>
              <a:rPr lang="en-US" sz="650" dirty="0">
                <a:solidFill>
                  <a:srgbClr val="24110C"/>
                </a:solidFill>
                <a:latin typeface="Inter" pitchFamily="34" charset="0"/>
                <a:ea typeface="Inter" pitchFamily="34" charset="-122"/>
                <a:cs typeface="Inter" pitchFamily="34" charset="-120"/>
              </a:rPr>
              <a:t>Cement (HSN 2523) dropped from 28% to 18% on 22 Sep 2025. This invoice is dated 24 Sep but was billed at the old rate. The excess ₹42,000 should be corrected by a credit note before you claim it.</a:t>
            </a:r>
            <a:endParaRPr lang="en-US" sz="650" dirty="0"/>
          </a:p>
        </p:txBody>
      </p:sp>
      <p:sp>
        <p:nvSpPr>
          <p:cNvPr id="120" name="Text 112"/>
          <p:cNvSpPr txBox="1"/>
          <p:nvPr/>
        </p:nvSpPr>
        <p:spPr>
          <a:xfrm>
            <a:off x="3580150" y="4323923"/>
            <a:ext cx="496153" cy="95280"/>
          </a:xfrm>
          <a:prstGeom prst="rect">
            <a:avLst/>
          </a:prstGeom>
          <a:noFill/>
          <a:ln/>
        </p:spPr>
        <p:txBody>
          <a:bodyPr wrap="none" lIns="0" tIns="0" rIns="0" bIns="0" rtlCol="0" anchor="t"/>
          <a:lstStyle/>
          <a:p>
            <a:pPr algn="l" indent="0" marL="0">
              <a:buNone/>
            </a:pPr>
            <a:r>
              <a:rPr lang="en-US" sz="625" b="1" dirty="0">
                <a:solidFill>
                  <a:srgbClr val="24110C"/>
                </a:solidFill>
                <a:latin typeface="Inter" pitchFamily="34" charset="0"/>
                <a:ea typeface="Inter" pitchFamily="34" charset="-122"/>
                <a:cs typeface="Inter" pitchFamily="34" charset="-120"/>
              </a:rPr>
              <a:t>What to do</a:t>
            </a:r>
            <a:endParaRPr lang="en-US" sz="625" dirty="0"/>
          </a:p>
        </p:txBody>
      </p:sp>
      <p:sp>
        <p:nvSpPr>
          <p:cNvPr id="121" name="Text 113"/>
          <p:cNvSpPr txBox="1"/>
          <p:nvPr/>
        </p:nvSpPr>
        <p:spPr>
          <a:xfrm>
            <a:off x="3580150" y="4427982"/>
            <a:ext cx="2439711" cy="244328"/>
          </a:xfrm>
          <a:prstGeom prst="rect">
            <a:avLst/>
          </a:prstGeom>
          <a:noFill/>
          <a:ln/>
        </p:spPr>
        <p:txBody>
          <a:bodyPr wrap="square" lIns="0" tIns="0" rIns="0" bIns="0" rtlCol="0" anchor="t"/>
          <a:lstStyle/>
          <a:p>
            <a:pPr algn="l" indent="0" marL="0">
              <a:lnSpc>
                <a:spcPts val="962"/>
              </a:lnSpc>
              <a:buNone/>
            </a:pPr>
            <a:r>
              <a:rPr lang="en-US" sz="650" dirty="0">
                <a:solidFill>
                  <a:srgbClr val="24110C"/>
                </a:solidFill>
                <a:latin typeface="Inter" pitchFamily="34" charset="0"/>
                <a:ea typeface="Inter" pitchFamily="34" charset="-122"/>
                <a:cs typeface="Inter" pitchFamily="34" charset="-120"/>
              </a:rPr>
              <a:t>Ask UltraBuild for a ₹42,000 credit note. Until it arrives, claim credit only on the correct ₹75,600.</a:t>
            </a:r>
            <a:endParaRPr lang="en-US" sz="650" dirty="0"/>
          </a:p>
        </p:txBody>
      </p:sp>
      <p:sp>
        <p:nvSpPr>
          <p:cNvPr id="122" name="Shape 114"/>
          <p:cNvSpPr/>
          <p:nvPr/>
        </p:nvSpPr>
        <p:spPr>
          <a:xfrm>
            <a:off x="1009680" y="4946630"/>
            <a:ext cx="5092659" cy="746150"/>
          </a:xfrm>
          <a:prstGeom prst="roundRect">
            <a:avLst>
              <a:gd name="adj" fmla="val 10208"/>
            </a:avLst>
          </a:prstGeom>
          <a:solidFill>
            <a:srgbClr val="FFFFFF"/>
          </a:solidFill>
          <a:ln w="6350">
            <a:solidFill>
              <a:srgbClr val="24110C">
                <a:alpha val="13000"/>
              </a:srgbClr>
            </a:solidFill>
            <a:prstDash val="solid"/>
          </a:ln>
        </p:spPr>
      </p:sp>
      <p:sp>
        <p:nvSpPr>
          <p:cNvPr id="123" name="Text 115"/>
          <p:cNvSpPr txBox="1"/>
          <p:nvPr/>
        </p:nvSpPr>
        <p:spPr>
          <a:xfrm>
            <a:off x="1231880" y="5016490"/>
            <a:ext cx="1549908" cy="95280"/>
          </a:xfrm>
          <a:prstGeom prst="rect">
            <a:avLst/>
          </a:prstGeom>
          <a:noFill/>
          <a:ln/>
        </p:spPr>
        <p:txBody>
          <a:bodyPr wrap="none" lIns="0" tIns="0" rIns="0" bIns="0" rtlCol="0" anchor="t"/>
          <a:lstStyle/>
          <a:p>
            <a:pPr algn="l" indent="0" marL="0">
              <a:buNone/>
            </a:pPr>
            <a:r>
              <a:rPr lang="en-US" sz="625" b="1" dirty="0">
                <a:solidFill>
                  <a:srgbClr val="24110C"/>
                </a:solidFill>
                <a:latin typeface="Inter" pitchFamily="34" charset="0"/>
                <a:ea typeface="Inter" pitchFamily="34" charset="-122"/>
                <a:cs typeface="Inter" pitchFamily="34" charset="-120"/>
              </a:rPr>
              <a:t>Drafted for you: credit note request</a:t>
            </a:r>
            <a:endParaRPr lang="en-US" sz="625" dirty="0"/>
          </a:p>
        </p:txBody>
      </p:sp>
      <p:pic>
        <p:nvPicPr>
          <p:cNvPr id="124" name="Image 6" descr="D:\Projects\20. fintechthon\deck\out\assets\s7_img084.png">    </p:cNvPr>
          <p:cNvPicPr>
            <a:picLocks noChangeAspect="1"/>
          </p:cNvPicPr>
          <p:nvPr/>
        </p:nvPicPr>
        <p:blipFill>
          <a:blip r:embed="rId7"/>
          <a:stretch>
            <a:fillRect/>
          </a:stretch>
        </p:blipFill>
        <p:spPr>
          <a:xfrm>
            <a:off x="1085850" y="5010180"/>
            <a:ext cx="107991" cy="107991"/>
          </a:xfrm>
          <a:prstGeom prst="rect">
            <a:avLst/>
          </a:prstGeom>
        </p:spPr>
      </p:pic>
      <p:sp>
        <p:nvSpPr>
          <p:cNvPr id="125" name="Text 116"/>
          <p:cNvSpPr txBox="1"/>
          <p:nvPr/>
        </p:nvSpPr>
        <p:spPr>
          <a:xfrm>
            <a:off x="5141305" y="5019690"/>
            <a:ext cx="1009315" cy="88880"/>
          </a:xfrm>
          <a:prstGeom prst="rect">
            <a:avLst/>
          </a:prstGeom>
          <a:noFill/>
          <a:ln/>
        </p:spPr>
        <p:txBody>
          <a:bodyPr wrap="none" lIns="0" tIns="0" rIns="0" bIns="0" rtlCol="0" anchor="t"/>
          <a:lstStyle/>
          <a:p>
            <a:pPr algn="l" indent="0" marL="0">
              <a:buNone/>
            </a:pPr>
            <a:r>
              <a:rPr lang="en-US" sz="575" dirty="0">
                <a:solidFill>
                  <a:srgbClr val="8C7368"/>
                </a:solidFill>
                <a:latin typeface="Inter" pitchFamily="34" charset="0"/>
                <a:ea typeface="Inter" pitchFamily="34" charset="-122"/>
                <a:cs typeface="Inter" pitchFamily="34" charset="-120"/>
              </a:rPr>
              <a:t>to accounts@ultrabuild.in</a:t>
            </a:r>
            <a:endParaRPr lang="en-US" sz="575" dirty="0"/>
          </a:p>
        </p:txBody>
      </p:sp>
      <p:sp>
        <p:nvSpPr>
          <p:cNvPr id="126" name="Text 117"/>
          <p:cNvSpPr txBox="1"/>
          <p:nvPr/>
        </p:nvSpPr>
        <p:spPr>
          <a:xfrm>
            <a:off x="1092159" y="5137922"/>
            <a:ext cx="4927610" cy="238110"/>
          </a:xfrm>
          <a:prstGeom prst="rect">
            <a:avLst/>
          </a:prstGeom>
          <a:noFill/>
          <a:ln/>
        </p:spPr>
        <p:txBody>
          <a:bodyPr wrap="square" lIns="0" tIns="0" rIns="0" bIns="0" rtlCol="0" anchor="t"/>
          <a:lstStyle/>
          <a:p>
            <a:pPr algn="l" indent="0" marL="0">
              <a:lnSpc>
                <a:spcPts val="938"/>
              </a:lnSpc>
              <a:buNone/>
            </a:pPr>
            <a:r>
              <a:rPr lang="en-US" sz="625" dirty="0">
                <a:solidFill>
                  <a:srgbClr val="5B4339"/>
                </a:solidFill>
                <a:latin typeface="Inter" pitchFamily="34" charset="0"/>
                <a:ea typeface="Inter" pitchFamily="34" charset="-122"/>
                <a:cs typeface="Inter" pitchFamily="34" charset="-120"/>
              </a:rPr>
              <a:t>Invoice UB/2526/1187 dated 24 Sep 2025 applies 28% IGST to HSN 2523. The rate from 22 Sep 2025 is 18%. Please issue a credit note for ₹42,000 and refile in GSTR-1.</a:t>
            </a:r>
            <a:endParaRPr lang="en-US" sz="625" dirty="0"/>
          </a:p>
        </p:txBody>
      </p:sp>
      <p:sp>
        <p:nvSpPr>
          <p:cNvPr id="127" name="Shape 118"/>
          <p:cNvSpPr/>
          <p:nvPr/>
        </p:nvSpPr>
        <p:spPr>
          <a:xfrm>
            <a:off x="1092159" y="5438760"/>
            <a:ext cx="983620" cy="184160"/>
          </a:xfrm>
          <a:prstGeom prst="roundRect">
            <a:avLst>
              <a:gd name="adj" fmla="val 31033"/>
            </a:avLst>
          </a:prstGeom>
          <a:solidFill>
            <a:srgbClr val="D2601A"/>
          </a:solidFill>
          <a:ln/>
        </p:spPr>
      </p:sp>
      <p:sp>
        <p:nvSpPr>
          <p:cNvPr id="128" name="Text 119"/>
          <p:cNvSpPr txBox="1"/>
          <p:nvPr/>
        </p:nvSpPr>
        <p:spPr>
          <a:xfrm>
            <a:off x="1301740" y="5483200"/>
            <a:ext cx="807049" cy="95280"/>
          </a:xfrm>
          <a:prstGeom prst="rect">
            <a:avLst/>
          </a:prstGeom>
          <a:noFill/>
          <a:ln/>
        </p:spPr>
        <p:txBody>
          <a:bodyPr wrap="none" lIns="0" tIns="0" rIns="0" bIns="0" rtlCol="0" anchor="t"/>
          <a:lstStyle/>
          <a:p>
            <a:pPr algn="l" indent="0" marL="0">
              <a:buNone/>
            </a:pPr>
            <a:r>
              <a:rPr lang="en-US" sz="625" dirty="0">
                <a:solidFill>
                  <a:srgbClr val="FFFFFF"/>
                </a:solidFill>
                <a:latin typeface="Inter SemiBold" pitchFamily="34" charset="0"/>
                <a:ea typeface="Inter SemiBold" pitchFamily="34" charset="-122"/>
                <a:cs typeface="Inter SemiBold" pitchFamily="34" charset="-120"/>
              </a:rPr>
              <a:t>Approve and send</a:t>
            </a:r>
            <a:endParaRPr lang="en-US" sz="625" dirty="0"/>
          </a:p>
        </p:txBody>
      </p:sp>
      <p:pic>
        <p:nvPicPr>
          <p:cNvPr id="129" name="Image 7" descr="D:\Projects\20. fintechthon\deck\out\assets\s7_img085.png">    </p:cNvPr>
          <p:cNvPicPr>
            <a:picLocks noChangeAspect="1"/>
          </p:cNvPicPr>
          <p:nvPr/>
        </p:nvPicPr>
        <p:blipFill>
          <a:blip r:embed="rId8"/>
          <a:stretch>
            <a:fillRect/>
          </a:stretch>
        </p:blipFill>
        <p:spPr>
          <a:xfrm>
            <a:off x="1162020" y="5480091"/>
            <a:ext cx="101590" cy="101590"/>
          </a:xfrm>
          <a:prstGeom prst="rect">
            <a:avLst/>
          </a:prstGeom>
        </p:spPr>
      </p:pic>
      <p:sp>
        <p:nvSpPr>
          <p:cNvPr id="130" name="Shape 120"/>
          <p:cNvSpPr/>
          <p:nvPr/>
        </p:nvSpPr>
        <p:spPr>
          <a:xfrm>
            <a:off x="2126620" y="5438760"/>
            <a:ext cx="513344" cy="184160"/>
          </a:xfrm>
          <a:prstGeom prst="roundRect">
            <a:avLst>
              <a:gd name="adj" fmla="val 31033"/>
            </a:avLst>
          </a:prstGeom>
          <a:solidFill>
            <a:srgbClr val="FFFFFF"/>
          </a:solidFill>
          <a:ln w="6350">
            <a:solidFill>
              <a:srgbClr val="24110C">
                <a:alpha val="13000"/>
              </a:srgbClr>
            </a:solidFill>
            <a:prstDash val="solid"/>
          </a:ln>
        </p:spPr>
      </p:sp>
      <p:sp>
        <p:nvSpPr>
          <p:cNvPr id="131" name="Text 121"/>
          <p:cNvSpPr txBox="1"/>
          <p:nvPr/>
        </p:nvSpPr>
        <p:spPr>
          <a:xfrm>
            <a:off x="2209190" y="5483200"/>
            <a:ext cx="415412" cy="95280"/>
          </a:xfrm>
          <a:prstGeom prst="rect">
            <a:avLst/>
          </a:prstGeom>
          <a:noFill/>
          <a:ln/>
        </p:spPr>
        <p:txBody>
          <a:bodyPr wrap="none" lIns="0" tIns="0" rIns="0" bIns="0" rtlCol="0" anchor="t"/>
          <a:lstStyle/>
          <a:p>
            <a:pPr algn="l" indent="0" marL="0">
              <a:buNone/>
            </a:pPr>
            <a:r>
              <a:rPr lang="en-US" sz="625" dirty="0">
                <a:solidFill>
                  <a:srgbClr val="24110C"/>
                </a:solidFill>
                <a:latin typeface="Inter SemiBold" pitchFamily="34" charset="0"/>
                <a:ea typeface="Inter SemiBold" pitchFamily="34" charset="-122"/>
                <a:cs typeface="Inter SemiBold" pitchFamily="34" charset="-120"/>
              </a:rPr>
              <a:t>Edit draft</a:t>
            </a:r>
            <a:endParaRPr lang="en-US" sz="625" dirty="0"/>
          </a:p>
        </p:txBody>
      </p:sp>
      <p:sp>
        <p:nvSpPr>
          <p:cNvPr id="132" name="Shape 122"/>
          <p:cNvSpPr/>
          <p:nvPr/>
        </p:nvSpPr>
        <p:spPr>
          <a:xfrm>
            <a:off x="2690805" y="5438760"/>
            <a:ext cx="841614" cy="184160"/>
          </a:xfrm>
          <a:prstGeom prst="roundRect">
            <a:avLst>
              <a:gd name="adj" fmla="val 31033"/>
            </a:avLst>
          </a:prstGeom>
          <a:solidFill>
            <a:srgbClr val="FFFFFF"/>
          </a:solidFill>
          <a:ln w="6350">
            <a:solidFill>
              <a:srgbClr val="24110C">
                <a:alpha val="13000"/>
              </a:srgbClr>
            </a:solidFill>
            <a:prstDash val="solid"/>
          </a:ln>
        </p:spPr>
      </p:sp>
      <p:sp>
        <p:nvSpPr>
          <p:cNvPr id="133" name="Text 123"/>
          <p:cNvSpPr txBox="1"/>
          <p:nvPr/>
        </p:nvSpPr>
        <p:spPr>
          <a:xfrm>
            <a:off x="2773375" y="5483200"/>
            <a:ext cx="783092" cy="95280"/>
          </a:xfrm>
          <a:prstGeom prst="rect">
            <a:avLst/>
          </a:prstGeom>
          <a:noFill/>
          <a:ln/>
        </p:spPr>
        <p:txBody>
          <a:bodyPr wrap="none" lIns="0" tIns="0" rIns="0" bIns="0" rtlCol="0" anchor="t"/>
          <a:lstStyle/>
          <a:p>
            <a:pPr algn="l" indent="0" marL="0">
              <a:buNone/>
            </a:pPr>
            <a:r>
              <a:rPr lang="en-US" sz="625" dirty="0">
                <a:solidFill>
                  <a:srgbClr val="24110C"/>
                </a:solidFill>
                <a:latin typeface="Inter SemiBold" pitchFamily="34" charset="0"/>
                <a:ea typeface="Inter SemiBold" pitchFamily="34" charset="-122"/>
                <a:cs typeface="Inter SemiBold" pitchFamily="34" charset="-120"/>
              </a:rPr>
              <a:t>Dismiss with note</a:t>
            </a:r>
            <a:endParaRPr lang="en-US" sz="625" dirty="0"/>
          </a:p>
        </p:txBody>
      </p:sp>
      <p:sp>
        <p:nvSpPr>
          <p:cNvPr id="134" name="Shape 124"/>
          <p:cNvSpPr/>
          <p:nvPr/>
        </p:nvSpPr>
        <p:spPr>
          <a:xfrm>
            <a:off x="6381780" y="2870210"/>
            <a:ext cx="4921209" cy="2794041"/>
          </a:xfrm>
          <a:prstGeom prst="roundRect">
            <a:avLst>
              <a:gd name="adj" fmla="val 3636"/>
            </a:avLst>
          </a:prstGeom>
          <a:solidFill>
            <a:srgbClr val="FFFFFF"/>
          </a:solidFill>
          <a:ln w="6350">
            <a:solidFill>
              <a:srgbClr val="24110C">
                <a:alpha val="18000"/>
              </a:srgbClr>
            </a:solidFill>
            <a:prstDash val="solid"/>
          </a:ln>
          <a:effectLst>
            <a:outerShdw sx="100000" sy="100000" kx="0" ky="0" algn="bl" rotWithShape="0" blurRad="177800" dist="76200" dir="5400000">
              <a:srgbClr val="50200A">
                <a:alpha val="22000"/>
              </a:srgbClr>
            </a:outerShdw>
          </a:effectLst>
        </p:spPr>
      </p:sp>
      <p:sp>
        <p:nvSpPr>
          <p:cNvPr id="135" name="Shape 125"/>
          <p:cNvSpPr/>
          <p:nvPr/>
        </p:nvSpPr>
        <p:spPr>
          <a:xfrm>
            <a:off x="6388090" y="2876520"/>
            <a:ext cx="4908591" cy="241310"/>
          </a:xfrm>
          <a:prstGeom prst="roundRect">
            <a:avLst>
              <a:gd name="adj" fmla="val 42099"/>
            </a:avLst>
          </a:prstGeom>
          <a:solidFill>
            <a:srgbClr val="F4ECE4"/>
          </a:solidFill>
          <a:ln/>
        </p:spPr>
      </p:sp>
      <p:sp>
        <p:nvSpPr>
          <p:cNvPr id="136" name="Shape 126"/>
          <p:cNvSpPr/>
          <p:nvPr/>
        </p:nvSpPr>
        <p:spPr>
          <a:xfrm>
            <a:off x="6388090" y="3016240"/>
            <a:ext cx="101590" cy="101590"/>
          </a:xfrm>
          <a:prstGeom prst="rect">
            <a:avLst/>
          </a:prstGeom>
          <a:solidFill>
            <a:srgbClr val="F4ECE4"/>
          </a:solidFill>
          <a:ln/>
        </p:spPr>
      </p:sp>
      <p:sp>
        <p:nvSpPr>
          <p:cNvPr id="137" name="Shape 127"/>
          <p:cNvSpPr/>
          <p:nvPr/>
        </p:nvSpPr>
        <p:spPr>
          <a:xfrm>
            <a:off x="11195091" y="3016240"/>
            <a:ext cx="101590" cy="101590"/>
          </a:xfrm>
          <a:prstGeom prst="rect">
            <a:avLst/>
          </a:prstGeom>
          <a:solidFill>
            <a:srgbClr val="F4ECE4"/>
          </a:solidFill>
          <a:ln/>
        </p:spPr>
      </p:sp>
      <p:sp>
        <p:nvSpPr>
          <p:cNvPr id="138" name="Shape 128"/>
          <p:cNvSpPr/>
          <p:nvPr/>
        </p:nvSpPr>
        <p:spPr>
          <a:xfrm>
            <a:off x="6388090" y="3114721"/>
            <a:ext cx="4908591" cy="0"/>
          </a:xfrm>
          <a:prstGeom prst="line">
            <a:avLst/>
          </a:prstGeom>
          <a:noFill/>
          <a:ln w="6350">
            <a:solidFill>
              <a:srgbClr val="24110C">
                <a:alpha val="13000"/>
              </a:srgbClr>
            </a:solidFill>
            <a:prstDash val="solid"/>
          </a:ln>
        </p:spPr>
      </p:sp>
      <p:sp>
        <p:nvSpPr>
          <p:cNvPr id="139" name="Shape 129"/>
          <p:cNvSpPr/>
          <p:nvPr/>
        </p:nvSpPr>
        <p:spPr>
          <a:xfrm>
            <a:off x="6476970" y="2959090"/>
            <a:ext cx="69860" cy="69860"/>
          </a:xfrm>
          <a:prstGeom prst="ellipse">
            <a:avLst/>
          </a:prstGeom>
          <a:solidFill>
            <a:srgbClr val="F26B5B"/>
          </a:solidFill>
          <a:ln/>
        </p:spPr>
      </p:sp>
      <p:sp>
        <p:nvSpPr>
          <p:cNvPr id="140" name="Shape 130"/>
          <p:cNvSpPr/>
          <p:nvPr/>
        </p:nvSpPr>
        <p:spPr>
          <a:xfrm>
            <a:off x="6597670" y="2959090"/>
            <a:ext cx="69860" cy="69860"/>
          </a:xfrm>
          <a:prstGeom prst="ellipse">
            <a:avLst/>
          </a:prstGeom>
          <a:solidFill>
            <a:srgbClr val="F5BE4F"/>
          </a:solidFill>
          <a:ln/>
        </p:spPr>
      </p:sp>
      <p:sp>
        <p:nvSpPr>
          <p:cNvPr id="141" name="Shape 131"/>
          <p:cNvSpPr/>
          <p:nvPr/>
        </p:nvSpPr>
        <p:spPr>
          <a:xfrm>
            <a:off x="6718280" y="2959090"/>
            <a:ext cx="69860" cy="69860"/>
          </a:xfrm>
          <a:prstGeom prst="ellipse">
            <a:avLst/>
          </a:prstGeom>
          <a:solidFill>
            <a:srgbClr val="5BC46A"/>
          </a:solidFill>
          <a:ln/>
        </p:spPr>
      </p:sp>
      <p:sp>
        <p:nvSpPr>
          <p:cNvPr id="142" name="Shape 132"/>
          <p:cNvSpPr/>
          <p:nvPr/>
        </p:nvSpPr>
        <p:spPr>
          <a:xfrm>
            <a:off x="6927860" y="2917850"/>
            <a:ext cx="2667030" cy="152430"/>
          </a:xfrm>
          <a:prstGeom prst="roundRect">
            <a:avLst>
              <a:gd name="adj" fmla="val 29154"/>
            </a:avLst>
          </a:prstGeom>
          <a:solidFill>
            <a:srgbClr val="FFFFFF"/>
          </a:solidFill>
          <a:ln w="6350">
            <a:solidFill>
              <a:srgbClr val="24110C">
                <a:alpha val="13000"/>
              </a:srgbClr>
            </a:solidFill>
            <a:prstDash val="solid"/>
          </a:ln>
        </p:spPr>
      </p:sp>
      <p:sp>
        <p:nvSpPr>
          <p:cNvPr id="143" name="Text 133"/>
          <p:cNvSpPr txBox="1"/>
          <p:nvPr/>
        </p:nvSpPr>
        <p:spPr>
          <a:xfrm>
            <a:off x="6997720" y="2940070"/>
            <a:ext cx="1252179" cy="107991"/>
          </a:xfrm>
          <a:prstGeom prst="rect">
            <a:avLst/>
          </a:prstGeom>
          <a:noFill/>
          <a:ln/>
        </p:spPr>
        <p:txBody>
          <a:bodyPr wrap="none" lIns="0" tIns="0" rIns="0" bIns="0" rtlCol="0" anchor="t"/>
          <a:lstStyle/>
          <a:p>
            <a:pPr algn="l" indent="0" marL="0">
              <a:buNone/>
            </a:pPr>
            <a:r>
              <a:rPr lang="en-US" sz="625" dirty="0">
                <a:solidFill>
                  <a:srgbClr val="8C7368"/>
                </a:solidFill>
                <a:latin typeface="JetBrains Mono Medium" pitchFamily="34" charset="0"/>
                <a:ea typeface="JetBrains Mono Medium" pitchFamily="34" charset="-122"/>
                <a:cs typeface="JetBrains Mono Medium" pitchFamily="34" charset="-120"/>
              </a:rPr>
              <a:t>app.ledgerlens.in/graph</a:t>
            </a:r>
            <a:endParaRPr lang="en-US" sz="625" dirty="0"/>
          </a:p>
        </p:txBody>
      </p:sp>
      <p:sp>
        <p:nvSpPr>
          <p:cNvPr id="144" name="Shape 134"/>
          <p:cNvSpPr/>
          <p:nvPr/>
        </p:nvSpPr>
        <p:spPr>
          <a:xfrm>
            <a:off x="6388090" y="3117830"/>
            <a:ext cx="4908591" cy="2540020"/>
          </a:xfrm>
          <a:prstGeom prst="roundRect">
            <a:avLst>
              <a:gd name="adj" fmla="val 4000"/>
            </a:avLst>
          </a:prstGeom>
          <a:solidFill>
            <a:srgbClr val="1F1714"/>
          </a:solidFill>
          <a:ln/>
        </p:spPr>
      </p:sp>
      <p:sp>
        <p:nvSpPr>
          <p:cNvPr id="145" name="Shape 135"/>
          <p:cNvSpPr/>
          <p:nvPr/>
        </p:nvSpPr>
        <p:spPr>
          <a:xfrm>
            <a:off x="6388090" y="3117830"/>
            <a:ext cx="101590" cy="101590"/>
          </a:xfrm>
          <a:prstGeom prst="rect">
            <a:avLst/>
          </a:prstGeom>
          <a:solidFill>
            <a:srgbClr val="1F1714"/>
          </a:solidFill>
          <a:ln/>
        </p:spPr>
      </p:sp>
      <p:sp>
        <p:nvSpPr>
          <p:cNvPr id="146" name="Shape 136"/>
          <p:cNvSpPr/>
          <p:nvPr/>
        </p:nvSpPr>
        <p:spPr>
          <a:xfrm>
            <a:off x="11195091" y="3117830"/>
            <a:ext cx="101590" cy="101590"/>
          </a:xfrm>
          <a:prstGeom prst="rect">
            <a:avLst/>
          </a:prstGeom>
          <a:solidFill>
            <a:srgbClr val="1F1714"/>
          </a:solidFill>
          <a:ln/>
        </p:spPr>
      </p:sp>
      <p:pic>
        <p:nvPicPr>
          <p:cNvPr id="147" name="Image 8" descr="D:\Projects\20. fintechthon\deck\out\assets\s7_img086.png">    </p:cNvPr>
          <p:cNvPicPr>
            <a:picLocks noChangeAspect="1"/>
          </p:cNvPicPr>
          <p:nvPr/>
        </p:nvPicPr>
        <p:blipFill>
          <a:blip r:embed="rId9"/>
          <a:stretch>
            <a:fillRect/>
          </a:stretch>
        </p:blipFill>
        <p:spPr>
          <a:xfrm>
            <a:off x="6381780" y="3111520"/>
            <a:ext cx="4933920" cy="2565441"/>
          </a:xfrm>
          <a:prstGeom prst="rect">
            <a:avLst/>
          </a:prstGeom>
        </p:spPr>
      </p:pic>
      <p:sp>
        <p:nvSpPr>
          <p:cNvPr id="148" name="Shape 137"/>
          <p:cNvSpPr/>
          <p:nvPr/>
        </p:nvSpPr>
        <p:spPr>
          <a:xfrm>
            <a:off x="9620220" y="3206709"/>
            <a:ext cx="1587490" cy="1204905"/>
          </a:xfrm>
          <a:prstGeom prst="roundRect">
            <a:avLst>
              <a:gd name="adj" fmla="val 6322"/>
            </a:avLst>
          </a:prstGeom>
          <a:solidFill>
            <a:srgbClr val="2C211C"/>
          </a:solidFill>
          <a:ln w="6350">
            <a:solidFill>
              <a:srgbClr val="4C3830"/>
            </a:solidFill>
            <a:prstDash val="solid"/>
          </a:ln>
        </p:spPr>
      </p:sp>
      <p:sp>
        <p:nvSpPr>
          <p:cNvPr id="149" name="Text 138"/>
          <p:cNvSpPr txBox="1"/>
          <p:nvPr/>
        </p:nvSpPr>
        <p:spPr>
          <a:xfrm>
            <a:off x="9861530" y="3289280"/>
            <a:ext cx="1230142" cy="107991"/>
          </a:xfrm>
          <a:prstGeom prst="rect">
            <a:avLst/>
          </a:prstGeom>
          <a:noFill/>
          <a:ln/>
        </p:spPr>
        <p:txBody>
          <a:bodyPr wrap="none" lIns="0" tIns="0" rIns="0" bIns="0" rtlCol="0" anchor="t"/>
          <a:lstStyle/>
          <a:p>
            <a:pPr algn="l" indent="0" marL="0">
              <a:buNone/>
            </a:pPr>
            <a:r>
              <a:rPr lang="en-US" sz="700" b="1" dirty="0">
                <a:solidFill>
                  <a:srgbClr val="FF8F84"/>
                </a:solidFill>
                <a:latin typeface="Inter" pitchFamily="34" charset="0"/>
                <a:ea typeface="Inter" pitchFamily="34" charset="-122"/>
                <a:cs typeface="Inter" pitchFamily="34" charset="-120"/>
              </a:rPr>
              <a:t>Money moving in a circle</a:t>
            </a:r>
            <a:endParaRPr lang="en-US" sz="700" dirty="0"/>
          </a:p>
        </p:txBody>
      </p:sp>
      <p:pic>
        <p:nvPicPr>
          <p:cNvPr id="150" name="Image 9" descr="D:\Projects\20. fintechthon\deck\out\assets\s7_img087.png">    </p:cNvPr>
          <p:cNvPicPr>
            <a:picLocks noChangeAspect="1"/>
          </p:cNvPicPr>
          <p:nvPr/>
        </p:nvPicPr>
        <p:blipFill>
          <a:blip r:embed="rId10"/>
          <a:stretch>
            <a:fillRect/>
          </a:stretch>
        </p:blipFill>
        <p:spPr>
          <a:xfrm>
            <a:off x="9709191" y="3286171"/>
            <a:ext cx="114300" cy="114300"/>
          </a:xfrm>
          <a:prstGeom prst="rect">
            <a:avLst/>
          </a:prstGeom>
        </p:spPr>
      </p:pic>
      <p:sp>
        <p:nvSpPr>
          <p:cNvPr id="151" name="Text 139"/>
          <p:cNvSpPr txBox="1"/>
          <p:nvPr/>
        </p:nvSpPr>
        <p:spPr>
          <a:xfrm>
            <a:off x="9715500" y="3429823"/>
            <a:ext cx="1397020" cy="595274"/>
          </a:xfrm>
          <a:prstGeom prst="rect">
            <a:avLst/>
          </a:prstGeom>
          <a:noFill/>
          <a:ln/>
        </p:spPr>
        <p:txBody>
          <a:bodyPr wrap="square" lIns="0" tIns="0" rIns="0" bIns="0" rtlCol="0" anchor="t"/>
          <a:lstStyle/>
          <a:p>
            <a:pPr algn="l" indent="0" marL="0">
              <a:lnSpc>
                <a:spcPts val="938"/>
              </a:lnSpc>
              <a:buNone/>
            </a:pPr>
            <a:r>
              <a:rPr lang="en-US" sz="625" dirty="0">
                <a:solidFill>
                  <a:srgbClr val="E0CFC6"/>
                </a:solidFill>
                <a:latin typeface="Inter" pitchFamily="34" charset="0"/>
                <a:ea typeface="Inter" pitchFamily="34" charset="-122"/>
                <a:cs typeface="Inter" pitchFamily="34" charset="-120"/>
              </a:rPr>
              <a:t>You buy from Rudra Traders and sell to Nexa Agencies. Both share one PAN, and a third firm with a cancelled GSTIN shares their bank account.</a:t>
            </a:r>
            <a:endParaRPr lang="en-US" sz="625" dirty="0"/>
          </a:p>
        </p:txBody>
      </p:sp>
      <p:sp>
        <p:nvSpPr>
          <p:cNvPr id="152" name="Text 140"/>
          <p:cNvSpPr txBox="1"/>
          <p:nvPr/>
        </p:nvSpPr>
        <p:spPr>
          <a:xfrm>
            <a:off x="9715500" y="4094135"/>
            <a:ext cx="538490" cy="95280"/>
          </a:xfrm>
          <a:prstGeom prst="rect">
            <a:avLst/>
          </a:prstGeom>
          <a:noFill/>
          <a:ln/>
        </p:spPr>
        <p:txBody>
          <a:bodyPr wrap="none" lIns="0" tIns="0" rIns="0" bIns="0" rtlCol="0" anchor="t"/>
          <a:lstStyle/>
          <a:p>
            <a:pPr algn="l" indent="0" marL="0">
              <a:buNone/>
            </a:pPr>
            <a:r>
              <a:rPr lang="en-US" sz="600" dirty="0">
                <a:solidFill>
                  <a:srgbClr val="BFA89D"/>
                </a:solidFill>
                <a:latin typeface="Inter" pitchFamily="34" charset="0"/>
                <a:ea typeface="Inter" pitchFamily="34" charset="-122"/>
                <a:cs typeface="Inter" pitchFamily="34" charset="-120"/>
              </a:rPr>
              <a:t>Credit at risk</a:t>
            </a:r>
            <a:endParaRPr lang="en-US" sz="600" dirty="0"/>
          </a:p>
        </p:txBody>
      </p:sp>
      <p:sp>
        <p:nvSpPr>
          <p:cNvPr id="153" name="Text 141"/>
          <p:cNvSpPr txBox="1"/>
          <p:nvPr/>
        </p:nvSpPr>
        <p:spPr>
          <a:xfrm>
            <a:off x="10769895" y="4094135"/>
            <a:ext cx="409103" cy="107991"/>
          </a:xfrm>
          <a:prstGeom prst="rect">
            <a:avLst/>
          </a:prstGeom>
          <a:noFill/>
          <a:ln/>
        </p:spPr>
        <p:txBody>
          <a:bodyPr wrap="none" lIns="0" tIns="0" rIns="0" bIns="0" rtlCol="0" anchor="t"/>
          <a:lstStyle/>
          <a:p>
            <a:pPr algn="l" indent="0" marL="0">
              <a:buNone/>
            </a:pPr>
            <a:r>
              <a:rPr lang="en-US" sz="650" b="1" dirty="0">
                <a:solidFill>
                  <a:srgbClr val="F7A766"/>
                </a:solidFill>
                <a:latin typeface="JetBrains Mono Medium" pitchFamily="34" charset="0"/>
                <a:ea typeface="JetBrains Mono Medium" pitchFamily="34" charset="-122"/>
                <a:cs typeface="JetBrains Mono Medium" pitchFamily="34" charset="-120"/>
              </a:rPr>
              <a:t>₹2.23 L</a:t>
            </a:r>
            <a:endParaRPr lang="en-US" sz="650" dirty="0"/>
          </a:p>
        </p:txBody>
      </p:sp>
      <p:sp>
        <p:nvSpPr>
          <p:cNvPr id="154" name="Text 142"/>
          <p:cNvSpPr txBox="1"/>
          <p:nvPr/>
        </p:nvSpPr>
        <p:spPr>
          <a:xfrm>
            <a:off x="9715500" y="4221145"/>
            <a:ext cx="801014" cy="95280"/>
          </a:xfrm>
          <a:prstGeom prst="rect">
            <a:avLst/>
          </a:prstGeom>
          <a:noFill/>
          <a:ln/>
        </p:spPr>
        <p:txBody>
          <a:bodyPr wrap="none" lIns="0" tIns="0" rIns="0" bIns="0" rtlCol="0" anchor="t"/>
          <a:lstStyle/>
          <a:p>
            <a:pPr algn="l" indent="0" marL="0">
              <a:buNone/>
            </a:pPr>
            <a:r>
              <a:rPr lang="en-US" sz="600" dirty="0">
                <a:solidFill>
                  <a:srgbClr val="BFA89D"/>
                </a:solidFill>
                <a:latin typeface="Inter" pitchFamily="34" charset="0"/>
                <a:ea typeface="Inter" pitchFamily="34" charset="-122"/>
                <a:cs typeface="Inter" pitchFamily="34" charset="-120"/>
              </a:rPr>
              <a:t>Invoices in 60 days</a:t>
            </a:r>
            <a:endParaRPr lang="en-US" sz="600" dirty="0"/>
          </a:p>
        </p:txBody>
      </p:sp>
      <p:sp>
        <p:nvSpPr>
          <p:cNvPr id="155" name="Text 143"/>
          <p:cNvSpPr txBox="1"/>
          <p:nvPr/>
        </p:nvSpPr>
        <p:spPr>
          <a:xfrm>
            <a:off x="11013399" y="4221145"/>
            <a:ext cx="136428" cy="107991"/>
          </a:xfrm>
          <a:prstGeom prst="rect">
            <a:avLst/>
          </a:prstGeom>
          <a:noFill/>
          <a:ln/>
        </p:spPr>
        <p:txBody>
          <a:bodyPr wrap="none" lIns="0" tIns="0" rIns="0" bIns="0" rtlCol="0" anchor="t"/>
          <a:lstStyle/>
          <a:p>
            <a:pPr algn="l" indent="0" marL="0">
              <a:buNone/>
            </a:pPr>
            <a:r>
              <a:rPr lang="en-US" sz="650" b="1" dirty="0">
                <a:solidFill>
                  <a:srgbClr val="FFFFFF"/>
                </a:solidFill>
                <a:latin typeface="JetBrains Mono Medium" pitchFamily="34" charset="0"/>
                <a:ea typeface="JetBrains Mono Medium" pitchFamily="34" charset="-122"/>
                <a:cs typeface="JetBrains Mono Medium" pitchFamily="34" charset="-120"/>
              </a:rPr>
              <a:t>31</a:t>
            </a:r>
            <a:endParaRPr lang="en-US" sz="650" dirty="0"/>
          </a:p>
        </p:txBody>
      </p:sp>
      <p:sp>
        <p:nvSpPr>
          <p:cNvPr id="156" name="Text 144"/>
          <p:cNvSpPr txBox="1"/>
          <p:nvPr/>
        </p:nvSpPr>
        <p:spPr>
          <a:xfrm>
            <a:off x="6565941" y="5492709"/>
            <a:ext cx="580461" cy="88880"/>
          </a:xfrm>
          <a:prstGeom prst="rect">
            <a:avLst/>
          </a:prstGeom>
          <a:noFill/>
          <a:ln/>
        </p:spPr>
        <p:txBody>
          <a:bodyPr wrap="none" lIns="0" tIns="0" rIns="0" bIns="0" rtlCol="0" anchor="t"/>
          <a:lstStyle/>
          <a:p>
            <a:pPr algn="l" indent="0" marL="0">
              <a:buNone/>
            </a:pPr>
            <a:r>
              <a:rPr lang="en-US" sz="575" dirty="0">
                <a:solidFill>
                  <a:srgbClr val="BFA89D"/>
                </a:solidFill>
                <a:latin typeface="Inter" pitchFamily="34" charset="0"/>
                <a:ea typeface="Inter" pitchFamily="34" charset="-122"/>
                <a:cs typeface="Inter" pitchFamily="34" charset="-120"/>
              </a:rPr>
              <a:t>Clean supplier</a:t>
            </a:r>
            <a:endParaRPr lang="en-US" sz="575" dirty="0"/>
          </a:p>
        </p:txBody>
      </p:sp>
      <p:sp>
        <p:nvSpPr>
          <p:cNvPr id="157" name="Shape 145"/>
          <p:cNvSpPr/>
          <p:nvPr/>
        </p:nvSpPr>
        <p:spPr>
          <a:xfrm>
            <a:off x="6476970" y="5511820"/>
            <a:ext cx="50841" cy="50841"/>
          </a:xfrm>
          <a:prstGeom prst="ellipse">
            <a:avLst/>
          </a:prstGeom>
          <a:solidFill>
            <a:srgbClr val="5E8F74"/>
          </a:solidFill>
          <a:ln/>
        </p:spPr>
      </p:sp>
      <p:sp>
        <p:nvSpPr>
          <p:cNvPr id="158" name="Text 146"/>
          <p:cNvSpPr txBox="1"/>
          <p:nvPr/>
        </p:nvSpPr>
        <p:spPr>
          <a:xfrm>
            <a:off x="7239305" y="5492709"/>
            <a:ext cx="538947" cy="88880"/>
          </a:xfrm>
          <a:prstGeom prst="rect">
            <a:avLst/>
          </a:prstGeom>
          <a:noFill/>
          <a:ln/>
        </p:spPr>
        <p:txBody>
          <a:bodyPr wrap="none" lIns="0" tIns="0" rIns="0" bIns="0" rtlCol="0" anchor="t"/>
          <a:lstStyle/>
          <a:p>
            <a:pPr algn="l" indent="0" marL="0">
              <a:buNone/>
            </a:pPr>
            <a:r>
              <a:rPr lang="en-US" sz="575" dirty="0">
                <a:solidFill>
                  <a:srgbClr val="BFA89D"/>
                </a:solidFill>
                <a:latin typeface="Inter" pitchFamily="34" charset="0"/>
                <a:ea typeface="Inter" pitchFamily="34" charset="-122"/>
                <a:cs typeface="Inter" pitchFamily="34" charset="-120"/>
              </a:rPr>
              <a:t>Ring member</a:t>
            </a:r>
            <a:endParaRPr lang="en-US" sz="575" dirty="0"/>
          </a:p>
        </p:txBody>
      </p:sp>
      <p:sp>
        <p:nvSpPr>
          <p:cNvPr id="159" name="Shape 147"/>
          <p:cNvSpPr/>
          <p:nvPr/>
        </p:nvSpPr>
        <p:spPr>
          <a:xfrm>
            <a:off x="7150425" y="5511820"/>
            <a:ext cx="50841" cy="50841"/>
          </a:xfrm>
          <a:prstGeom prst="ellipse">
            <a:avLst/>
          </a:prstGeom>
          <a:solidFill>
            <a:srgbClr val="D64545"/>
          </a:solidFill>
          <a:ln/>
        </p:spPr>
      </p:sp>
      <p:sp>
        <p:nvSpPr>
          <p:cNvPr id="160" name="Text 148"/>
          <p:cNvSpPr txBox="1"/>
          <p:nvPr/>
        </p:nvSpPr>
        <p:spPr>
          <a:xfrm>
            <a:off x="7875544" y="5492709"/>
            <a:ext cx="427116" cy="88880"/>
          </a:xfrm>
          <a:prstGeom prst="rect">
            <a:avLst/>
          </a:prstGeom>
          <a:noFill/>
          <a:ln/>
        </p:spPr>
        <p:txBody>
          <a:bodyPr wrap="none" lIns="0" tIns="0" rIns="0" bIns="0" rtlCol="0" anchor="t"/>
          <a:lstStyle/>
          <a:p>
            <a:pPr algn="l" indent="0" marL="0">
              <a:buNone/>
            </a:pPr>
            <a:r>
              <a:rPr lang="en-US" sz="575" dirty="0">
                <a:solidFill>
                  <a:srgbClr val="BFA89D"/>
                </a:solidFill>
                <a:latin typeface="Inter" pitchFamily="34" charset="0"/>
                <a:ea typeface="Inter" pitchFamily="34" charset="-122"/>
                <a:cs typeface="Inter" pitchFamily="34" charset="-120"/>
              </a:rPr>
              <a:t>Your trade</a:t>
            </a:r>
            <a:endParaRPr lang="en-US" sz="575" dirty="0"/>
          </a:p>
        </p:txBody>
      </p:sp>
      <p:sp>
        <p:nvSpPr>
          <p:cNvPr id="161" name="Shape 149"/>
          <p:cNvSpPr/>
          <p:nvPr/>
        </p:nvSpPr>
        <p:spPr>
          <a:xfrm>
            <a:off x="7786665" y="5511820"/>
            <a:ext cx="50841" cy="50841"/>
          </a:xfrm>
          <a:prstGeom prst="ellipse">
            <a:avLst/>
          </a:prstGeom>
          <a:solidFill>
            <a:srgbClr val="F28C3A"/>
          </a:solidFill>
          <a:ln/>
        </p:spPr>
      </p:sp>
      <p:sp>
        <p:nvSpPr>
          <p:cNvPr id="162" name="Text 150"/>
          <p:cNvSpPr txBox="1"/>
          <p:nvPr/>
        </p:nvSpPr>
        <p:spPr>
          <a:xfrm>
            <a:off x="2158990" y="6276259"/>
            <a:ext cx="7873990" cy="313091"/>
          </a:xfrm>
          <a:prstGeom prst="rect">
            <a:avLst/>
          </a:prstGeom>
          <a:noFill/>
          <a:ln/>
        </p:spPr>
        <p:txBody>
          <a:bodyPr wrap="square" lIns="0" tIns="0" rIns="0" bIns="0" rtlCol="0" anchor="t"/>
          <a:lstStyle/>
          <a:p>
            <a:pPr algn="ctr" indent="0" marL="0">
              <a:lnSpc>
                <a:spcPts val="1232"/>
              </a:lnSpc>
              <a:buNone/>
            </a:pPr>
            <a:r>
              <a:rPr lang="en-US" sz="850" dirty="0">
                <a:solidFill>
                  <a:srgbClr val="5B4339"/>
                </a:solidFill>
                <a:latin typeface="Inter" pitchFamily="34" charset="0"/>
                <a:ea typeface="Inter" pitchFamily="34" charset="-122"/>
                <a:cs typeface="Inter" pitchFamily="34" charset="-120"/>
              </a:rPr>
              <a:t>Also: it knows the </a:t>
            </a:r>
            <a:pPr algn="ctr" indent="0" marL="0">
              <a:lnSpc>
                <a:spcPts val="1232"/>
              </a:lnSpc>
              <a:buNone/>
            </a:pPr>
            <a:r>
              <a:rPr lang="en-US" sz="850" b="1" dirty="0">
                <a:solidFill>
                  <a:srgbClr val="24110C"/>
                </a:solidFill>
                <a:latin typeface="Inter" pitchFamily="34" charset="0"/>
                <a:ea typeface="Inter" pitchFamily="34" charset="-122"/>
                <a:cs typeface="Inter" pitchFamily="34" charset="-120"/>
              </a:rPr>
              <a:t>GST rate change of 22 Sep 2025</a:t>
            </a:r>
            <a:pPr algn="ctr" indent="0" marL="0">
              <a:lnSpc>
                <a:spcPts val="1232"/>
              </a:lnSpc>
              <a:buNone/>
            </a:pPr>
            <a:r>
              <a:rPr lang="en-US" sz="850" dirty="0">
                <a:solidFill>
                  <a:srgbClr val="5B4339"/>
                </a:solidFill>
                <a:latin typeface="Inter" pitchFamily="34" charset="0"/>
                <a:ea typeface="Inter" pitchFamily="34" charset="-122"/>
                <a:cs typeface="Inter" pitchFamily="34" charset="-120"/>
              </a:rPr>
              <a:t>, links </a:t>
            </a:r>
            <a:pPr algn="ctr" indent="0" marL="0">
              <a:lnSpc>
                <a:spcPts val="1232"/>
              </a:lnSpc>
              <a:buNone/>
            </a:pPr>
            <a:r>
              <a:rPr lang="en-US" sz="850" b="1" dirty="0">
                <a:solidFill>
                  <a:srgbClr val="24110C"/>
                </a:solidFill>
                <a:latin typeface="Inter" pitchFamily="34" charset="0"/>
                <a:ea typeface="Inter" pitchFamily="34" charset="-122"/>
                <a:cs typeface="Inter" pitchFamily="34" charset="-120"/>
              </a:rPr>
              <a:t>one payment to many bills</a:t>
            </a:r>
            <a:pPr algn="ctr" indent="0" marL="0">
              <a:lnSpc>
                <a:spcPts val="1232"/>
              </a:lnSpc>
              <a:buNone/>
            </a:pPr>
            <a:r>
              <a:rPr lang="en-US" sz="850" dirty="0">
                <a:solidFill>
                  <a:srgbClr val="5B4339"/>
                </a:solidFill>
                <a:latin typeface="Inter" pitchFamily="34" charset="0"/>
                <a:ea typeface="Inter" pitchFamily="34" charset="-122"/>
                <a:cs typeface="Inter" pitchFamily="34" charset="-120"/>
              </a:rPr>
              <a:t>, </a:t>
            </a:r>
            <a:pPr algn="ctr" indent="0" marL="0">
              <a:lnSpc>
                <a:spcPts val="1232"/>
              </a:lnSpc>
              <a:buNone/>
            </a:pPr>
            <a:r>
              <a:rPr lang="en-US" sz="850" b="1" dirty="0">
                <a:solidFill>
                  <a:srgbClr val="24110C"/>
                </a:solidFill>
                <a:latin typeface="Inter" pitchFamily="34" charset="0"/>
                <a:ea typeface="Inter" pitchFamily="34" charset="-122"/>
                <a:cs typeface="Inter" pitchFamily="34" charset="-120"/>
              </a:rPr>
              <a:t>rates every supplier</a:t>
            </a:r>
            <a:pPr algn="ctr" indent="0" marL="0">
              <a:lnSpc>
                <a:spcPts val="1232"/>
              </a:lnSpc>
              <a:buNone/>
            </a:pPr>
            <a:r>
              <a:rPr lang="en-US" sz="850" dirty="0">
                <a:solidFill>
                  <a:srgbClr val="5B4339"/>
                </a:solidFill>
                <a:latin typeface="Inter" pitchFamily="34" charset="0"/>
                <a:ea typeface="Inter" pitchFamily="34" charset="-122"/>
                <a:cs typeface="Inter" pitchFamily="34" charset="-120"/>
              </a:rPr>
              <a:t>, and its </a:t>
            </a:r>
            <a:pPr algn="ctr" indent="0" marL="0">
              <a:lnSpc>
                <a:spcPts val="1232"/>
              </a:lnSpc>
              <a:buNone/>
            </a:pPr>
            <a:r>
              <a:rPr lang="en-US" sz="850" b="1" dirty="0">
                <a:solidFill>
                  <a:srgbClr val="24110C"/>
                </a:solidFill>
                <a:latin typeface="Inter" pitchFamily="34" charset="0"/>
                <a:ea typeface="Inter" pitchFamily="34" charset="-122"/>
                <a:cs typeface="Inter" pitchFamily="34" charset="-120"/>
              </a:rPr>
              <a:t>accuracy is measured on test data</a:t>
            </a:r>
            <a:pPr algn="ctr" indent="0" marL="0">
              <a:lnSpc>
                <a:spcPts val="1232"/>
              </a:lnSpc>
              <a:buNone/>
            </a:pPr>
            <a:r>
              <a:rPr lang="en-US" sz="850" dirty="0">
                <a:solidFill>
                  <a:srgbClr val="5B4339"/>
                </a:solidFill>
                <a:latin typeface="Inter" pitchFamily="34" charset="0"/>
                <a:ea typeface="Inter" pitchFamily="34" charset="-122"/>
                <a:cs typeface="Inter" pitchFamily="34" charset="-120"/>
              </a:rPr>
              <a:t>, not guessed.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LedgerLens, Fintechstico V7.0</dc:title>
  <dc:subject>PptxGenJS Presentation</dc:subject>
  <dc:creator>PptxGenJS</dc:creator>
  <cp:lastModifiedBy>PptxGenJS</cp:lastModifiedBy>
  <cp:revision>1</cp:revision>
  <dcterms:created xsi:type="dcterms:W3CDTF">2026-10-03T07:49:35Z</dcterms:created>
  <dcterms:modified xsi:type="dcterms:W3CDTF">2026-10-03T07:49:35Z</dcterms:modified>
</cp:coreProperties>
</file>